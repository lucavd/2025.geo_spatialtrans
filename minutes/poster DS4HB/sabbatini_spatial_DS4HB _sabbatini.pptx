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30240288" cy="4284027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58C"/>
    <a:srgbClr val="F5F4F5"/>
    <a:srgbClr val="FFFFFF"/>
    <a:srgbClr val="EDEDED"/>
    <a:srgbClr val="EBE7E4"/>
    <a:srgbClr val="C7C7C7"/>
    <a:srgbClr val="E0ECE2"/>
    <a:srgbClr val="C2DAC6"/>
    <a:srgbClr val="F5F3F1"/>
    <a:srgbClr val="B74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 autoAdjust="0"/>
    <p:restoredTop sz="94660"/>
  </p:normalViewPr>
  <p:slideViewPr>
    <p:cSldViewPr snapToGrid="0">
      <p:cViewPr>
        <p:scale>
          <a:sx n="66" d="100"/>
          <a:sy n="66" d="100"/>
        </p:scale>
        <p:origin x="-64" y="-3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11132"/>
            <a:ext cx="25704245" cy="14914762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501064"/>
            <a:ext cx="22680216" cy="10343147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6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9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80331"/>
            <a:ext cx="26082248" cy="17820361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69280"/>
            <a:ext cx="26082248" cy="9371307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1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404240"/>
            <a:ext cx="12852122" cy="2718176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404240"/>
            <a:ext cx="12852122" cy="2718176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80857"/>
            <a:ext cx="26082248" cy="828047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501820"/>
            <a:ext cx="12793057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48601"/>
            <a:ext cx="12793057" cy="2301673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501820"/>
            <a:ext cx="12856061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48601"/>
            <a:ext cx="12856061" cy="2301673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6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3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68216"/>
            <a:ext cx="15309146" cy="30444362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4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68216"/>
            <a:ext cx="15309146" cy="30444362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7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7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80848"/>
            <a:ext cx="6520562" cy="3630515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80848"/>
            <a:ext cx="19183683" cy="3630515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80857"/>
            <a:ext cx="26082248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404240"/>
            <a:ext cx="26082248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29C85-961F-4FE4-A508-8359E21D0F10}" type="datetimeFigureOut">
              <a:rPr lang="en-US" smtClean="0"/>
              <a:t>4/5/25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706598"/>
            <a:ext cx="10206097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BFB88-4EAB-4403-B38F-EF5C430766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1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hyperlink" Target="mailto:luca.vedocelli@ubep.unipd.it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hyperlink" Target="mailto:daniele.sabbatini@unipd.it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>
            <a:extLst>
              <a:ext uri="{FF2B5EF4-FFF2-40B4-BE49-F238E27FC236}">
                <a16:creationId xmlns:a16="http://schemas.microsoft.com/office/drawing/2014/main" id="{C68137C5-8F10-4734-9B12-7925F5505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67" t="375" b="12371"/>
          <a:stretch/>
        </p:blipFill>
        <p:spPr>
          <a:xfrm>
            <a:off x="25838697" y="41155982"/>
            <a:ext cx="4416229" cy="169568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A5671B2-504B-4468-AAFC-56C326C83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357"/>
          <a:stretch/>
        </p:blipFill>
        <p:spPr>
          <a:xfrm>
            <a:off x="21656637" y="41155983"/>
            <a:ext cx="4191585" cy="1701748"/>
          </a:xfrm>
          <a:prstGeom prst="rect">
            <a:avLst/>
          </a:prstGeom>
        </p:spPr>
      </p:pic>
      <p:sp>
        <p:nvSpPr>
          <p:cNvPr id="147" name="Rettangolo 146">
            <a:extLst>
              <a:ext uri="{FF2B5EF4-FFF2-40B4-BE49-F238E27FC236}">
                <a16:creationId xmlns:a16="http://schemas.microsoft.com/office/drawing/2014/main" id="{C8BD197E-9035-46F6-A1A4-D116369D91C6}"/>
              </a:ext>
            </a:extLst>
          </p:cNvPr>
          <p:cNvSpPr/>
          <p:nvPr/>
        </p:nvSpPr>
        <p:spPr>
          <a:xfrm>
            <a:off x="19218530" y="29032493"/>
            <a:ext cx="11021758" cy="8678930"/>
          </a:xfrm>
          <a:prstGeom prst="rect">
            <a:avLst/>
          </a:prstGeom>
          <a:solidFill>
            <a:srgbClr val="E0E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D3E34088-6C54-4845-87DA-F84065F4B1C5}"/>
              </a:ext>
            </a:extLst>
          </p:cNvPr>
          <p:cNvSpPr/>
          <p:nvPr/>
        </p:nvSpPr>
        <p:spPr>
          <a:xfrm>
            <a:off x="155794" y="26065814"/>
            <a:ext cx="19380840" cy="11586074"/>
          </a:xfrm>
          <a:prstGeom prst="rect">
            <a:avLst/>
          </a:prstGeom>
          <a:solidFill>
            <a:srgbClr val="EBE7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07CC955-3B96-4774-B0FB-6DD7D7AF0724}"/>
              </a:ext>
            </a:extLst>
          </p:cNvPr>
          <p:cNvSpPr/>
          <p:nvPr/>
        </p:nvSpPr>
        <p:spPr>
          <a:xfrm>
            <a:off x="0" y="5746951"/>
            <a:ext cx="30240288" cy="4060706"/>
          </a:xfrm>
          <a:prstGeom prst="rect">
            <a:avLst/>
          </a:prstGeom>
          <a:solidFill>
            <a:srgbClr val="6A75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9A0F009-3170-4CC7-BD9A-8262F7E3AA5E}"/>
              </a:ext>
            </a:extLst>
          </p:cNvPr>
          <p:cNvSpPr/>
          <p:nvPr/>
        </p:nvSpPr>
        <p:spPr>
          <a:xfrm>
            <a:off x="2165204" y="10915161"/>
            <a:ext cx="25527087" cy="7534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4F1CE12-BA96-4914-8C83-A831AA87121E}"/>
              </a:ext>
            </a:extLst>
          </p:cNvPr>
          <p:cNvSpPr/>
          <p:nvPr/>
        </p:nvSpPr>
        <p:spPr>
          <a:xfrm>
            <a:off x="0" y="-134459"/>
            <a:ext cx="30240288" cy="5889430"/>
          </a:xfrm>
          <a:prstGeom prst="rect">
            <a:avLst/>
          </a:prstGeom>
          <a:solidFill>
            <a:srgbClr val="343E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1ADD19-1137-458D-8AEE-2F0A4A4FC5A2}"/>
              </a:ext>
            </a:extLst>
          </p:cNvPr>
          <p:cNvSpPr txBox="1"/>
          <p:nvPr/>
        </p:nvSpPr>
        <p:spPr>
          <a:xfrm>
            <a:off x="1421733" y="416231"/>
            <a:ext cx="2766000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Simulation framework for spatial single-cell RNA-sequencing data</a:t>
            </a:r>
          </a:p>
          <a:p>
            <a:pPr algn="ctr"/>
            <a:endParaRPr lang="en-US" sz="6000" b="1" dirty="0">
              <a:solidFill>
                <a:schemeClr val="bg1"/>
              </a:solidFill>
              <a:latin typeface="Futura Bk BT" panose="020B0502020204020303" pitchFamily="34" charset="0"/>
              <a:cs typeface="Arial" panose="020B0604020202020204" pitchFamily="34" charset="0"/>
            </a:endParaRPr>
          </a:p>
          <a:p>
            <a:r>
              <a:rPr lang="en-US" sz="3600" b="1" u="sng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Daniele Sabbatini</a:t>
            </a:r>
            <a:r>
              <a:rPr lang="en-US" sz="3600" b="1" u="sng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1,2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, Pierangela Palmerini</a:t>
            </a:r>
            <a:r>
              <a:rPr lang="en-US" sz="36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1,3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Giorgia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 Stoppa</a:t>
            </a:r>
            <a:r>
              <a:rPr lang="en-US" sz="36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, Dolores Cattelan</a:t>
            </a:r>
            <a:r>
              <a:rPr lang="en-US" sz="36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Annibale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 Biggeri</a:t>
            </a:r>
            <a:r>
              <a:rPr lang="en-US" sz="36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, Dario Gregori</a:t>
            </a:r>
            <a:r>
              <a:rPr lang="en-US" sz="36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</a:t>
            </a:r>
            <a:r>
              <a:rPr lang="en-US" sz="36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 and Luca Vedovelli</a:t>
            </a:r>
            <a:r>
              <a:rPr lang="en-US" sz="3600" b="1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</a:t>
            </a:r>
            <a:endParaRPr lang="en-US" sz="3600" baseline="30000" dirty="0">
              <a:solidFill>
                <a:schemeClr val="bg1"/>
              </a:solidFill>
              <a:latin typeface="Futura Bk BT" panose="020B0502020204020303" pitchFamily="34" charset="0"/>
              <a:cs typeface="Arial" panose="020B0604020202020204" pitchFamily="34" charset="0"/>
            </a:endParaRPr>
          </a:p>
          <a:p>
            <a:endParaRPr lang="en-US" sz="3600" baseline="30000" dirty="0">
              <a:solidFill>
                <a:schemeClr val="bg1"/>
              </a:solidFill>
              <a:latin typeface="Futura Bk BT" panose="020B0502020204020303" pitchFamily="34" charset="0"/>
              <a:cs typeface="Arial" panose="020B0604020202020204" pitchFamily="34" charset="0"/>
            </a:endParaRPr>
          </a:p>
          <a:p>
            <a:r>
              <a:rPr lang="en-US" sz="30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1</a:t>
            </a:r>
            <a:r>
              <a:rPr lang="en-US" sz="3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Department of Cardiac, Thoracic, Vascular Sciences and Public Health, University of Padua, Italy</a:t>
            </a:r>
          </a:p>
          <a:p>
            <a:r>
              <a:rPr lang="en-US" sz="30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2</a:t>
            </a:r>
            <a:r>
              <a:rPr lang="en-US" sz="3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Department of Neurosciences, University of Padua, Italy</a:t>
            </a:r>
          </a:p>
          <a:p>
            <a:r>
              <a:rPr lang="en-US" sz="3000" baseline="30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3</a:t>
            </a:r>
            <a:r>
              <a:rPr lang="en-US" sz="3000" dirty="0">
                <a:solidFill>
                  <a:schemeClr val="bg1"/>
                </a:solidFill>
                <a:latin typeface="Futura Bk BT" panose="020B0502020204020303" pitchFamily="34" charset="0"/>
                <a:cs typeface="Arial" panose="020B0604020202020204" pitchFamily="34" charset="0"/>
              </a:rPr>
              <a:t>Veneto Institute of Oncology-IRCCS, Padua, Italy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24106B9-9587-42D1-8D13-AF5B9F282BEF}"/>
              </a:ext>
            </a:extLst>
          </p:cNvPr>
          <p:cNvSpPr txBox="1"/>
          <p:nvPr/>
        </p:nvSpPr>
        <p:spPr>
          <a:xfrm>
            <a:off x="719549" y="6020460"/>
            <a:ext cx="28591455" cy="3490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88"/>
              </a:spcAft>
            </a:pPr>
            <a:r>
              <a:rPr lang="it-IT" sz="3200" b="1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Introduction</a:t>
            </a:r>
            <a:endParaRPr lang="it-IT" sz="3200" b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algn="just">
              <a:spcAft>
                <a:spcPts val="1288"/>
              </a:spcAft>
            </a:pP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Developing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robust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analytical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methods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for single-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spatial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transcriptomics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requires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rigorous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evaluations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against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data with a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known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ground truth,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yet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generating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such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gold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-standard data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experimentally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is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prohibitively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expensive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time-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consuming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and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technically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challenging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.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Computational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simulations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provide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a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compelling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alternative by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producing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synthetic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datasets with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fully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controllable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properties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.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However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many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existing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simulators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on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oversimplified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statistical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assumptions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unrealistic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tissue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geometries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homogeneous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technical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artifacts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and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artificially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sharp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boundaries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.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Our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framework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overcomes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these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shortcomings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with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advanced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statistical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models and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biologically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informed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spatial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patterns,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recreating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realistic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noise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gradual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transitions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between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types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, and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enabling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systematic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benchmarking under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near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–in vivo </a:t>
            </a:r>
            <a:r>
              <a:rPr lang="it-IT" sz="3000" dirty="0" err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conditions</a:t>
            </a:r>
            <a:r>
              <a:rPr lang="it-IT" sz="30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  <a:endParaRPr lang="en-US" sz="3000" b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5AE70C-8E6B-4696-8883-23BB1F4D6910}"/>
              </a:ext>
            </a:extLst>
          </p:cNvPr>
          <p:cNvSpPr txBox="1"/>
          <p:nvPr/>
        </p:nvSpPr>
        <p:spPr>
          <a:xfrm>
            <a:off x="13471461" y="9880732"/>
            <a:ext cx="359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88"/>
              </a:spcAft>
            </a:pPr>
            <a:r>
              <a:rPr lang="it-IT" sz="4000" b="1" dirty="0">
                <a:latin typeface="Futura Bk BT" panose="020B0502020204020303" pitchFamily="34" charset="0"/>
              </a:rPr>
              <a:t>Methods</a:t>
            </a:r>
            <a:endParaRPr lang="en-US" sz="4000" b="1" dirty="0">
              <a:latin typeface="Futura Bk BT" panose="020B0502020204020303" pitchFamily="34" charset="0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FFC69DBC-2BCF-4882-8F89-1ACC2DD348BE}"/>
              </a:ext>
            </a:extLst>
          </p:cNvPr>
          <p:cNvSpPr/>
          <p:nvPr/>
        </p:nvSpPr>
        <p:spPr>
          <a:xfrm>
            <a:off x="22259471" y="37595626"/>
            <a:ext cx="8018917" cy="3604719"/>
          </a:xfrm>
          <a:prstGeom prst="rect">
            <a:avLst/>
          </a:prstGeom>
          <a:solidFill>
            <a:srgbClr val="B7C9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E534554-38A9-4E11-A687-8E12D2437DE3}"/>
              </a:ext>
            </a:extLst>
          </p:cNvPr>
          <p:cNvSpPr/>
          <p:nvPr/>
        </p:nvSpPr>
        <p:spPr>
          <a:xfrm>
            <a:off x="0" y="37598521"/>
            <a:ext cx="22645826" cy="3604719"/>
          </a:xfrm>
          <a:prstGeom prst="rect">
            <a:avLst/>
          </a:prstGeom>
          <a:solidFill>
            <a:srgbClr val="C2D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5448C0E-5000-4E84-AB40-E9CD21D0F20B}"/>
              </a:ext>
            </a:extLst>
          </p:cNvPr>
          <p:cNvSpPr txBox="1"/>
          <p:nvPr/>
        </p:nvSpPr>
        <p:spPr>
          <a:xfrm>
            <a:off x="719933" y="26094675"/>
            <a:ext cx="2475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88"/>
              </a:spcAft>
            </a:pPr>
            <a:r>
              <a:rPr lang="it-IT" sz="4000" b="1" dirty="0">
                <a:latin typeface="Futura Bk BT" panose="020B0502020204020303" pitchFamily="34" charset="0"/>
              </a:rPr>
              <a:t>Results</a:t>
            </a:r>
            <a:endParaRPr lang="en-US" sz="4000" b="1" dirty="0">
              <a:latin typeface="Futura Bk BT" panose="020B0502020204020303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8D43EE8-0643-4ABF-8673-00A55140D7D9}"/>
              </a:ext>
            </a:extLst>
          </p:cNvPr>
          <p:cNvSpPr txBox="1"/>
          <p:nvPr/>
        </p:nvSpPr>
        <p:spPr>
          <a:xfrm>
            <a:off x="477125" y="37836249"/>
            <a:ext cx="3949203" cy="68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88"/>
              </a:spcAft>
            </a:pPr>
            <a:r>
              <a:rPr lang="it-IT" sz="3865" b="1" dirty="0" err="1">
                <a:latin typeface="Futura Bk BT" panose="020B0502020204020303" pitchFamily="34" charset="0"/>
              </a:rPr>
              <a:t>Conclusions</a:t>
            </a:r>
            <a:endParaRPr lang="en-US" sz="3865" b="1" dirty="0">
              <a:latin typeface="Futura Bk BT" panose="020B0502020204020303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BF00308-178F-4357-8A0F-B8FEE921518B}"/>
              </a:ext>
            </a:extLst>
          </p:cNvPr>
          <p:cNvSpPr txBox="1"/>
          <p:nvPr/>
        </p:nvSpPr>
        <p:spPr>
          <a:xfrm>
            <a:off x="23337837" y="37556375"/>
            <a:ext cx="6478858" cy="68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88"/>
              </a:spcAft>
            </a:pPr>
            <a:r>
              <a:rPr lang="it-IT" sz="3865" b="1" dirty="0" err="1">
                <a:latin typeface="Futura Bk BT" panose="020B0502020204020303" pitchFamily="34" charset="0"/>
              </a:rPr>
              <a:t>References</a:t>
            </a:r>
            <a:r>
              <a:rPr lang="it-IT" sz="3865" b="1" dirty="0">
                <a:latin typeface="Futura Bk BT" panose="020B0502020204020303" pitchFamily="34" charset="0"/>
              </a:rPr>
              <a:t> &amp; </a:t>
            </a:r>
            <a:r>
              <a:rPr lang="it-IT" sz="3865" b="1" dirty="0" err="1">
                <a:latin typeface="Futura Bk BT" panose="020B0502020204020303" pitchFamily="34" charset="0"/>
              </a:rPr>
              <a:t>Contacts</a:t>
            </a:r>
            <a:endParaRPr lang="en-US" sz="3865" b="1" dirty="0">
              <a:latin typeface="Futura Bk BT" panose="020B0502020204020303" pitchFamily="34" charset="0"/>
            </a:endParaRPr>
          </a:p>
        </p:txBody>
      </p:sp>
      <p:grpSp>
        <p:nvGrpSpPr>
          <p:cNvPr id="181" name="Gruppo 180">
            <a:extLst>
              <a:ext uri="{FF2B5EF4-FFF2-40B4-BE49-F238E27FC236}">
                <a16:creationId xmlns:a16="http://schemas.microsoft.com/office/drawing/2014/main" id="{85A0E4B7-16A3-4733-9060-59B91AB97A9E}"/>
              </a:ext>
            </a:extLst>
          </p:cNvPr>
          <p:cNvGrpSpPr/>
          <p:nvPr/>
        </p:nvGrpSpPr>
        <p:grpSpPr>
          <a:xfrm>
            <a:off x="775017" y="26774391"/>
            <a:ext cx="672604" cy="1459718"/>
            <a:chOff x="698413" y="25067761"/>
            <a:chExt cx="977004" cy="2120954"/>
          </a:xfrm>
        </p:grpSpPr>
        <p:sp>
          <p:nvSpPr>
            <p:cNvPr id="16" name="Triangolo isoscele 15">
              <a:extLst>
                <a:ext uri="{FF2B5EF4-FFF2-40B4-BE49-F238E27FC236}">
                  <a16:creationId xmlns:a16="http://schemas.microsoft.com/office/drawing/2014/main" id="{377F750E-A3E3-4769-8C44-DC62917B570F}"/>
                </a:ext>
              </a:extLst>
            </p:cNvPr>
            <p:cNvSpPr/>
            <p:nvPr/>
          </p:nvSpPr>
          <p:spPr>
            <a:xfrm rot="5400000">
              <a:off x="127260" y="25640558"/>
              <a:ext cx="2120954" cy="975360"/>
            </a:xfrm>
            <a:prstGeom prst="triangle">
              <a:avLst/>
            </a:prstGeom>
            <a:gradFill flip="none" rotWithShape="1">
              <a:gsLst>
                <a:gs pos="0">
                  <a:srgbClr val="EBE7E4"/>
                </a:gs>
                <a:gs pos="73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71"/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9094E1B7-212C-403E-B2A2-7C1F1CFAE4B9}"/>
                </a:ext>
              </a:extLst>
            </p:cNvPr>
            <p:cNvSpPr txBox="1"/>
            <p:nvPr/>
          </p:nvSpPr>
          <p:spPr>
            <a:xfrm>
              <a:off x="698413" y="25617061"/>
              <a:ext cx="509312" cy="849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88"/>
                </a:spcAft>
              </a:pPr>
              <a:r>
                <a:rPr lang="it-IT" sz="3200" b="1" dirty="0">
                  <a:latin typeface="Futura Bk BT" panose="020B0502020204020303" pitchFamily="34" charset="0"/>
                </a:rPr>
                <a:t>1</a:t>
              </a:r>
              <a:endParaRPr lang="en-US" sz="3200" b="1" dirty="0">
                <a:latin typeface="Futura Bk BT" panose="020B0502020204020303" pitchFamily="34" charset="0"/>
              </a:endParaRPr>
            </a:p>
          </p:txBody>
        </p:sp>
      </p:grpSp>
      <p:sp>
        <p:nvSpPr>
          <p:cNvPr id="149" name="CasellaDiTesto 148">
            <a:extLst>
              <a:ext uri="{FF2B5EF4-FFF2-40B4-BE49-F238E27FC236}">
                <a16:creationId xmlns:a16="http://schemas.microsoft.com/office/drawing/2014/main" id="{E50C2F8C-9678-48A5-A82E-CDF9B800FBE5}"/>
              </a:ext>
            </a:extLst>
          </p:cNvPr>
          <p:cNvSpPr txBox="1"/>
          <p:nvPr/>
        </p:nvSpPr>
        <p:spPr>
          <a:xfrm>
            <a:off x="1686525" y="26842698"/>
            <a:ext cx="6938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429"/>
              </a:spcAft>
            </a:pPr>
            <a:r>
              <a:rPr lang="it-IT" sz="2800" b="1" dirty="0" err="1">
                <a:latin typeface="Futura Bk BT" panose="020B0502020204020303" pitchFamily="34" charset="0"/>
              </a:rPr>
              <a:t>Simulated</a:t>
            </a:r>
            <a:r>
              <a:rPr lang="it-IT" sz="2800" b="1" dirty="0">
                <a:latin typeface="Futura Bk BT" panose="020B0502020204020303" pitchFamily="34" charset="0"/>
              </a:rPr>
              <a:t> data are </a:t>
            </a:r>
            <a:r>
              <a:rPr lang="it-IT" sz="2800" b="1" dirty="0" err="1">
                <a:latin typeface="Futura Bk BT" panose="020B0502020204020303" pitchFamily="34" charset="0"/>
              </a:rPr>
              <a:t>capable</a:t>
            </a:r>
            <a:r>
              <a:rPr lang="it-IT" sz="2800" b="1" dirty="0">
                <a:latin typeface="Futura Bk BT" panose="020B0502020204020303" pitchFamily="34" charset="0"/>
              </a:rPr>
              <a:t> of </a:t>
            </a:r>
            <a:r>
              <a:rPr lang="it-IT" sz="2800" b="1" dirty="0" err="1">
                <a:latin typeface="Futura Bk BT" panose="020B0502020204020303" pitchFamily="34" charset="0"/>
              </a:rPr>
              <a:t>reconstructing</a:t>
            </a:r>
            <a:r>
              <a:rPr lang="it-IT" sz="2800" b="1" dirty="0">
                <a:latin typeface="Futura Bk BT" panose="020B0502020204020303" pitchFamily="34" charset="0"/>
              </a:rPr>
              <a:t> input </a:t>
            </a:r>
            <a:r>
              <a:rPr lang="it-IT" sz="2800" b="1" dirty="0" err="1">
                <a:latin typeface="Futura Bk BT" panose="020B0502020204020303" pitchFamily="34" charset="0"/>
              </a:rPr>
              <a:t>spatial</a:t>
            </a:r>
            <a:r>
              <a:rPr lang="it-IT" sz="2800" b="1" dirty="0">
                <a:latin typeface="Futura Bk BT" panose="020B0502020204020303" pitchFamily="34" charset="0"/>
              </a:rPr>
              <a:t> pattern in </a:t>
            </a:r>
            <a:r>
              <a:rPr lang="it-IT" sz="2800" b="1" dirty="0" err="1">
                <a:latin typeface="Futura Bk BT" panose="020B0502020204020303" pitchFamily="34" charset="0"/>
              </a:rPr>
              <a:t>different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tissues</a:t>
            </a:r>
            <a:endParaRPr lang="en-US" sz="2800" b="1" dirty="0">
              <a:latin typeface="Futura Bk BT" panose="020B0502020204020303" pitchFamily="34" charset="0"/>
            </a:endParaRPr>
          </a:p>
        </p:txBody>
      </p:sp>
      <p:sp>
        <p:nvSpPr>
          <p:cNvPr id="165" name="Triangolo isoscele 164">
            <a:extLst>
              <a:ext uri="{FF2B5EF4-FFF2-40B4-BE49-F238E27FC236}">
                <a16:creationId xmlns:a16="http://schemas.microsoft.com/office/drawing/2014/main" id="{B6E11537-CA1E-44B7-B5E7-EA01D7C66024}"/>
              </a:ext>
            </a:extLst>
          </p:cNvPr>
          <p:cNvSpPr/>
          <p:nvPr/>
        </p:nvSpPr>
        <p:spPr>
          <a:xfrm rot="10800000" flipH="1">
            <a:off x="851878" y="9574235"/>
            <a:ext cx="1804368" cy="844675"/>
          </a:xfrm>
          <a:prstGeom prst="triangle">
            <a:avLst/>
          </a:prstGeom>
          <a:solidFill>
            <a:srgbClr val="6A75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/>
          </a:p>
        </p:txBody>
      </p:sp>
      <p:sp>
        <p:nvSpPr>
          <p:cNvPr id="167" name="Triangolo isoscele 166">
            <a:extLst>
              <a:ext uri="{FF2B5EF4-FFF2-40B4-BE49-F238E27FC236}">
                <a16:creationId xmlns:a16="http://schemas.microsoft.com/office/drawing/2014/main" id="{EC96A731-21EC-4CCB-B1B7-65355A95B6DC}"/>
              </a:ext>
            </a:extLst>
          </p:cNvPr>
          <p:cNvSpPr/>
          <p:nvPr/>
        </p:nvSpPr>
        <p:spPr>
          <a:xfrm rot="5400000" flipH="1">
            <a:off x="21949472" y="39219198"/>
            <a:ext cx="1784281" cy="845556"/>
          </a:xfrm>
          <a:prstGeom prst="triangle">
            <a:avLst/>
          </a:prstGeom>
          <a:solidFill>
            <a:srgbClr val="C2D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/>
          </a:p>
        </p:txBody>
      </p:sp>
      <p:sp>
        <p:nvSpPr>
          <p:cNvPr id="168" name="CasellaDiTesto 5">
            <a:extLst>
              <a:ext uri="{FF2B5EF4-FFF2-40B4-BE49-F238E27FC236}">
                <a16:creationId xmlns:a16="http://schemas.microsoft.com/office/drawing/2014/main" id="{A8A46F2C-89D8-4F7D-B59C-2F292751D2E5}"/>
              </a:ext>
            </a:extLst>
          </p:cNvPr>
          <p:cNvSpPr txBox="1"/>
          <p:nvPr/>
        </p:nvSpPr>
        <p:spPr>
          <a:xfrm>
            <a:off x="24414490" y="40623919"/>
            <a:ext cx="4080534" cy="533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32" b="1" dirty="0">
                <a:latin typeface="Futura Bk BT" panose="020B0502020204020303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daniele.sabbatini@unipd.it</a:t>
            </a:r>
            <a:endParaRPr lang="it-IT" sz="1432" b="1" dirty="0">
              <a:latin typeface="Futura Bk BT" panose="020B0502020204020303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432" b="1" dirty="0">
                <a:latin typeface="Futura Bk BT" panose="020B0502020204020303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luca.vedovelli@ubep.unipd.it</a:t>
            </a:r>
            <a:endParaRPr lang="it-IT" sz="1432" b="1" dirty="0">
              <a:latin typeface="Futura Bk BT" panose="020B0502020204020303" pitchFamily="34" charset="0"/>
              <a:cs typeface="Arial" panose="020B0604020202020204" pitchFamily="34" charset="0"/>
            </a:endParaRPr>
          </a:p>
        </p:txBody>
      </p:sp>
      <p:sp>
        <p:nvSpPr>
          <p:cNvPr id="178" name="CasellaDiTesto 177">
            <a:extLst>
              <a:ext uri="{FF2B5EF4-FFF2-40B4-BE49-F238E27FC236}">
                <a16:creationId xmlns:a16="http://schemas.microsoft.com/office/drawing/2014/main" id="{CE9FEBCA-4C5D-42BE-96DA-B53F1EB99085}"/>
              </a:ext>
            </a:extLst>
          </p:cNvPr>
          <p:cNvSpPr txBox="1"/>
          <p:nvPr/>
        </p:nvSpPr>
        <p:spPr>
          <a:xfrm>
            <a:off x="483256" y="38606829"/>
            <a:ext cx="21635026" cy="302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720" dirty="0">
                <a:latin typeface="Futura Bk BT" panose="020B0502020204020303" pitchFamily="34" charset="0"/>
              </a:rPr>
              <a:t>The framework enables the generation of spatial transcriptomics data that reflect the statistical properties observed in real experiments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720" dirty="0">
                <a:latin typeface="Futura Bk BT" panose="020B0502020204020303" pitchFamily="34" charset="0"/>
              </a:rPr>
              <a:t>it supports the development of analytical methods and provides a foundation for </a:t>
            </a:r>
            <a:r>
              <a:rPr lang="en-US" sz="2720" b="1" dirty="0">
                <a:latin typeface="Futura Bk BT" panose="020B0502020204020303" pitchFamily="34" charset="0"/>
              </a:rPr>
              <a:t>benchmarking</a:t>
            </a:r>
            <a:r>
              <a:rPr lang="en-US" sz="2720" dirty="0">
                <a:latin typeface="Futura Bk BT" panose="020B0502020204020303" pitchFamily="34" charset="0"/>
              </a:rPr>
              <a:t> in spatial genomics studies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720" dirty="0">
                <a:latin typeface="Futura Bk BT" panose="020B0502020204020303" pitchFamily="34" charset="0"/>
              </a:rPr>
              <a:t>potential extensions include the introduction of further complexities such as multi-resolution variations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2720" dirty="0" err="1">
                <a:latin typeface="Futura Bk BT" panose="020B0502020204020303" pitchFamily="34" charset="0"/>
              </a:rPr>
              <a:t>we</a:t>
            </a:r>
            <a:r>
              <a:rPr lang="it-IT" sz="2720" dirty="0">
                <a:latin typeface="Futura Bk BT" panose="020B0502020204020303" pitchFamily="34" charset="0"/>
              </a:rPr>
              <a:t> </a:t>
            </a:r>
            <a:r>
              <a:rPr lang="it-IT" sz="2720" dirty="0" err="1">
                <a:latin typeface="Futura Bk BT" panose="020B0502020204020303" pitchFamily="34" charset="0"/>
              </a:rPr>
              <a:t>evaluated</a:t>
            </a:r>
            <a:r>
              <a:rPr lang="it-IT" sz="2720" dirty="0">
                <a:latin typeface="Futura Bk BT" panose="020B0502020204020303" pitchFamily="34" charset="0"/>
              </a:rPr>
              <a:t> a standard Seurat pipeline </a:t>
            </a:r>
            <a:r>
              <a:rPr lang="it-IT" sz="2720" dirty="0" err="1">
                <a:latin typeface="Futura Bk BT" panose="020B0502020204020303" pitchFamily="34" charset="0"/>
              </a:rPr>
              <a:t>against</a:t>
            </a:r>
            <a:r>
              <a:rPr lang="it-IT" sz="2720" dirty="0">
                <a:latin typeface="Futura Bk BT" panose="020B0502020204020303" pitchFamily="34" charset="0"/>
              </a:rPr>
              <a:t> a </a:t>
            </a:r>
            <a:r>
              <a:rPr lang="it-IT" sz="2720" dirty="0" err="1">
                <a:latin typeface="Futura Bk BT" panose="020B0502020204020303" pitchFamily="34" charset="0"/>
              </a:rPr>
              <a:t>modified</a:t>
            </a:r>
            <a:r>
              <a:rPr lang="it-IT" sz="2720" dirty="0">
                <a:latin typeface="Futura Bk BT" panose="020B0502020204020303" pitchFamily="34" charset="0"/>
              </a:rPr>
              <a:t> </a:t>
            </a:r>
            <a:r>
              <a:rPr lang="it-IT" sz="2720" dirty="0" err="1">
                <a:latin typeface="Futura Bk BT" panose="020B0502020204020303" pitchFamily="34" charset="0"/>
              </a:rPr>
              <a:t>approach</a:t>
            </a:r>
            <a:r>
              <a:rPr lang="it-IT" sz="2720" dirty="0">
                <a:latin typeface="Futura Bk BT" panose="020B0502020204020303" pitchFamily="34" charset="0"/>
              </a:rPr>
              <a:t>, and Seurat </a:t>
            </a:r>
            <a:r>
              <a:rPr lang="it-IT" sz="2720" dirty="0" err="1">
                <a:latin typeface="Futura Bk BT" panose="020B0502020204020303" pitchFamily="34" charset="0"/>
              </a:rPr>
              <a:t>currently</a:t>
            </a:r>
            <a:r>
              <a:rPr lang="it-IT" sz="2720" dirty="0">
                <a:latin typeface="Futura Bk BT" panose="020B0502020204020303" pitchFamily="34" charset="0"/>
              </a:rPr>
              <a:t> shows </a:t>
            </a:r>
            <a:r>
              <a:rPr lang="it-IT" sz="2720" dirty="0" err="1">
                <a:latin typeface="Futura Bk BT" panose="020B0502020204020303" pitchFamily="34" charset="0"/>
              </a:rPr>
              <a:t>slightly</a:t>
            </a:r>
            <a:r>
              <a:rPr lang="it-IT" sz="2720" dirty="0">
                <a:latin typeface="Futura Bk BT" panose="020B0502020204020303" pitchFamily="34" charset="0"/>
              </a:rPr>
              <a:t> </a:t>
            </a:r>
            <a:r>
              <a:rPr lang="it-IT" sz="2720" dirty="0" err="1">
                <a:latin typeface="Futura Bk BT" panose="020B0502020204020303" pitchFamily="34" charset="0"/>
              </a:rPr>
              <a:t>better</a:t>
            </a:r>
            <a:r>
              <a:rPr lang="it-IT" sz="2720" dirty="0">
                <a:latin typeface="Futura Bk BT" panose="020B0502020204020303" pitchFamily="34" charset="0"/>
              </a:rPr>
              <a:t> performance, </a:t>
            </a:r>
            <a:r>
              <a:rPr lang="it-IT" sz="2720" dirty="0" err="1">
                <a:latin typeface="Futura Bk BT" panose="020B0502020204020303" pitchFamily="34" charset="0"/>
              </a:rPr>
              <a:t>although</a:t>
            </a:r>
            <a:r>
              <a:rPr lang="it-IT" sz="2720" dirty="0">
                <a:latin typeface="Futura Bk BT" panose="020B0502020204020303" pitchFamily="34" charset="0"/>
              </a:rPr>
              <a:t> </a:t>
            </a:r>
            <a:r>
              <a:rPr lang="it-IT" sz="2720" dirty="0" err="1">
                <a:latin typeface="Futura Bk BT" panose="020B0502020204020303" pitchFamily="34" charset="0"/>
              </a:rPr>
              <a:t>further</a:t>
            </a:r>
            <a:r>
              <a:rPr lang="it-IT" sz="2720" dirty="0">
                <a:latin typeface="Futura Bk BT" panose="020B0502020204020303" pitchFamily="34" charset="0"/>
              </a:rPr>
              <a:t> </a:t>
            </a:r>
            <a:r>
              <a:rPr lang="it-IT" sz="2720" dirty="0" err="1">
                <a:latin typeface="Futura Bk BT" panose="020B0502020204020303" pitchFamily="34" charset="0"/>
              </a:rPr>
              <a:t>optimizations</a:t>
            </a:r>
            <a:r>
              <a:rPr lang="it-IT" sz="2720" dirty="0">
                <a:latin typeface="Futura Bk BT" panose="020B0502020204020303" pitchFamily="34" charset="0"/>
              </a:rPr>
              <a:t> are </a:t>
            </a:r>
            <a:r>
              <a:rPr lang="it-IT" sz="2720" dirty="0" err="1">
                <a:latin typeface="Futura Bk BT" panose="020B0502020204020303" pitchFamily="34" charset="0"/>
              </a:rPr>
              <a:t>underway</a:t>
            </a:r>
            <a:r>
              <a:rPr lang="it-IT" sz="2720" dirty="0">
                <a:latin typeface="Futura Bk BT" panose="020B0502020204020303" pitchFamily="34" charset="0"/>
              </a:rPr>
              <a:t>.</a:t>
            </a:r>
          </a:p>
          <a:p>
            <a:pPr algn="just"/>
            <a:endParaRPr lang="en-US" sz="2720" dirty="0">
              <a:latin typeface="Futura Bk BT" panose="020B0502020204020303" pitchFamily="34" charset="0"/>
            </a:endParaRPr>
          </a:p>
        </p:txBody>
      </p:sp>
      <p:pic>
        <p:nvPicPr>
          <p:cNvPr id="199" name="Immagine 198">
            <a:extLst>
              <a:ext uri="{FF2B5EF4-FFF2-40B4-BE49-F238E27FC236}">
                <a16:creationId xmlns:a16="http://schemas.microsoft.com/office/drawing/2014/main" id="{6870FE5B-1659-466F-86A0-4969B36030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49" y="41254736"/>
            <a:ext cx="11251201" cy="1474417"/>
          </a:xfrm>
          <a:prstGeom prst="rect">
            <a:avLst/>
          </a:prstGeom>
        </p:spPr>
      </p:pic>
      <p:grpSp>
        <p:nvGrpSpPr>
          <p:cNvPr id="46" name="Gruppo 45">
            <a:extLst>
              <a:ext uri="{FF2B5EF4-FFF2-40B4-BE49-F238E27FC236}">
                <a16:creationId xmlns:a16="http://schemas.microsoft.com/office/drawing/2014/main" id="{1D21D7DA-D89A-443B-BDCD-3C9B555F6863}"/>
              </a:ext>
            </a:extLst>
          </p:cNvPr>
          <p:cNvGrpSpPr/>
          <p:nvPr/>
        </p:nvGrpSpPr>
        <p:grpSpPr>
          <a:xfrm>
            <a:off x="20083699" y="10783033"/>
            <a:ext cx="9718608" cy="6328195"/>
            <a:chOff x="10474137" y="14105181"/>
            <a:chExt cx="8257010" cy="7465178"/>
          </a:xfrm>
        </p:grpSpPr>
        <p:sp>
          <p:nvSpPr>
            <p:cNvPr id="65" name="Rettangolo con angoli arrotondati 64">
              <a:extLst>
                <a:ext uri="{FF2B5EF4-FFF2-40B4-BE49-F238E27FC236}">
                  <a16:creationId xmlns:a16="http://schemas.microsoft.com/office/drawing/2014/main" id="{BA10BCB6-922C-472B-92D9-235C3771408C}"/>
                </a:ext>
              </a:extLst>
            </p:cNvPr>
            <p:cNvSpPr/>
            <p:nvPr/>
          </p:nvSpPr>
          <p:spPr>
            <a:xfrm>
              <a:off x="10474138" y="14277423"/>
              <a:ext cx="8257009" cy="7292936"/>
            </a:xfrm>
            <a:prstGeom prst="roundRect">
              <a:avLst>
                <a:gd name="adj" fmla="val 620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ttangolo con angoli arrotondati 65">
              <a:extLst>
                <a:ext uri="{FF2B5EF4-FFF2-40B4-BE49-F238E27FC236}">
                  <a16:creationId xmlns:a16="http://schemas.microsoft.com/office/drawing/2014/main" id="{EF1210D5-1D95-4543-9D12-924F40268289}"/>
                </a:ext>
              </a:extLst>
            </p:cNvPr>
            <p:cNvSpPr/>
            <p:nvPr/>
          </p:nvSpPr>
          <p:spPr>
            <a:xfrm>
              <a:off x="10474137" y="14105181"/>
              <a:ext cx="8257009" cy="813560"/>
            </a:xfrm>
            <a:prstGeom prst="roundRect">
              <a:avLst>
                <a:gd name="adj" fmla="val 46361"/>
              </a:avLst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ttangolo 66">
              <a:extLst>
                <a:ext uri="{FF2B5EF4-FFF2-40B4-BE49-F238E27FC236}">
                  <a16:creationId xmlns:a16="http://schemas.microsoft.com/office/drawing/2014/main" id="{998D8BBE-D1C0-46A8-844B-A6AEEACEC7B2}"/>
                </a:ext>
              </a:extLst>
            </p:cNvPr>
            <p:cNvSpPr/>
            <p:nvPr/>
          </p:nvSpPr>
          <p:spPr>
            <a:xfrm>
              <a:off x="10474138" y="14448909"/>
              <a:ext cx="8257009" cy="646330"/>
            </a:xfrm>
            <a:prstGeom prst="rect">
              <a:avLst/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1E47ABDA-3A9E-4C04-AAC7-699F87A1E6A2}"/>
              </a:ext>
            </a:extLst>
          </p:cNvPr>
          <p:cNvSpPr txBox="1"/>
          <p:nvPr/>
        </p:nvSpPr>
        <p:spPr>
          <a:xfrm>
            <a:off x="20835693" y="10891670"/>
            <a:ext cx="8735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88"/>
              </a:spcAft>
            </a:pPr>
            <a:r>
              <a:rPr lang="it-IT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 2. Image processing and </a:t>
            </a:r>
            <a:r>
              <a:rPr lang="it-IT" sz="3200" b="1" dirty="0" err="1">
                <a:solidFill>
                  <a:schemeClr val="bg1"/>
                </a:solidFill>
                <a:latin typeface="Futura Bk BT" panose="020B0502020204020303" pitchFamily="34" charset="0"/>
              </a:rPr>
              <a:t>thresholding</a:t>
            </a:r>
            <a:endParaRPr lang="en-US" sz="3200" b="1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D1AFDE07-DC0C-48CC-ADF6-D87E17F12310}"/>
              </a:ext>
            </a:extLst>
          </p:cNvPr>
          <p:cNvGrpSpPr/>
          <p:nvPr/>
        </p:nvGrpSpPr>
        <p:grpSpPr>
          <a:xfrm>
            <a:off x="477125" y="19173796"/>
            <a:ext cx="9999134" cy="6309857"/>
            <a:chOff x="18588391" y="14017082"/>
            <a:chExt cx="8257010" cy="6931122"/>
          </a:xfrm>
        </p:grpSpPr>
        <p:sp>
          <p:nvSpPr>
            <p:cNvPr id="69" name="Rettangolo con angoli arrotondati 68">
              <a:extLst>
                <a:ext uri="{FF2B5EF4-FFF2-40B4-BE49-F238E27FC236}">
                  <a16:creationId xmlns:a16="http://schemas.microsoft.com/office/drawing/2014/main" id="{6ECBCB5F-C548-4375-9B5F-33BF8C28765D}"/>
                </a:ext>
              </a:extLst>
            </p:cNvPr>
            <p:cNvSpPr/>
            <p:nvPr/>
          </p:nvSpPr>
          <p:spPr>
            <a:xfrm>
              <a:off x="18588392" y="14185851"/>
              <a:ext cx="8257009" cy="6762353"/>
            </a:xfrm>
            <a:prstGeom prst="roundRect">
              <a:avLst>
                <a:gd name="adj" fmla="val 620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ttangolo con angoli arrotondati 69">
              <a:extLst>
                <a:ext uri="{FF2B5EF4-FFF2-40B4-BE49-F238E27FC236}">
                  <a16:creationId xmlns:a16="http://schemas.microsoft.com/office/drawing/2014/main" id="{212EE84F-8896-4132-AE55-06566F1FC399}"/>
                </a:ext>
              </a:extLst>
            </p:cNvPr>
            <p:cNvSpPr/>
            <p:nvPr/>
          </p:nvSpPr>
          <p:spPr>
            <a:xfrm>
              <a:off x="18588391" y="14017082"/>
              <a:ext cx="8257009" cy="810088"/>
            </a:xfrm>
            <a:prstGeom prst="roundRect">
              <a:avLst>
                <a:gd name="adj" fmla="val 46361"/>
              </a:avLst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ttangolo 70">
              <a:extLst>
                <a:ext uri="{FF2B5EF4-FFF2-40B4-BE49-F238E27FC236}">
                  <a16:creationId xmlns:a16="http://schemas.microsoft.com/office/drawing/2014/main" id="{45FC0B23-62C9-4699-8C30-A32598FD875F}"/>
                </a:ext>
              </a:extLst>
            </p:cNvPr>
            <p:cNvSpPr/>
            <p:nvPr/>
          </p:nvSpPr>
          <p:spPr>
            <a:xfrm>
              <a:off x="18588392" y="14357337"/>
              <a:ext cx="8257009" cy="583487"/>
            </a:xfrm>
            <a:prstGeom prst="rect">
              <a:avLst/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621F4C8F-D677-40B0-AD41-D6D10EE3CB33}"/>
              </a:ext>
            </a:extLst>
          </p:cNvPr>
          <p:cNvSpPr txBox="1"/>
          <p:nvPr/>
        </p:nvSpPr>
        <p:spPr>
          <a:xfrm>
            <a:off x="2249521" y="19251341"/>
            <a:ext cx="6217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88"/>
              </a:spcAft>
            </a:pPr>
            <a:r>
              <a:rPr lang="it-IT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 3. </a:t>
            </a:r>
            <a:r>
              <a:rPr lang="en-US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Clustering and sampling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BE9A42C4-3DCF-4674-BC49-E5F973A6A766}"/>
              </a:ext>
            </a:extLst>
          </p:cNvPr>
          <p:cNvSpPr txBox="1"/>
          <p:nvPr/>
        </p:nvSpPr>
        <p:spPr>
          <a:xfrm>
            <a:off x="20278839" y="12066552"/>
            <a:ext cx="9380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Futura Bk BT" panose="020B0502020204020303" pitchFamily="34" charset="0"/>
              </a:rPr>
              <a:t>a) </a:t>
            </a:r>
            <a:r>
              <a:rPr lang="en-US" sz="2400" b="1" dirty="0">
                <a:latin typeface="Futura Bk BT" panose="020B0502020204020303" pitchFamily="34" charset="0"/>
              </a:rPr>
              <a:t>loading</a:t>
            </a:r>
            <a:r>
              <a:rPr lang="en-US" sz="2400" dirty="0">
                <a:latin typeface="Futura Bk BT" panose="020B0502020204020303" pitchFamily="34" charset="0"/>
              </a:rPr>
              <a:t> the input image (H&amp;E staining)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b) converting color images to </a:t>
            </a:r>
            <a:r>
              <a:rPr lang="en-US" sz="2400" b="1" dirty="0">
                <a:latin typeface="Futura Bk BT" panose="020B0502020204020303" pitchFamily="34" charset="0"/>
              </a:rPr>
              <a:t>grayscale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c) “squeezing" the image to remove redundant dimensions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d) generating data frame with spatial coordinates (</a:t>
            </a:r>
            <a:r>
              <a:rPr lang="en-US" sz="2400" b="1" dirty="0">
                <a:latin typeface="Futura Bk BT" panose="020B0502020204020303" pitchFamily="34" charset="0"/>
              </a:rPr>
              <a:t>x, y</a:t>
            </a:r>
            <a:r>
              <a:rPr lang="en-US" sz="2400" dirty="0">
                <a:latin typeface="Futura Bk BT" panose="020B0502020204020303" pitchFamily="34" charset="0"/>
              </a:rPr>
              <a:t>) and </a:t>
            </a:r>
            <a:r>
              <a:rPr lang="en-US" sz="2400" b="1" dirty="0">
                <a:latin typeface="Futura Bk BT" panose="020B0502020204020303" pitchFamily="34" charset="0"/>
              </a:rPr>
              <a:t>intensity values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e) </a:t>
            </a:r>
            <a:r>
              <a:rPr lang="en-US" sz="2400" b="1" dirty="0">
                <a:latin typeface="Futura Bk BT" panose="020B0502020204020303" pitchFamily="34" charset="0"/>
              </a:rPr>
              <a:t>thresholding</a:t>
            </a:r>
            <a:r>
              <a:rPr lang="en-US" sz="2400" dirty="0">
                <a:latin typeface="Futura Bk BT" panose="020B0502020204020303" pitchFamily="34" charset="0"/>
              </a:rPr>
              <a:t> to exclude high-intensity background pixels</a:t>
            </a:r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63C293C4-5914-49A9-B1A1-BAF8A9FE8F2E}"/>
              </a:ext>
            </a:extLst>
          </p:cNvPr>
          <p:cNvSpPr txBox="1"/>
          <p:nvPr/>
        </p:nvSpPr>
        <p:spPr>
          <a:xfrm>
            <a:off x="840600" y="20387435"/>
            <a:ext cx="5938548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400" b="1" u="sng" dirty="0">
                <a:latin typeface="Futura Bk BT" panose="020B0502020204020303" pitchFamily="34" charset="0"/>
              </a:rPr>
              <a:t>Clustering: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b="1" dirty="0">
                <a:latin typeface="Futura Bk BT" panose="020B0502020204020303" pitchFamily="34" charset="0"/>
              </a:rPr>
              <a:t>K-</a:t>
            </a:r>
            <a:r>
              <a:rPr lang="it-IT" sz="2400" b="1" dirty="0" err="1">
                <a:latin typeface="Futura Bk BT" panose="020B0502020204020303" pitchFamily="34" charset="0"/>
              </a:rPr>
              <a:t>means</a:t>
            </a:r>
            <a:r>
              <a:rPr lang="it-IT" sz="2400" b="1" dirty="0">
                <a:latin typeface="Futura Bk BT" panose="020B0502020204020303" pitchFamily="34" charset="0"/>
              </a:rPr>
              <a:t>++ </a:t>
            </a:r>
            <a:r>
              <a:rPr lang="it-IT" sz="2400" dirty="0" err="1">
                <a:latin typeface="Futura Bk BT" panose="020B0502020204020303" pitchFamily="34" charset="0"/>
              </a:rPr>
              <a:t>algorithm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is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used</a:t>
            </a:r>
            <a:r>
              <a:rPr lang="it-IT" sz="2400" dirty="0">
                <a:latin typeface="Futura Bk BT" panose="020B0502020204020303" pitchFamily="34" charset="0"/>
              </a:rPr>
              <a:t> to cluster pixels with </a:t>
            </a:r>
            <a:r>
              <a:rPr lang="it-IT" sz="2400" dirty="0" err="1">
                <a:latin typeface="Futura Bk BT" panose="020B0502020204020303" pitchFamily="34" charset="0"/>
              </a:rPr>
              <a:t>similar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intensity</a:t>
            </a:r>
            <a:r>
              <a:rPr lang="it-IT" sz="2400" dirty="0">
                <a:latin typeface="Futura Bk BT" panose="020B0502020204020303" pitchFamily="34" charset="0"/>
              </a:rPr>
              <a:t>, </a:t>
            </a:r>
            <a:r>
              <a:rPr lang="it-IT" sz="2400" dirty="0" err="1">
                <a:latin typeface="Futura Bk BT" panose="020B0502020204020303" pitchFamily="34" charset="0"/>
              </a:rPr>
              <a:t>mimicking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distinct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cell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types</a:t>
            </a:r>
            <a:r>
              <a:rPr lang="it-IT" sz="2400" dirty="0">
                <a:latin typeface="Futura Bk BT" panose="020B0502020204020303" pitchFamily="34" charset="0"/>
              </a:rPr>
              <a:t> in </a:t>
            </a:r>
            <a:r>
              <a:rPr lang="it-IT" sz="2400" dirty="0" err="1">
                <a:latin typeface="Futura Bk BT" panose="020B0502020204020303" pitchFamily="34" charset="0"/>
              </a:rPr>
              <a:t>real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biological</a:t>
            </a:r>
            <a:r>
              <a:rPr lang="it-IT" sz="2400" dirty="0">
                <a:latin typeface="Futura Bk BT" panose="020B0502020204020303" pitchFamily="34" charset="0"/>
              </a:rPr>
              <a:t> data</a:t>
            </a:r>
          </a:p>
          <a:p>
            <a:endParaRPr lang="en-US" sz="2400" dirty="0">
              <a:latin typeface="Futura Bk BT" panose="020B05020202040203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400" b="1" u="sng" dirty="0">
                <a:latin typeface="Futura Bk BT" panose="020B0502020204020303" pitchFamily="34" charset="0"/>
              </a:rPr>
              <a:t>Sampling:</a:t>
            </a:r>
            <a:r>
              <a:rPr lang="en-US" sz="2400" dirty="0">
                <a:latin typeface="Futura Bk BT" panose="020B0502020204020303" pitchFamily="34" charset="0"/>
              </a:rPr>
              <a:t> 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a) calculate frequency of each cluster 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b) determine how many cells to sample from each cluster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c) randomly sample cells from each   cluster</a:t>
            </a:r>
          </a:p>
          <a:p>
            <a:r>
              <a:rPr lang="en-US" sz="2400" dirty="0">
                <a:latin typeface="Futura Bk BT" panose="020B0502020204020303" pitchFamily="34" charset="0"/>
              </a:rPr>
              <a:t>d) generate collective data frame</a:t>
            </a: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BE0215AF-F939-4A8D-BB9F-A6FE27FF0BD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11351" r="28521" b="10812"/>
          <a:stretch/>
        </p:blipFill>
        <p:spPr>
          <a:xfrm>
            <a:off x="7131328" y="20676557"/>
            <a:ext cx="2398678" cy="2116698"/>
          </a:xfrm>
          <a:prstGeom prst="rect">
            <a:avLst/>
          </a:prstGeom>
        </p:spPr>
      </p:pic>
      <p:sp>
        <p:nvSpPr>
          <p:cNvPr id="96" name="CasellaDiTesto 95">
            <a:extLst>
              <a:ext uri="{FF2B5EF4-FFF2-40B4-BE49-F238E27FC236}">
                <a16:creationId xmlns:a16="http://schemas.microsoft.com/office/drawing/2014/main" id="{DF716F08-1E84-4A17-AC4E-516116E7DC13}"/>
              </a:ext>
            </a:extLst>
          </p:cNvPr>
          <p:cNvSpPr txBox="1"/>
          <p:nvPr/>
        </p:nvSpPr>
        <p:spPr>
          <a:xfrm>
            <a:off x="7030533" y="23541893"/>
            <a:ext cx="2926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i="1" dirty="0" err="1">
                <a:latin typeface="Futura Bk BT" panose="020B0502020204020303" pitchFamily="34" charset="0"/>
              </a:rPr>
              <a:t>subsampled</a:t>
            </a:r>
            <a:r>
              <a:rPr lang="it-IT" sz="1400" b="1" i="1" dirty="0">
                <a:latin typeface="Futura Bk BT" panose="020B0502020204020303" pitchFamily="34" charset="0"/>
              </a:rPr>
              <a:t> </a:t>
            </a:r>
            <a:r>
              <a:rPr lang="it-IT" sz="1400" b="1" i="1" dirty="0" err="1">
                <a:latin typeface="Futura Bk BT" panose="020B0502020204020303" pitchFamily="34" charset="0"/>
              </a:rPr>
              <a:t>dataframe</a:t>
            </a:r>
            <a:endParaRPr lang="en-US" sz="1400" b="1" i="1" dirty="0">
              <a:latin typeface="Futura Bk BT" panose="020B0502020204020303" pitchFamily="34" charset="0"/>
            </a:endParaRPr>
          </a:p>
        </p:txBody>
      </p:sp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EDF19CD5-844B-4CF5-BF3F-88EF8C15A969}"/>
              </a:ext>
            </a:extLst>
          </p:cNvPr>
          <p:cNvSpPr/>
          <p:nvPr/>
        </p:nvSpPr>
        <p:spPr>
          <a:xfrm rot="10800000">
            <a:off x="19297654" y="37350037"/>
            <a:ext cx="1723136" cy="821490"/>
          </a:xfrm>
          <a:prstGeom prst="triangle">
            <a:avLst/>
          </a:prstGeom>
          <a:solidFill>
            <a:srgbClr val="E0E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/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E9C263B8-A38E-43AD-8B45-9DB211C9E47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628"/>
          <a:stretch/>
        </p:blipFill>
        <p:spPr>
          <a:xfrm>
            <a:off x="7172060" y="23986921"/>
            <a:ext cx="2643096" cy="1173265"/>
          </a:xfrm>
          <a:prstGeom prst="rect">
            <a:avLst/>
          </a:prstGeom>
        </p:spPr>
      </p:pic>
      <p:sp>
        <p:nvSpPr>
          <p:cNvPr id="145" name="Rettangolo con angoli arrotondati 144">
            <a:extLst>
              <a:ext uri="{FF2B5EF4-FFF2-40B4-BE49-F238E27FC236}">
                <a16:creationId xmlns:a16="http://schemas.microsoft.com/office/drawing/2014/main" id="{D015218E-CB7F-4C66-BB06-DD9E74997094}"/>
              </a:ext>
            </a:extLst>
          </p:cNvPr>
          <p:cNvSpPr/>
          <p:nvPr/>
        </p:nvSpPr>
        <p:spPr>
          <a:xfrm>
            <a:off x="20054920" y="17456295"/>
            <a:ext cx="9864814" cy="11393993"/>
          </a:xfrm>
          <a:prstGeom prst="roundRect">
            <a:avLst>
              <a:gd name="adj" fmla="val 4506"/>
            </a:avLst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CasellaDiTesto 145">
            <a:extLst>
              <a:ext uri="{FF2B5EF4-FFF2-40B4-BE49-F238E27FC236}">
                <a16:creationId xmlns:a16="http://schemas.microsoft.com/office/drawing/2014/main" id="{0239CD44-E06A-40AE-A8D4-98C1F8E4CD91}"/>
              </a:ext>
            </a:extLst>
          </p:cNvPr>
          <p:cNvSpPr txBox="1"/>
          <p:nvPr/>
        </p:nvSpPr>
        <p:spPr>
          <a:xfrm>
            <a:off x="19567314" y="28972344"/>
            <a:ext cx="1030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88"/>
              </a:spcAft>
            </a:pPr>
            <a:r>
              <a:rPr lang="it-IT" sz="4000" b="1" dirty="0" err="1">
                <a:latin typeface="Futura Bk BT" panose="020B0502020204020303" pitchFamily="34" charset="0"/>
              </a:rPr>
              <a:t>Advantages</a:t>
            </a:r>
            <a:r>
              <a:rPr lang="it-IT" sz="4000" b="1" dirty="0">
                <a:latin typeface="Futura Bk BT" panose="020B0502020204020303" pitchFamily="34" charset="0"/>
              </a:rPr>
              <a:t> of the </a:t>
            </a:r>
            <a:r>
              <a:rPr lang="it-IT" sz="4000" b="1" dirty="0" err="1">
                <a:latin typeface="Futura Bk BT" panose="020B0502020204020303" pitchFamily="34" charset="0"/>
              </a:rPr>
              <a:t>proposed</a:t>
            </a:r>
            <a:r>
              <a:rPr lang="it-IT" sz="4000" b="1" dirty="0">
                <a:latin typeface="Futura Bk BT" panose="020B0502020204020303" pitchFamily="34" charset="0"/>
              </a:rPr>
              <a:t> framework</a:t>
            </a:r>
            <a:endParaRPr lang="en-US" sz="4000" b="1" dirty="0">
              <a:latin typeface="Futura Bk BT" panose="020B0502020204020303" pitchFamily="34" charset="0"/>
            </a:endParaRPr>
          </a:p>
        </p:txBody>
      </p:sp>
      <p:sp>
        <p:nvSpPr>
          <p:cNvPr id="79" name="Triangolo isoscele 78">
            <a:extLst>
              <a:ext uri="{FF2B5EF4-FFF2-40B4-BE49-F238E27FC236}">
                <a16:creationId xmlns:a16="http://schemas.microsoft.com/office/drawing/2014/main" id="{F5208B3C-9372-4046-A150-06372C179C34}"/>
              </a:ext>
            </a:extLst>
          </p:cNvPr>
          <p:cNvSpPr/>
          <p:nvPr/>
        </p:nvSpPr>
        <p:spPr>
          <a:xfrm rot="16200000" flipV="1">
            <a:off x="17850019" y="27291407"/>
            <a:ext cx="2239808" cy="845556"/>
          </a:xfrm>
          <a:prstGeom prst="triangle">
            <a:avLst/>
          </a:prstGeom>
          <a:solidFill>
            <a:srgbClr val="EBE7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71"/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49374953-F605-4676-9C4F-C6F9B92A3FF8}"/>
              </a:ext>
            </a:extLst>
          </p:cNvPr>
          <p:cNvSpPr txBox="1"/>
          <p:nvPr/>
        </p:nvSpPr>
        <p:spPr>
          <a:xfrm>
            <a:off x="19761236" y="30542118"/>
            <a:ext cx="98979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Futura Bk BT" panose="020B0502020204020303" pitchFamily="34" charset="0"/>
                <a:sym typeface="Wingdings" panose="05000000000000000000" pitchFamily="2" charset="2"/>
              </a:rPr>
              <a:t>Full control over simulation parameters: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Futura Bk BT" panose="020B0502020204020303" pitchFamily="34" charset="0"/>
                <a:sym typeface="Wingdings" panose="05000000000000000000" pitchFamily="2" charset="2"/>
              </a:rPr>
              <a:t> known </a:t>
            </a:r>
            <a:r>
              <a:rPr lang="en-US" sz="2800" b="1" u="sng" dirty="0">
                <a:latin typeface="Futura Bk BT" panose="020B0502020204020303" pitchFamily="34" charset="0"/>
                <a:sym typeface="Wingdings" panose="05000000000000000000" pitchFamily="2" charset="2"/>
              </a:rPr>
              <a:t>ground truth</a:t>
            </a:r>
            <a:endParaRPr lang="en-US" sz="2800" b="1" dirty="0">
              <a:latin typeface="Futura Bk BT" panose="020B0502020204020303" pitchFamily="34" charset="0"/>
            </a:endParaRPr>
          </a:p>
          <a:p>
            <a:pPr algn="just"/>
            <a:r>
              <a:rPr lang="en-US" sz="2800" b="1" dirty="0">
                <a:latin typeface="Futura Bk BT" panose="020B0502020204020303" pitchFamily="34" charset="0"/>
              </a:rPr>
              <a:t>Overdispersion of gene counts:</a:t>
            </a:r>
          </a:p>
          <a:p>
            <a:pPr algn="just"/>
            <a:r>
              <a:rPr lang="en-US" sz="2800" dirty="0">
                <a:latin typeface="Futura Bk BT" panose="020B0502020204020303" pitchFamily="34" charset="0"/>
                <a:sym typeface="Wingdings" panose="05000000000000000000" pitchFamily="2" charset="2"/>
              </a:rPr>
              <a:t> a</a:t>
            </a:r>
            <a:r>
              <a:rPr lang="en-US" sz="2800" dirty="0">
                <a:latin typeface="Futura Bk BT" panose="020B0502020204020303" pitchFamily="34" charset="0"/>
              </a:rPr>
              <a:t>ccurate modeling of variance exceeding the mean (overdispersion), a hallmark of real transcriptomic data;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Futura Bk BT" panose="020B0502020204020303" pitchFamily="34" charset="0"/>
                <a:sym typeface="Wingdings" panose="05000000000000000000" pitchFamily="2" charset="2"/>
              </a:rPr>
              <a:t> r</a:t>
            </a:r>
            <a:r>
              <a:rPr lang="en-US" sz="2800" dirty="0">
                <a:latin typeface="Futura Bk BT" panose="020B0502020204020303" pitchFamily="34" charset="0"/>
              </a:rPr>
              <a:t>epresentation of the heterogeneous </a:t>
            </a:r>
            <a:r>
              <a:rPr lang="en-US" sz="2800" b="1" u="sng" dirty="0">
                <a:latin typeface="Futura Bk BT" panose="020B0502020204020303" pitchFamily="34" charset="0"/>
              </a:rPr>
              <a:t>biological noise </a:t>
            </a:r>
            <a:r>
              <a:rPr lang="en-US" sz="2800" dirty="0">
                <a:latin typeface="Futura Bk BT" panose="020B0502020204020303" pitchFamily="34" charset="0"/>
              </a:rPr>
              <a:t>across different tissue regions</a:t>
            </a:r>
          </a:p>
          <a:p>
            <a:pPr algn="just"/>
            <a:endParaRPr lang="en-US" sz="2800" b="1" dirty="0">
              <a:latin typeface="Futura Bk BT" panose="020B0502020204020303" pitchFamily="34" charset="0"/>
            </a:endParaRPr>
          </a:p>
          <a:p>
            <a:pPr algn="just"/>
            <a:r>
              <a:rPr lang="en-US" sz="2800" b="1" dirty="0">
                <a:latin typeface="Futura Bk BT" panose="020B0502020204020303" pitchFamily="34" charset="0"/>
              </a:rPr>
              <a:t>Continuous spatial correlation sing Gaussian processes:</a:t>
            </a:r>
          </a:p>
          <a:p>
            <a:pPr algn="just"/>
            <a:r>
              <a:rPr lang="en-US" sz="2800" b="1" dirty="0">
                <a:latin typeface="Futura Bk BT" panose="020B0502020204020303" pitchFamily="34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Futura Bk BT" panose="020B0502020204020303" pitchFamily="34" charset="0"/>
                <a:sym typeface="Wingdings" panose="05000000000000000000" pitchFamily="2" charset="2"/>
              </a:rPr>
              <a:t>transitions between biological regions, capturing the natural continuity of tissues</a:t>
            </a:r>
          </a:p>
          <a:p>
            <a:pPr algn="just"/>
            <a:endParaRPr lang="en-US" sz="2800" dirty="0">
              <a:latin typeface="Futura Bk BT" panose="020B0502020204020303" pitchFamily="34" charset="0"/>
              <a:sym typeface="Wingdings" panose="05000000000000000000" pitchFamily="2" charset="2"/>
            </a:endParaRPr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CBD47A8F-39A5-4366-A149-C167D7003D33}"/>
              </a:ext>
            </a:extLst>
          </p:cNvPr>
          <p:cNvSpPr txBox="1"/>
          <p:nvPr/>
        </p:nvSpPr>
        <p:spPr>
          <a:xfrm>
            <a:off x="10361029" y="26838596"/>
            <a:ext cx="83840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it-IT" sz="2800" b="1" dirty="0">
                <a:latin typeface="Futura Bk BT" panose="020B0502020204020303" pitchFamily="34" charset="0"/>
              </a:rPr>
              <a:t>We </a:t>
            </a:r>
            <a:r>
              <a:rPr lang="it-IT" sz="2800" b="1" dirty="0" err="1">
                <a:latin typeface="Futura Bk BT" panose="020B0502020204020303" pitchFamily="34" charset="0"/>
              </a:rPr>
              <a:t>evaluated</a:t>
            </a:r>
            <a:r>
              <a:rPr lang="it-IT" sz="2800" b="1" dirty="0">
                <a:latin typeface="Futura Bk BT" panose="020B0502020204020303" pitchFamily="34" charset="0"/>
              </a:rPr>
              <a:t> clustering </a:t>
            </a:r>
            <a:r>
              <a:rPr lang="it-IT" sz="2800" b="1" dirty="0" err="1">
                <a:latin typeface="Futura Bk BT" panose="020B0502020204020303" pitchFamily="34" charset="0"/>
              </a:rPr>
              <a:t>quality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using</a:t>
            </a:r>
            <a:r>
              <a:rPr lang="it-IT" sz="2800" b="1" dirty="0">
                <a:latin typeface="Futura Bk BT" panose="020B0502020204020303" pitchFamily="34" charset="0"/>
              </a:rPr>
              <a:t> the Rand Index (RI) and </a:t>
            </a:r>
            <a:r>
              <a:rPr lang="it-IT" sz="2800" b="1" dirty="0" err="1">
                <a:latin typeface="Futura Bk BT" panose="020B0502020204020303" pitchFamily="34" charset="0"/>
              </a:rPr>
              <a:t>its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adjusted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version</a:t>
            </a:r>
            <a:r>
              <a:rPr lang="it-IT" sz="2800" b="1" dirty="0">
                <a:latin typeface="Futura Bk BT" panose="020B0502020204020303" pitchFamily="34" charset="0"/>
              </a:rPr>
              <a:t> (ARI). The Rand Index </a:t>
            </a:r>
            <a:r>
              <a:rPr lang="it-IT" sz="2800" b="1" dirty="0" err="1">
                <a:latin typeface="Futura Bk BT" panose="020B0502020204020303" pitchFamily="34" charset="0"/>
              </a:rPr>
              <a:t>measures</a:t>
            </a:r>
            <a:r>
              <a:rPr lang="it-IT" sz="2800" b="1" dirty="0">
                <a:latin typeface="Futura Bk BT" panose="020B0502020204020303" pitchFamily="34" charset="0"/>
              </a:rPr>
              <a:t> the </a:t>
            </a:r>
            <a:r>
              <a:rPr lang="it-IT" sz="2800" b="1" dirty="0" err="1">
                <a:latin typeface="Futura Bk BT" panose="020B0502020204020303" pitchFamily="34" charset="0"/>
              </a:rPr>
              <a:t>fraction</a:t>
            </a:r>
            <a:r>
              <a:rPr lang="it-IT" sz="2800" b="1" dirty="0">
                <a:latin typeface="Futura Bk BT" panose="020B0502020204020303" pitchFamily="34" charset="0"/>
              </a:rPr>
              <a:t> of </a:t>
            </a:r>
            <a:r>
              <a:rPr lang="it-IT" sz="2800" b="1" dirty="0" err="1">
                <a:latin typeface="Futura Bk BT" panose="020B0502020204020303" pitchFamily="34" charset="0"/>
              </a:rPr>
              <a:t>pairs</a:t>
            </a:r>
            <a:r>
              <a:rPr lang="it-IT" sz="2800" b="1" dirty="0">
                <a:latin typeface="Futura Bk BT" panose="020B0502020204020303" pitchFamily="34" charset="0"/>
              </a:rPr>
              <a:t> on </a:t>
            </a:r>
            <a:r>
              <a:rPr lang="it-IT" sz="2800" b="1" dirty="0" err="1">
                <a:latin typeface="Futura Bk BT" panose="020B0502020204020303" pitchFamily="34" charset="0"/>
              </a:rPr>
              <a:t>which</a:t>
            </a:r>
            <a:r>
              <a:rPr lang="it-IT" sz="2800" b="1" dirty="0">
                <a:latin typeface="Futura Bk BT" panose="020B0502020204020303" pitchFamily="34" charset="0"/>
              </a:rPr>
              <a:t> the </a:t>
            </a:r>
            <a:r>
              <a:rPr lang="it-IT" sz="2800" b="1" dirty="0" err="1">
                <a:latin typeface="Futura Bk BT" panose="020B0502020204020303" pitchFamily="34" charset="0"/>
              </a:rPr>
              <a:t>partitions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agree</a:t>
            </a:r>
            <a:r>
              <a:rPr lang="it-IT" sz="2800" b="1" dirty="0">
                <a:latin typeface="Futura Bk BT" panose="020B0502020204020303" pitchFamily="34" charset="0"/>
              </a:rPr>
              <a:t> giving </a:t>
            </a:r>
            <a:r>
              <a:rPr lang="it-IT" sz="2800" b="1" dirty="0" err="1">
                <a:latin typeface="Futura Bk BT" panose="020B0502020204020303" pitchFamily="34" charset="0"/>
              </a:rPr>
              <a:t>values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near</a:t>
            </a:r>
            <a:r>
              <a:rPr lang="it-IT" sz="2800" b="1" dirty="0">
                <a:latin typeface="Futura Bk BT" panose="020B0502020204020303" pitchFamily="34" charset="0"/>
              </a:rPr>
              <a:t> 0 for random </a:t>
            </a:r>
            <a:r>
              <a:rPr lang="it-IT" sz="2800" b="1" dirty="0" err="1">
                <a:latin typeface="Futura Bk BT" panose="020B0502020204020303" pitchFamily="34" charset="0"/>
              </a:rPr>
              <a:t>partitions</a:t>
            </a:r>
            <a:r>
              <a:rPr lang="it-IT" sz="2800" b="1" dirty="0">
                <a:latin typeface="Futura Bk BT" panose="020B0502020204020303" pitchFamily="34" charset="0"/>
              </a:rPr>
              <a:t> and 1 for a </a:t>
            </a:r>
            <a:r>
              <a:rPr lang="it-IT" sz="2800" b="1" dirty="0" err="1">
                <a:latin typeface="Futura Bk BT" panose="020B0502020204020303" pitchFamily="34" charset="0"/>
              </a:rPr>
              <a:t>perfect</a:t>
            </a:r>
            <a:r>
              <a:rPr lang="it-IT" sz="2800" b="1" dirty="0">
                <a:latin typeface="Futura Bk BT" panose="020B0502020204020303" pitchFamily="34" charset="0"/>
              </a:rPr>
              <a:t> match. In </a:t>
            </a:r>
            <a:r>
              <a:rPr lang="it-IT" sz="2800" b="1" dirty="0" err="1">
                <a:latin typeface="Futura Bk BT" panose="020B0502020204020303" pitchFamily="34" charset="0"/>
              </a:rPr>
              <a:t>addition</a:t>
            </a:r>
            <a:r>
              <a:rPr lang="it-IT" sz="2800" b="1" dirty="0">
                <a:latin typeface="Futura Bk BT" panose="020B0502020204020303" pitchFamily="34" charset="0"/>
              </a:rPr>
              <a:t>, </a:t>
            </a:r>
            <a:r>
              <a:rPr lang="it-IT" sz="2800" b="1" dirty="0" err="1">
                <a:latin typeface="Futura Bk BT" panose="020B0502020204020303" pitchFamily="34" charset="0"/>
              </a:rPr>
              <a:t>we</a:t>
            </a:r>
            <a:r>
              <a:rPr lang="it-IT" sz="2800" b="1" dirty="0">
                <a:latin typeface="Futura Bk BT" panose="020B0502020204020303" pitchFamily="34" charset="0"/>
              </a:rPr>
              <a:t> report </a:t>
            </a:r>
            <a:r>
              <a:rPr lang="it-IT" sz="2800" b="1" dirty="0" err="1">
                <a:latin typeface="Futura Bk BT" panose="020B0502020204020303" pitchFamily="34" charset="0"/>
              </a:rPr>
              <a:t>Adjusted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Mutual</a:t>
            </a:r>
            <a:r>
              <a:rPr lang="it-IT" sz="2800" b="1" dirty="0">
                <a:latin typeface="Futura Bk BT" panose="020B0502020204020303" pitchFamily="34" charset="0"/>
              </a:rPr>
              <a:t> Information (AMI), </a:t>
            </a:r>
            <a:r>
              <a:rPr lang="it-IT" sz="2800" b="1" dirty="0" err="1">
                <a:latin typeface="Futura Bk BT" panose="020B0502020204020303" pitchFamily="34" charset="0"/>
              </a:rPr>
              <a:t>which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quantifies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how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much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knowing</a:t>
            </a:r>
            <a:r>
              <a:rPr lang="it-IT" sz="2800" b="1" dirty="0">
                <a:latin typeface="Futura Bk BT" panose="020B0502020204020303" pitchFamily="34" charset="0"/>
              </a:rPr>
              <a:t> the cluster label in one </a:t>
            </a:r>
            <a:r>
              <a:rPr lang="it-IT" sz="2800" b="1" dirty="0" err="1">
                <a:latin typeface="Futura Bk BT" panose="020B0502020204020303" pitchFamily="34" charset="0"/>
              </a:rPr>
              <a:t>partition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reduces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uncertainty</a:t>
            </a:r>
            <a:r>
              <a:rPr lang="it-IT" sz="2800" b="1" dirty="0">
                <a:latin typeface="Futura Bk BT" panose="020B0502020204020303" pitchFamily="34" charset="0"/>
              </a:rPr>
              <a:t> </a:t>
            </a:r>
            <a:r>
              <a:rPr lang="it-IT" sz="2800" b="1" dirty="0" err="1">
                <a:latin typeface="Futura Bk BT" panose="020B0502020204020303" pitchFamily="34" charset="0"/>
              </a:rPr>
              <a:t>about</a:t>
            </a:r>
            <a:r>
              <a:rPr lang="it-IT" sz="2800" b="1" dirty="0">
                <a:latin typeface="Futura Bk BT" panose="020B0502020204020303" pitchFamily="34" charset="0"/>
              </a:rPr>
              <a:t> the </a:t>
            </a:r>
            <a:r>
              <a:rPr lang="it-IT" sz="2800" b="1" dirty="0" err="1">
                <a:latin typeface="Futura Bk BT" panose="020B0502020204020303" pitchFamily="34" charset="0"/>
              </a:rPr>
              <a:t>other</a:t>
            </a:r>
            <a:r>
              <a:rPr lang="it-IT" sz="2800" b="1" dirty="0">
                <a:latin typeface="Futura Bk BT" panose="020B0502020204020303" pitchFamily="34" charset="0"/>
              </a:rPr>
              <a:t>.</a:t>
            </a:r>
          </a:p>
        </p:txBody>
      </p:sp>
      <p:sp>
        <p:nvSpPr>
          <p:cNvPr id="92" name="CasellaDiTesto 91">
            <a:extLst>
              <a:ext uri="{FF2B5EF4-FFF2-40B4-BE49-F238E27FC236}">
                <a16:creationId xmlns:a16="http://schemas.microsoft.com/office/drawing/2014/main" id="{3A9A0B97-B5E9-49B6-A96F-E4C7433299BC}"/>
              </a:ext>
            </a:extLst>
          </p:cNvPr>
          <p:cNvSpPr txBox="1"/>
          <p:nvPr/>
        </p:nvSpPr>
        <p:spPr>
          <a:xfrm>
            <a:off x="20579178" y="17538266"/>
            <a:ext cx="88305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600" b="1" dirty="0">
                <a:solidFill>
                  <a:srgbClr val="6A758C"/>
                </a:solidFill>
                <a:latin typeface="Futura Bk BT" panose="020B0502020204020303" pitchFamily="34" charset="0"/>
              </a:rPr>
              <a:t>Final gene expression</a:t>
            </a:r>
          </a:p>
          <a:p>
            <a:pPr algn="just">
              <a:spcAft>
                <a:spcPts val="600"/>
              </a:spcAft>
            </a:pPr>
            <a:r>
              <a:rPr lang="en-US" sz="2400" b="1" u="sng" dirty="0">
                <a:latin typeface="Futura Bk BT" panose="020B0502020204020303" pitchFamily="34" charset="0"/>
                <a:sym typeface="Wingdings" panose="05000000000000000000" pitchFamily="2" charset="2"/>
              </a:rPr>
              <a:t>Stable genes</a:t>
            </a:r>
            <a:r>
              <a:rPr lang="en-US" sz="2400" b="1" dirty="0">
                <a:latin typeface="Futura Bk BT" panose="020B0502020204020303" pitchFamily="34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Futura Bk BT" panose="020B0502020204020303" pitchFamily="34" charset="0"/>
                <a:sym typeface="Wingdings" panose="05000000000000000000" pitchFamily="2" charset="2"/>
              </a:rPr>
              <a:t>(10%): </a:t>
            </a:r>
            <a:r>
              <a:rPr lang="en-US" sz="2400" b="1" dirty="0">
                <a:latin typeface="Futura Bk BT" panose="020B0502020204020303" pitchFamily="34" charset="0"/>
                <a:sym typeface="Wingdings" panose="05000000000000000000" pitchFamily="2" charset="2"/>
              </a:rPr>
              <a:t>sub-Poisson </a:t>
            </a:r>
            <a:r>
              <a:rPr lang="en-US" sz="2400" dirty="0">
                <a:latin typeface="Futura Bk BT" panose="020B0502020204020303" pitchFamily="34" charset="0"/>
                <a:sym typeface="Wingdings" panose="05000000000000000000" pitchFamily="2" charset="2"/>
              </a:rPr>
              <a:t>variance </a:t>
            </a:r>
          </a:p>
          <a:p>
            <a:pPr algn="just">
              <a:spcAft>
                <a:spcPts val="600"/>
              </a:spcAft>
            </a:pPr>
            <a:r>
              <a:rPr lang="en-US" sz="2400" b="1" u="sng" dirty="0">
                <a:latin typeface="Futura Bk BT" panose="020B0502020204020303" pitchFamily="34" charset="0"/>
                <a:sym typeface="Wingdings" panose="05000000000000000000" pitchFamily="2" charset="2"/>
              </a:rPr>
              <a:t>Regular genes</a:t>
            </a:r>
            <a:r>
              <a:rPr lang="en-US" sz="2400" dirty="0">
                <a:latin typeface="Futura Bk BT" panose="020B0502020204020303" pitchFamily="34" charset="0"/>
                <a:sym typeface="Wingdings" panose="05000000000000000000" pitchFamily="2" charset="2"/>
              </a:rPr>
              <a:t>: spatially-varying </a:t>
            </a:r>
            <a:r>
              <a:rPr lang="en-US" sz="2400" b="1" dirty="0">
                <a:latin typeface="Futura Bk BT" panose="020B0502020204020303" pitchFamily="34" charset="0"/>
                <a:sym typeface="Wingdings" panose="05000000000000000000" pitchFamily="2" charset="2"/>
              </a:rPr>
              <a:t>Negative Binomial </a:t>
            </a:r>
          </a:p>
        </p:txBody>
      </p:sp>
      <p:sp>
        <p:nvSpPr>
          <p:cNvPr id="152" name="CasellaDiTesto 151">
            <a:extLst>
              <a:ext uri="{FF2B5EF4-FFF2-40B4-BE49-F238E27FC236}">
                <a16:creationId xmlns:a16="http://schemas.microsoft.com/office/drawing/2014/main" id="{5482E27A-47D5-4ABC-9864-370601361451}"/>
              </a:ext>
            </a:extLst>
          </p:cNvPr>
          <p:cNvSpPr txBox="1"/>
          <p:nvPr/>
        </p:nvSpPr>
        <p:spPr>
          <a:xfrm>
            <a:off x="20345934" y="27211654"/>
            <a:ext cx="95141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600" b="1" dirty="0">
                <a:solidFill>
                  <a:srgbClr val="6A758C"/>
                </a:solidFill>
                <a:latin typeface="Futura Bk BT" panose="020B0502020204020303" pitchFamily="34" charset="0"/>
              </a:rPr>
              <a:t>Validation of the simulation</a:t>
            </a:r>
          </a:p>
          <a:p>
            <a:pPr algn="just">
              <a:spcAft>
                <a:spcPts val="600"/>
              </a:spcAft>
            </a:pPr>
            <a:r>
              <a:rPr lang="en-US" sz="2400" dirty="0">
                <a:latin typeface="Futura Bk BT" panose="020B0502020204020303" pitchFamily="34" charset="0"/>
              </a:rPr>
              <a:t>Two analysis framework were used to validate simulated data:</a:t>
            </a:r>
          </a:p>
          <a:p>
            <a:pPr algn="just">
              <a:spcAft>
                <a:spcPts val="600"/>
              </a:spcAft>
            </a:pPr>
            <a:r>
              <a:rPr lang="en-US" sz="2400" b="1" u="sng" dirty="0">
                <a:latin typeface="Futura Bk BT" panose="020B0502020204020303" pitchFamily="34" charset="0"/>
                <a:sym typeface="Wingdings" panose="05000000000000000000" pitchFamily="2" charset="2"/>
              </a:rPr>
              <a:t>-Seurat v5</a:t>
            </a:r>
            <a:r>
              <a:rPr lang="en-US" sz="2400" dirty="0">
                <a:latin typeface="Futura Bk BT" panose="020B0502020204020303" pitchFamily="34" charset="0"/>
                <a:sym typeface="Wingdings" panose="05000000000000000000" pitchFamily="2" charset="2"/>
              </a:rPr>
              <a:t> with SCT normalization  </a:t>
            </a:r>
            <a:r>
              <a:rPr lang="en-US" sz="2400" b="1" u="sng" dirty="0">
                <a:latin typeface="Futura Bk BT" panose="020B0502020204020303" pitchFamily="34" charset="0"/>
                <a:sym typeface="Wingdings" panose="05000000000000000000" pitchFamily="2" charset="2"/>
              </a:rPr>
              <a:t>-HDBSCAN</a:t>
            </a:r>
            <a:r>
              <a:rPr lang="en-US" sz="2400" b="1" dirty="0">
                <a:latin typeface="Futura Bk BT" panose="020B0502020204020303" pitchFamily="34" charset="0"/>
                <a:sym typeface="Wingdings" panose="05000000000000000000" pitchFamily="2" charset="2"/>
              </a:rPr>
              <a:t> </a:t>
            </a:r>
            <a:endParaRPr lang="en-US" sz="2400" dirty="0">
              <a:latin typeface="Futura Bk BT" panose="020B0502020204020303" pitchFamily="34" charset="0"/>
              <a:sym typeface="Wingdings" panose="05000000000000000000" pitchFamily="2" charset="2"/>
            </a:endParaRPr>
          </a:p>
        </p:txBody>
      </p:sp>
      <p:grpSp>
        <p:nvGrpSpPr>
          <p:cNvPr id="287" name="Gruppo 286">
            <a:extLst>
              <a:ext uri="{FF2B5EF4-FFF2-40B4-BE49-F238E27FC236}">
                <a16:creationId xmlns:a16="http://schemas.microsoft.com/office/drawing/2014/main" id="{5D65CCAE-28DC-4634-9A16-98BAA75D65B2}"/>
              </a:ext>
            </a:extLst>
          </p:cNvPr>
          <p:cNvGrpSpPr/>
          <p:nvPr/>
        </p:nvGrpSpPr>
        <p:grpSpPr>
          <a:xfrm>
            <a:off x="9394919" y="26606982"/>
            <a:ext cx="672604" cy="1459718"/>
            <a:chOff x="698413" y="25067761"/>
            <a:chExt cx="977004" cy="2120954"/>
          </a:xfrm>
        </p:grpSpPr>
        <p:sp>
          <p:nvSpPr>
            <p:cNvPr id="288" name="Triangolo isoscele 287">
              <a:extLst>
                <a:ext uri="{FF2B5EF4-FFF2-40B4-BE49-F238E27FC236}">
                  <a16:creationId xmlns:a16="http://schemas.microsoft.com/office/drawing/2014/main" id="{47BDAFF4-F1B4-4595-863E-EEE5B2917434}"/>
                </a:ext>
              </a:extLst>
            </p:cNvPr>
            <p:cNvSpPr/>
            <p:nvPr/>
          </p:nvSpPr>
          <p:spPr>
            <a:xfrm rot="5400000">
              <a:off x="127260" y="25640558"/>
              <a:ext cx="2120954" cy="975360"/>
            </a:xfrm>
            <a:prstGeom prst="triangle">
              <a:avLst/>
            </a:prstGeom>
            <a:gradFill flip="none" rotWithShape="1">
              <a:gsLst>
                <a:gs pos="0">
                  <a:srgbClr val="EBE7E4"/>
                </a:gs>
                <a:gs pos="73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71"/>
            </a:p>
          </p:txBody>
        </p:sp>
        <p:sp>
          <p:nvSpPr>
            <p:cNvPr id="289" name="CasellaDiTesto 288">
              <a:extLst>
                <a:ext uri="{FF2B5EF4-FFF2-40B4-BE49-F238E27FC236}">
                  <a16:creationId xmlns:a16="http://schemas.microsoft.com/office/drawing/2014/main" id="{EA4AE3A1-E24A-4515-89CC-C824D74A65E6}"/>
                </a:ext>
              </a:extLst>
            </p:cNvPr>
            <p:cNvSpPr txBox="1"/>
            <p:nvPr/>
          </p:nvSpPr>
          <p:spPr>
            <a:xfrm>
              <a:off x="698413" y="25617061"/>
              <a:ext cx="509312" cy="849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88"/>
                </a:spcAft>
              </a:pPr>
              <a:r>
                <a:rPr lang="it-IT" sz="3200" b="1" dirty="0">
                  <a:latin typeface="Futura Bk BT" panose="020B0502020204020303" pitchFamily="34" charset="0"/>
                </a:rPr>
                <a:t>2</a:t>
              </a:r>
              <a:endParaRPr lang="en-US" sz="3200" b="1" dirty="0">
                <a:latin typeface="Futura Bk BT" panose="020B0502020204020303" pitchFamily="34" charset="0"/>
              </a:endParaRPr>
            </a:p>
          </p:txBody>
        </p:sp>
      </p:grpSp>
      <p:pic>
        <p:nvPicPr>
          <p:cNvPr id="300" name="Immagine 299">
            <a:extLst>
              <a:ext uri="{FF2B5EF4-FFF2-40B4-BE49-F238E27FC236}">
                <a16:creationId xmlns:a16="http://schemas.microsoft.com/office/drawing/2014/main" id="{DCCF4B92-7D8F-49F6-79F3-3DF0AC7D35B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526" t="5461" b="9673"/>
          <a:stretch/>
        </p:blipFill>
        <p:spPr>
          <a:xfrm>
            <a:off x="24425235" y="14862253"/>
            <a:ext cx="2427434" cy="1397988"/>
          </a:xfrm>
          <a:prstGeom prst="rect">
            <a:avLst/>
          </a:prstGeom>
        </p:spPr>
      </p:pic>
      <p:sp>
        <p:nvSpPr>
          <p:cNvPr id="303" name="CasellaDiTesto 302">
            <a:extLst>
              <a:ext uri="{FF2B5EF4-FFF2-40B4-BE49-F238E27FC236}">
                <a16:creationId xmlns:a16="http://schemas.microsoft.com/office/drawing/2014/main" id="{5885B334-E599-9BFD-ABB7-9D2EDB1A6A36}"/>
              </a:ext>
            </a:extLst>
          </p:cNvPr>
          <p:cNvSpPr txBox="1"/>
          <p:nvPr/>
        </p:nvSpPr>
        <p:spPr>
          <a:xfrm rot="16200000">
            <a:off x="22573971" y="15220770"/>
            <a:ext cx="2879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>
                <a:latin typeface="Futura Bk BT" panose="020B0502020204020303"/>
              </a:rPr>
              <a:t>human granuloma</a:t>
            </a:r>
          </a:p>
          <a:p>
            <a:pPr algn="ctr"/>
            <a:r>
              <a:rPr lang="it-IT" sz="1400" i="1" dirty="0" err="1">
                <a:latin typeface="Futura Bk BT" panose="020B0502020204020303"/>
              </a:rPr>
              <a:t>greyscale</a:t>
            </a:r>
            <a:endParaRPr lang="en-US" sz="1400" i="1" dirty="0">
              <a:latin typeface="Futura Bk BT" panose="020B0502020204020303"/>
            </a:endParaRPr>
          </a:p>
        </p:txBody>
      </p:sp>
      <p:sp>
        <p:nvSpPr>
          <p:cNvPr id="306" name="CasellaDiTesto 305">
            <a:extLst>
              <a:ext uri="{FF2B5EF4-FFF2-40B4-BE49-F238E27FC236}">
                <a16:creationId xmlns:a16="http://schemas.microsoft.com/office/drawing/2014/main" id="{90DCB767-79D6-D6CF-1372-3DB9240057C4}"/>
              </a:ext>
            </a:extLst>
          </p:cNvPr>
          <p:cNvSpPr txBox="1"/>
          <p:nvPr/>
        </p:nvSpPr>
        <p:spPr>
          <a:xfrm rot="16200000">
            <a:off x="19685263" y="15201609"/>
            <a:ext cx="1881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>
                <a:latin typeface="Futura Bk BT" panose="020B0502020204020303"/>
              </a:rPr>
              <a:t>human granuloma</a:t>
            </a:r>
          </a:p>
          <a:p>
            <a:pPr algn="ctr"/>
            <a:r>
              <a:rPr lang="it-IT" sz="1400" i="1" dirty="0">
                <a:latin typeface="Futura Bk BT" panose="020B0502020204020303"/>
              </a:rPr>
              <a:t>H&amp;E</a:t>
            </a:r>
            <a:endParaRPr lang="en-US" sz="1400" i="1" dirty="0">
              <a:latin typeface="Futura Bk BT" panose="020B0502020204020303"/>
            </a:endParaRPr>
          </a:p>
        </p:txBody>
      </p:sp>
      <p:cxnSp>
        <p:nvCxnSpPr>
          <p:cNvPr id="308" name="Connettore 2 307">
            <a:extLst>
              <a:ext uri="{FF2B5EF4-FFF2-40B4-BE49-F238E27FC236}">
                <a16:creationId xmlns:a16="http://schemas.microsoft.com/office/drawing/2014/main" id="{C91BDA1B-5C4F-FF13-A112-D30AD8474319}"/>
              </a:ext>
            </a:extLst>
          </p:cNvPr>
          <p:cNvCxnSpPr>
            <a:cxnSpLocks/>
          </p:cNvCxnSpPr>
          <p:nvPr/>
        </p:nvCxnSpPr>
        <p:spPr>
          <a:xfrm>
            <a:off x="23293072" y="15502412"/>
            <a:ext cx="4283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6" name="Immagine 315">
            <a:extLst>
              <a:ext uri="{FF2B5EF4-FFF2-40B4-BE49-F238E27FC236}">
                <a16:creationId xmlns:a16="http://schemas.microsoft.com/office/drawing/2014/main" id="{BD031D66-2E14-B45B-EA16-04136D3CBC9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09"/>
          <a:stretch/>
        </p:blipFill>
        <p:spPr>
          <a:xfrm>
            <a:off x="27426371" y="14957599"/>
            <a:ext cx="1711501" cy="1263761"/>
          </a:xfrm>
          <a:prstGeom prst="rect">
            <a:avLst/>
          </a:prstGeom>
        </p:spPr>
      </p:pic>
      <p:cxnSp>
        <p:nvCxnSpPr>
          <p:cNvPr id="317" name="Connettore 2 316">
            <a:extLst>
              <a:ext uri="{FF2B5EF4-FFF2-40B4-BE49-F238E27FC236}">
                <a16:creationId xmlns:a16="http://schemas.microsoft.com/office/drawing/2014/main" id="{1323FF6F-0BCC-7BE8-BF90-F6DDBF64BA07}"/>
              </a:ext>
            </a:extLst>
          </p:cNvPr>
          <p:cNvCxnSpPr>
            <a:cxnSpLocks/>
          </p:cNvCxnSpPr>
          <p:nvPr/>
        </p:nvCxnSpPr>
        <p:spPr>
          <a:xfrm>
            <a:off x="26852669" y="15520830"/>
            <a:ext cx="4283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9BF52CD0-444A-D933-5A7C-28350B36F9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0948" y="14799035"/>
            <a:ext cx="2427434" cy="144544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169D082C-336B-1AE7-E4BC-8FE4426A7E8E}"/>
              </a:ext>
            </a:extLst>
          </p:cNvPr>
          <p:cNvGrpSpPr/>
          <p:nvPr/>
        </p:nvGrpSpPr>
        <p:grpSpPr>
          <a:xfrm>
            <a:off x="397926" y="10687967"/>
            <a:ext cx="19303465" cy="8278586"/>
            <a:chOff x="10474137" y="14105181"/>
            <a:chExt cx="8257010" cy="7465178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1194423D-ED39-3B7F-74A9-F43ECFDBEA43}"/>
                </a:ext>
              </a:extLst>
            </p:cNvPr>
            <p:cNvSpPr/>
            <p:nvPr/>
          </p:nvSpPr>
          <p:spPr>
            <a:xfrm>
              <a:off x="10474138" y="14277423"/>
              <a:ext cx="8257009" cy="7292936"/>
            </a:xfrm>
            <a:prstGeom prst="roundRect">
              <a:avLst>
                <a:gd name="adj" fmla="val 620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FB0CCA78-9038-324C-8D73-CCA7A03964CF}"/>
                </a:ext>
              </a:extLst>
            </p:cNvPr>
            <p:cNvSpPr/>
            <p:nvPr/>
          </p:nvSpPr>
          <p:spPr>
            <a:xfrm>
              <a:off x="10474137" y="14105181"/>
              <a:ext cx="8257009" cy="813560"/>
            </a:xfrm>
            <a:prstGeom prst="roundRect">
              <a:avLst>
                <a:gd name="adj" fmla="val 46361"/>
              </a:avLst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C3FA5D5E-AA3C-43F1-E7A1-6A84852A5CB2}"/>
                </a:ext>
              </a:extLst>
            </p:cNvPr>
            <p:cNvSpPr/>
            <p:nvPr/>
          </p:nvSpPr>
          <p:spPr>
            <a:xfrm>
              <a:off x="10474138" y="14448909"/>
              <a:ext cx="8257009" cy="646330"/>
            </a:xfrm>
            <a:prstGeom prst="rect">
              <a:avLst/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17DA509E-6FB0-4227-8817-416315406FEF}"/>
              </a:ext>
            </a:extLst>
          </p:cNvPr>
          <p:cNvSpPr txBox="1"/>
          <p:nvPr/>
        </p:nvSpPr>
        <p:spPr>
          <a:xfrm>
            <a:off x="1508263" y="10847669"/>
            <a:ext cx="6788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88"/>
              </a:spcAft>
            </a:pPr>
            <a:r>
              <a:rPr lang="it-IT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 1. </a:t>
            </a:r>
            <a:r>
              <a:rPr lang="it-IT" sz="3200" b="1" dirty="0" err="1">
                <a:solidFill>
                  <a:schemeClr val="bg1"/>
                </a:solidFill>
                <a:latin typeface="Futura Bk BT" panose="020B0502020204020303" pitchFamily="34" charset="0"/>
              </a:rPr>
              <a:t>Configurating</a:t>
            </a:r>
            <a:r>
              <a:rPr lang="it-IT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Futura Bk BT" panose="020B0502020204020303" pitchFamily="34" charset="0"/>
              </a:rPr>
              <a:t>parameters</a:t>
            </a:r>
            <a:endParaRPr lang="en-US" sz="3200" b="1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36" name="Immagine 35" descr="Immagine che contiene testo, rosa, schermata, Magenta&#10;&#10;Il contenuto generato dall'IA potrebbe non essere corretto.">
            <a:extLst>
              <a:ext uri="{FF2B5EF4-FFF2-40B4-BE49-F238E27FC236}">
                <a16:creationId xmlns:a16="http://schemas.microsoft.com/office/drawing/2014/main" id="{EE6F68AA-4ACA-E33E-9215-D8E3B066D8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614" y="28722704"/>
            <a:ext cx="6934200" cy="7797800"/>
          </a:xfrm>
          <a:prstGeom prst="rect">
            <a:avLst/>
          </a:prstGeom>
        </p:spPr>
      </p:pic>
      <p:sp>
        <p:nvSpPr>
          <p:cNvPr id="464" name="CasellaDiTesto 463">
            <a:extLst>
              <a:ext uri="{FF2B5EF4-FFF2-40B4-BE49-F238E27FC236}">
                <a16:creationId xmlns:a16="http://schemas.microsoft.com/office/drawing/2014/main" id="{B5097DB0-A061-3EBC-6308-9755E4395FFC}"/>
              </a:ext>
            </a:extLst>
          </p:cNvPr>
          <p:cNvSpPr txBox="1"/>
          <p:nvPr/>
        </p:nvSpPr>
        <p:spPr>
          <a:xfrm>
            <a:off x="515913" y="11967670"/>
            <a:ext cx="19110669" cy="7525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Number of marker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genes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per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</a:t>
            </a:r>
            <a:r>
              <a:rPr lang="it-IT" sz="23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Determines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how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many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genes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are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designated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distinguishing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features for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each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Marker gene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fold-change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Sets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expression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intensity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of marker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genes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influencing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how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distinct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each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appears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Overlap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among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types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Indicates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extent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to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which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marker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genes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are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shared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across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multiple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populations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increasing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difficulty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of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differentiating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them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Spatial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noise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: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Introduces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position-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dependent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variations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in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expression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simulating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natural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spatial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heterogeneity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found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in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tissues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Spatial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correlation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range: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Defines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distance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over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which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expression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levels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remain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correlated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modeling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continuous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gradients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across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tissue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Random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noise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(SD):</a:t>
            </a:r>
            <a:r>
              <a:rPr lang="it-IT" sz="2300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Adds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baseline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stochastic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fluctuations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reflecting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biological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and technical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variability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Dropout range:</a:t>
            </a:r>
            <a:r>
              <a:rPr lang="it-IT" sz="2300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Controls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probability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that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transcripts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are “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lost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” or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not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detected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which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mimics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technical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limitations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in gene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capture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Dispersion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range:</a:t>
            </a:r>
            <a:r>
              <a:rPr lang="it-IT" sz="2300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Determines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variance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structure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in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statistical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model (e.g., Negative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Binomial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),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capturing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overdispersion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frequently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observed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in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real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Cell-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specific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b="1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noise</a:t>
            </a:r>
            <a:r>
              <a:rPr lang="it-IT" sz="2300" b="1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(SD):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Introduces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additional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variability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on a per-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basis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creating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more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nuanced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and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realistic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expression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patterns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endParaRPr lang="it-IT" sz="23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Based on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listed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parameters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we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defined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three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difficulty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levels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(</a:t>
            </a:r>
            <a:r>
              <a:rPr lang="it-IT" sz="2300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Easy, Medium, Hard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). The idea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that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by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gradually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increasing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degree of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overlap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among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different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their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transcriptomic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signatures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become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more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similar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making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increasingly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difficult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to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distinguish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between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being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analyzed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 At the “Easy”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level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types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are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well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separated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and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have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highly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defined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markers,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whereas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at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the “Hard”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level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the strong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overlap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of markers and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increased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technical and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biological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variability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make the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cells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much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more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similar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to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each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it-IT" sz="23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other</a:t>
            </a:r>
            <a:r>
              <a:rPr lang="it-IT" sz="23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23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buFont typeface="Arial" panose="020B0604020202020204" pitchFamily="34" charset="0"/>
              <a:buChar char="•"/>
            </a:pPr>
            <a:endParaRPr lang="it-IT" sz="23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it-IT" sz="23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468" name="Immagine 467" descr="Immagine che contiene schermata, spazio&#10;&#10;Il contenuto generato dall'IA potrebbe non essere corretto.">
            <a:extLst>
              <a:ext uri="{FF2B5EF4-FFF2-40B4-BE49-F238E27FC236}">
                <a16:creationId xmlns:a16="http://schemas.microsoft.com/office/drawing/2014/main" id="{205F1511-FA22-3BD3-AEA7-D0AB13E059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2" t="26872" b="5605"/>
          <a:stretch/>
        </p:blipFill>
        <p:spPr>
          <a:xfrm>
            <a:off x="22953770" y="19704800"/>
            <a:ext cx="4168263" cy="3511527"/>
          </a:xfrm>
          <a:prstGeom prst="rect">
            <a:avLst/>
          </a:prstGeom>
        </p:spPr>
      </p:pic>
      <p:sp>
        <p:nvSpPr>
          <p:cNvPr id="469" name="CasellaDiTesto 468">
            <a:extLst>
              <a:ext uri="{FF2B5EF4-FFF2-40B4-BE49-F238E27FC236}">
                <a16:creationId xmlns:a16="http://schemas.microsoft.com/office/drawing/2014/main" id="{B63307BD-EA29-503C-2CA8-67CC53DC6A75}"/>
              </a:ext>
            </a:extLst>
          </p:cNvPr>
          <p:cNvSpPr txBox="1"/>
          <p:nvPr/>
        </p:nvSpPr>
        <p:spPr>
          <a:xfrm>
            <a:off x="22628299" y="23144518"/>
            <a:ext cx="1108932" cy="35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0" name="CasellaDiTesto 469">
            <a:extLst>
              <a:ext uri="{FF2B5EF4-FFF2-40B4-BE49-F238E27FC236}">
                <a16:creationId xmlns:a16="http://schemas.microsoft.com/office/drawing/2014/main" id="{44969D94-0429-66DF-4544-F4FC79F477C6}"/>
              </a:ext>
            </a:extLst>
          </p:cNvPr>
          <p:cNvSpPr txBox="1"/>
          <p:nvPr/>
        </p:nvSpPr>
        <p:spPr>
          <a:xfrm>
            <a:off x="23546511" y="23144518"/>
            <a:ext cx="1108932" cy="35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50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1" name="CasellaDiTesto 470">
            <a:extLst>
              <a:ext uri="{FF2B5EF4-FFF2-40B4-BE49-F238E27FC236}">
                <a16:creationId xmlns:a16="http://schemas.microsoft.com/office/drawing/2014/main" id="{C37D09ED-8144-CD81-4094-ABB406A833F8}"/>
              </a:ext>
            </a:extLst>
          </p:cNvPr>
          <p:cNvSpPr txBox="1"/>
          <p:nvPr/>
        </p:nvSpPr>
        <p:spPr>
          <a:xfrm>
            <a:off x="24478809" y="23144518"/>
            <a:ext cx="1108932" cy="35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100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2" name="CasellaDiTesto 471">
            <a:extLst>
              <a:ext uri="{FF2B5EF4-FFF2-40B4-BE49-F238E27FC236}">
                <a16:creationId xmlns:a16="http://schemas.microsoft.com/office/drawing/2014/main" id="{398AF16E-46CC-0A93-826F-0C25473DA11B}"/>
              </a:ext>
            </a:extLst>
          </p:cNvPr>
          <p:cNvSpPr txBox="1"/>
          <p:nvPr/>
        </p:nvSpPr>
        <p:spPr>
          <a:xfrm>
            <a:off x="25394271" y="23144518"/>
            <a:ext cx="1108932" cy="35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150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3" name="CasellaDiTesto 472">
            <a:extLst>
              <a:ext uri="{FF2B5EF4-FFF2-40B4-BE49-F238E27FC236}">
                <a16:creationId xmlns:a16="http://schemas.microsoft.com/office/drawing/2014/main" id="{AA2C1A7E-8965-9F9E-74F7-EC2E21F5CCFB}"/>
              </a:ext>
            </a:extLst>
          </p:cNvPr>
          <p:cNvSpPr txBox="1"/>
          <p:nvPr/>
        </p:nvSpPr>
        <p:spPr>
          <a:xfrm>
            <a:off x="26312477" y="23144518"/>
            <a:ext cx="1108932" cy="35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200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4" name="CasellaDiTesto 473">
            <a:extLst>
              <a:ext uri="{FF2B5EF4-FFF2-40B4-BE49-F238E27FC236}">
                <a16:creationId xmlns:a16="http://schemas.microsoft.com/office/drawing/2014/main" id="{3810F624-8694-A8A9-57C7-951C0066B5B4}"/>
              </a:ext>
            </a:extLst>
          </p:cNvPr>
          <p:cNvSpPr txBox="1"/>
          <p:nvPr/>
        </p:nvSpPr>
        <p:spPr>
          <a:xfrm>
            <a:off x="23400006" y="19306955"/>
            <a:ext cx="251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6A758C"/>
                </a:solidFill>
                <a:latin typeface="Futura Bk BT" panose="020B0502020204020303"/>
              </a:rPr>
              <a:t>human granuloma</a:t>
            </a:r>
            <a:endParaRPr lang="en-US" b="1" dirty="0">
              <a:solidFill>
                <a:srgbClr val="6A758C"/>
              </a:solidFill>
              <a:latin typeface="Futura Bk BT" panose="020B0502020204020303"/>
            </a:endParaRPr>
          </a:p>
        </p:txBody>
      </p:sp>
      <p:sp>
        <p:nvSpPr>
          <p:cNvPr id="475" name="CasellaDiTesto 474">
            <a:extLst>
              <a:ext uri="{FF2B5EF4-FFF2-40B4-BE49-F238E27FC236}">
                <a16:creationId xmlns:a16="http://schemas.microsoft.com/office/drawing/2014/main" id="{4AA6EF86-0EB3-AA3A-08E4-9C10DB86A128}"/>
              </a:ext>
            </a:extLst>
          </p:cNvPr>
          <p:cNvSpPr txBox="1"/>
          <p:nvPr/>
        </p:nvSpPr>
        <p:spPr>
          <a:xfrm>
            <a:off x="22285230" y="22854758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6" name="CasellaDiTesto 475">
            <a:extLst>
              <a:ext uri="{FF2B5EF4-FFF2-40B4-BE49-F238E27FC236}">
                <a16:creationId xmlns:a16="http://schemas.microsoft.com/office/drawing/2014/main" id="{9086D35B-CE5C-62CF-428A-F5F9494C65A8}"/>
              </a:ext>
            </a:extLst>
          </p:cNvPr>
          <p:cNvSpPr txBox="1"/>
          <p:nvPr/>
        </p:nvSpPr>
        <p:spPr>
          <a:xfrm>
            <a:off x="22056585" y="22058824"/>
            <a:ext cx="1108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250000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7" name="CasellaDiTesto 476">
            <a:extLst>
              <a:ext uri="{FF2B5EF4-FFF2-40B4-BE49-F238E27FC236}">
                <a16:creationId xmlns:a16="http://schemas.microsoft.com/office/drawing/2014/main" id="{8E7D80C8-B934-5E96-1995-9799B7D7FE43}"/>
              </a:ext>
            </a:extLst>
          </p:cNvPr>
          <p:cNvSpPr txBox="1"/>
          <p:nvPr/>
        </p:nvSpPr>
        <p:spPr>
          <a:xfrm>
            <a:off x="22014796" y="21249420"/>
            <a:ext cx="1108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500000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8" name="CasellaDiTesto 477">
            <a:extLst>
              <a:ext uri="{FF2B5EF4-FFF2-40B4-BE49-F238E27FC236}">
                <a16:creationId xmlns:a16="http://schemas.microsoft.com/office/drawing/2014/main" id="{07E4C82B-0E5D-1A8A-A3A9-97F9E74CBFBC}"/>
              </a:ext>
            </a:extLst>
          </p:cNvPr>
          <p:cNvSpPr txBox="1"/>
          <p:nvPr/>
        </p:nvSpPr>
        <p:spPr>
          <a:xfrm>
            <a:off x="22054694" y="20452707"/>
            <a:ext cx="1108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750000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79" name="CasellaDiTesto 478">
            <a:extLst>
              <a:ext uri="{FF2B5EF4-FFF2-40B4-BE49-F238E27FC236}">
                <a16:creationId xmlns:a16="http://schemas.microsoft.com/office/drawing/2014/main" id="{6ED5E865-AFFE-4D82-B667-07464BCBCC6B}"/>
              </a:ext>
            </a:extLst>
          </p:cNvPr>
          <p:cNvSpPr txBox="1"/>
          <p:nvPr/>
        </p:nvSpPr>
        <p:spPr>
          <a:xfrm>
            <a:off x="22008023" y="19677494"/>
            <a:ext cx="1108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1000000</a:t>
            </a:r>
            <a:endParaRPr lang="en-US" sz="1400" dirty="0">
              <a:latin typeface="Futura Bk BT" panose="020B0502020204020303"/>
            </a:endParaRPr>
          </a:p>
        </p:txBody>
      </p:sp>
      <p:pic>
        <p:nvPicPr>
          <p:cNvPr id="480" name="Immagine 479" descr="Immagine che contiene schermata, spazio&#10;&#10;Il contenuto generato dall'IA potrebbe non essere corretto.">
            <a:extLst>
              <a:ext uri="{FF2B5EF4-FFF2-40B4-BE49-F238E27FC236}">
                <a16:creationId xmlns:a16="http://schemas.microsoft.com/office/drawing/2014/main" id="{290A3A95-D13B-6E22-A478-E0FC6FCF9F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t="47565" r="50213" b="4975"/>
          <a:stretch/>
        </p:blipFill>
        <p:spPr>
          <a:xfrm>
            <a:off x="23156766" y="23887815"/>
            <a:ext cx="4109830" cy="2520429"/>
          </a:xfrm>
          <a:prstGeom prst="rect">
            <a:avLst/>
          </a:prstGeom>
        </p:spPr>
      </p:pic>
      <p:sp>
        <p:nvSpPr>
          <p:cNvPr id="481" name="CasellaDiTesto 480">
            <a:extLst>
              <a:ext uri="{FF2B5EF4-FFF2-40B4-BE49-F238E27FC236}">
                <a16:creationId xmlns:a16="http://schemas.microsoft.com/office/drawing/2014/main" id="{2501494D-238A-6A0A-3C21-0FB6F836FD72}"/>
              </a:ext>
            </a:extLst>
          </p:cNvPr>
          <p:cNvSpPr txBox="1"/>
          <p:nvPr/>
        </p:nvSpPr>
        <p:spPr>
          <a:xfrm>
            <a:off x="24000627" y="26530796"/>
            <a:ext cx="1891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latin typeface="Futura Bk BT" panose="020B0502020204020303"/>
              </a:rPr>
              <a:t>counts</a:t>
            </a:r>
            <a:endParaRPr lang="en-US" sz="1600" b="1" dirty="0">
              <a:latin typeface="Futura Bk BT" panose="020B0502020204020303"/>
            </a:endParaRPr>
          </a:p>
        </p:txBody>
      </p:sp>
      <p:sp>
        <p:nvSpPr>
          <p:cNvPr id="482" name="CasellaDiTesto 481">
            <a:extLst>
              <a:ext uri="{FF2B5EF4-FFF2-40B4-BE49-F238E27FC236}">
                <a16:creationId xmlns:a16="http://schemas.microsoft.com/office/drawing/2014/main" id="{D17C8B0A-7A02-B68D-9666-95C76E725CDE}"/>
              </a:ext>
            </a:extLst>
          </p:cNvPr>
          <p:cNvSpPr txBox="1"/>
          <p:nvPr/>
        </p:nvSpPr>
        <p:spPr>
          <a:xfrm>
            <a:off x="22813906" y="26316706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3" name="CasellaDiTesto 482">
            <a:extLst>
              <a:ext uri="{FF2B5EF4-FFF2-40B4-BE49-F238E27FC236}">
                <a16:creationId xmlns:a16="http://schemas.microsoft.com/office/drawing/2014/main" id="{BA5B4A2C-BECF-870A-6647-14463143563B}"/>
              </a:ext>
            </a:extLst>
          </p:cNvPr>
          <p:cNvSpPr txBox="1"/>
          <p:nvPr/>
        </p:nvSpPr>
        <p:spPr>
          <a:xfrm>
            <a:off x="23776706" y="26310564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50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4" name="CasellaDiTesto 483">
            <a:extLst>
              <a:ext uri="{FF2B5EF4-FFF2-40B4-BE49-F238E27FC236}">
                <a16:creationId xmlns:a16="http://schemas.microsoft.com/office/drawing/2014/main" id="{9F33B698-E64F-DE82-E307-39A8DD55AB21}"/>
              </a:ext>
            </a:extLst>
          </p:cNvPr>
          <p:cNvSpPr txBox="1"/>
          <p:nvPr/>
        </p:nvSpPr>
        <p:spPr>
          <a:xfrm>
            <a:off x="24684510" y="26316706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100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5" name="CasellaDiTesto 484">
            <a:extLst>
              <a:ext uri="{FF2B5EF4-FFF2-40B4-BE49-F238E27FC236}">
                <a16:creationId xmlns:a16="http://schemas.microsoft.com/office/drawing/2014/main" id="{6472DCEF-9339-76AD-1E56-A8C7360B20B7}"/>
              </a:ext>
            </a:extLst>
          </p:cNvPr>
          <p:cNvSpPr txBox="1"/>
          <p:nvPr/>
        </p:nvSpPr>
        <p:spPr>
          <a:xfrm>
            <a:off x="25647197" y="26316706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150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6" name="CasellaDiTesto 485">
            <a:extLst>
              <a:ext uri="{FF2B5EF4-FFF2-40B4-BE49-F238E27FC236}">
                <a16:creationId xmlns:a16="http://schemas.microsoft.com/office/drawing/2014/main" id="{1900CCA4-5925-3EC9-9AFB-965CE335DB6B}"/>
              </a:ext>
            </a:extLst>
          </p:cNvPr>
          <p:cNvSpPr txBox="1"/>
          <p:nvPr/>
        </p:nvSpPr>
        <p:spPr>
          <a:xfrm>
            <a:off x="26561282" y="26301766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200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7" name="CasellaDiTesto 486">
            <a:extLst>
              <a:ext uri="{FF2B5EF4-FFF2-40B4-BE49-F238E27FC236}">
                <a16:creationId xmlns:a16="http://schemas.microsoft.com/office/drawing/2014/main" id="{ECB7A3BA-66F0-AAD6-DA0B-F017E5D61639}"/>
              </a:ext>
            </a:extLst>
          </p:cNvPr>
          <p:cNvSpPr txBox="1"/>
          <p:nvPr/>
        </p:nvSpPr>
        <p:spPr>
          <a:xfrm>
            <a:off x="22534771" y="25957164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8" name="CasellaDiTesto 487">
            <a:extLst>
              <a:ext uri="{FF2B5EF4-FFF2-40B4-BE49-F238E27FC236}">
                <a16:creationId xmlns:a16="http://schemas.microsoft.com/office/drawing/2014/main" id="{BDDD4870-74BA-8873-CF8C-44FF946D7B4E}"/>
              </a:ext>
            </a:extLst>
          </p:cNvPr>
          <p:cNvSpPr txBox="1"/>
          <p:nvPr/>
        </p:nvSpPr>
        <p:spPr>
          <a:xfrm>
            <a:off x="22307924" y="24904496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25000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89" name="CasellaDiTesto 488">
            <a:extLst>
              <a:ext uri="{FF2B5EF4-FFF2-40B4-BE49-F238E27FC236}">
                <a16:creationId xmlns:a16="http://schemas.microsoft.com/office/drawing/2014/main" id="{CA86BAC1-CD50-E76D-B539-3A411BF42DDC}"/>
              </a:ext>
            </a:extLst>
          </p:cNvPr>
          <p:cNvSpPr txBox="1"/>
          <p:nvPr/>
        </p:nvSpPr>
        <p:spPr>
          <a:xfrm>
            <a:off x="22310995" y="23828537"/>
            <a:ext cx="1108932" cy="35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Futura Bk BT" panose="020B0502020204020303"/>
              </a:rPr>
              <a:t>50000</a:t>
            </a:r>
            <a:endParaRPr lang="en-US" sz="1400" dirty="0">
              <a:latin typeface="Futura Bk BT" panose="020B0502020204020303"/>
            </a:endParaRPr>
          </a:p>
        </p:txBody>
      </p:sp>
      <p:sp>
        <p:nvSpPr>
          <p:cNvPr id="490" name="CasellaDiTesto 489">
            <a:extLst>
              <a:ext uri="{FF2B5EF4-FFF2-40B4-BE49-F238E27FC236}">
                <a16:creationId xmlns:a16="http://schemas.microsoft.com/office/drawing/2014/main" id="{E5687F8D-A1B0-F6C2-CE03-DD396C5349B7}"/>
              </a:ext>
            </a:extLst>
          </p:cNvPr>
          <p:cNvSpPr txBox="1"/>
          <p:nvPr/>
        </p:nvSpPr>
        <p:spPr>
          <a:xfrm>
            <a:off x="24022152" y="23407605"/>
            <a:ext cx="1891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latin typeface="Futura Bk BT" panose="020B0502020204020303"/>
              </a:rPr>
              <a:t>counts</a:t>
            </a:r>
            <a:endParaRPr lang="en-US" sz="1600" b="1" dirty="0">
              <a:latin typeface="Futura Bk BT" panose="020B0502020204020303"/>
            </a:endParaRPr>
          </a:p>
        </p:txBody>
      </p:sp>
      <p:graphicFrame>
        <p:nvGraphicFramePr>
          <p:cNvPr id="491" name="Tabella 490">
            <a:extLst>
              <a:ext uri="{FF2B5EF4-FFF2-40B4-BE49-F238E27FC236}">
                <a16:creationId xmlns:a16="http://schemas.microsoft.com/office/drawing/2014/main" id="{AE79E3C4-5797-B66B-A7D8-55BC330B9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673777"/>
              </p:ext>
            </p:extLst>
          </p:nvPr>
        </p:nvGraphicFramePr>
        <p:xfrm>
          <a:off x="11005197" y="31357029"/>
          <a:ext cx="6729177" cy="2944221"/>
        </p:xfrm>
        <a:graphic>
          <a:graphicData uri="http://schemas.openxmlformats.org/drawingml/2006/table">
            <a:tbl>
              <a:tblPr/>
              <a:tblGrid>
                <a:gridCol w="2274062">
                  <a:extLst>
                    <a:ext uri="{9D8B030D-6E8A-4147-A177-3AD203B41FA5}">
                      <a16:colId xmlns:a16="http://schemas.microsoft.com/office/drawing/2014/main" val="1755111962"/>
                    </a:ext>
                  </a:extLst>
                </a:gridCol>
                <a:gridCol w="1246316">
                  <a:extLst>
                    <a:ext uri="{9D8B030D-6E8A-4147-A177-3AD203B41FA5}">
                      <a16:colId xmlns:a16="http://schemas.microsoft.com/office/drawing/2014/main" val="3659937739"/>
                    </a:ext>
                  </a:extLst>
                </a:gridCol>
                <a:gridCol w="1995036">
                  <a:extLst>
                    <a:ext uri="{9D8B030D-6E8A-4147-A177-3AD203B41FA5}">
                      <a16:colId xmlns:a16="http://schemas.microsoft.com/office/drawing/2014/main" val="3048688224"/>
                    </a:ext>
                  </a:extLst>
                </a:gridCol>
                <a:gridCol w="1213763">
                  <a:extLst>
                    <a:ext uri="{9D8B030D-6E8A-4147-A177-3AD203B41FA5}">
                      <a16:colId xmlns:a16="http://schemas.microsoft.com/office/drawing/2014/main" val="4209781752"/>
                    </a:ext>
                  </a:extLst>
                </a:gridCol>
              </a:tblGrid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FFFFFF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FFFFFF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ARI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AMI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FFFFFF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Level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147371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Seurat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easy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093931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HDBSCAN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easy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933471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Seurat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medium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84032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HDBSCAN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medium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646304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Seurat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hard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222505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HDBSCAN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0.0000117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0.0000137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utura Condensed Medium" panose="020B0602020204020303" pitchFamily="34" charset="-79"/>
                          <a:cs typeface="Futura Condensed Medium" panose="020B0602020204020303" pitchFamily="34" charset="-79"/>
                        </a:rPr>
                        <a:t>hard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647902"/>
                  </a:ext>
                </a:extLst>
              </a:tr>
            </a:tbl>
          </a:graphicData>
        </a:graphic>
      </p:graphicFrame>
      <p:sp>
        <p:nvSpPr>
          <p:cNvPr id="492" name="CasellaDiTesto 491">
            <a:extLst>
              <a:ext uri="{FF2B5EF4-FFF2-40B4-BE49-F238E27FC236}">
                <a16:creationId xmlns:a16="http://schemas.microsoft.com/office/drawing/2014/main" id="{C554C61E-109D-8555-8BED-1F3938129A82}"/>
              </a:ext>
            </a:extLst>
          </p:cNvPr>
          <p:cNvSpPr txBox="1"/>
          <p:nvPr/>
        </p:nvSpPr>
        <p:spPr>
          <a:xfrm>
            <a:off x="9470680" y="34778721"/>
            <a:ext cx="98868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429"/>
              </a:spcAft>
            </a:pPr>
            <a:r>
              <a:rPr lang="it-IT" sz="2800" dirty="0">
                <a:latin typeface="Futura Bk BT" panose="020B0502020204020303" pitchFamily="34" charset="0"/>
              </a:rPr>
              <a:t>In </a:t>
            </a:r>
            <a:r>
              <a:rPr lang="it-IT" sz="2800" dirty="0" err="1">
                <a:latin typeface="Futura Bk BT" panose="020B0502020204020303" pitchFamily="34" charset="0"/>
              </a:rPr>
              <a:t>our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experiments</a:t>
            </a:r>
            <a:r>
              <a:rPr lang="it-IT" sz="2800" dirty="0">
                <a:latin typeface="Futura Bk BT" panose="020B0502020204020303" pitchFamily="34" charset="0"/>
              </a:rPr>
              <a:t>, </a:t>
            </a:r>
            <a:r>
              <a:rPr lang="it-IT" sz="2800" dirty="0" err="1">
                <a:latin typeface="Futura Bk BT" panose="020B0502020204020303" pitchFamily="34" charset="0"/>
              </a:rPr>
              <a:t>as</a:t>
            </a:r>
            <a:r>
              <a:rPr lang="it-IT" sz="2800" dirty="0">
                <a:latin typeface="Futura Bk BT" panose="020B0502020204020303" pitchFamily="34" charset="0"/>
              </a:rPr>
              <a:t> dataset </a:t>
            </a:r>
            <a:r>
              <a:rPr lang="it-IT" sz="2800" dirty="0" err="1">
                <a:latin typeface="Futura Bk BT" panose="020B0502020204020303" pitchFamily="34" charset="0"/>
              </a:rPr>
              <a:t>complexity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increases</a:t>
            </a:r>
            <a:r>
              <a:rPr lang="it-IT" sz="2800" dirty="0">
                <a:latin typeface="Futura Bk BT" panose="020B0502020204020303" pitchFamily="34" charset="0"/>
              </a:rPr>
              <a:t> (easy → medium → hard), clustering </a:t>
            </a:r>
            <a:r>
              <a:rPr lang="it-IT" sz="2800" dirty="0" err="1">
                <a:latin typeface="Futura Bk BT" panose="020B0502020204020303" pitchFamily="34" charset="0"/>
              </a:rPr>
              <a:t>accuracy</a:t>
            </a:r>
            <a:r>
              <a:rPr lang="it-IT" sz="2800" dirty="0">
                <a:latin typeface="Futura Bk BT" panose="020B0502020204020303" pitchFamily="34" charset="0"/>
              </a:rPr>
              <a:t> (</a:t>
            </a:r>
            <a:r>
              <a:rPr lang="it-IT" sz="2800" dirty="0" err="1">
                <a:latin typeface="Futura Bk BT" panose="020B0502020204020303" pitchFamily="34" charset="0"/>
              </a:rPr>
              <a:t>assessed</a:t>
            </a:r>
            <a:r>
              <a:rPr lang="it-IT" sz="2800" dirty="0">
                <a:latin typeface="Futura Bk BT" panose="020B0502020204020303" pitchFamily="34" charset="0"/>
              </a:rPr>
              <a:t> by </a:t>
            </a:r>
            <a:r>
              <a:rPr lang="it-IT" sz="2800" dirty="0" err="1">
                <a:latin typeface="Futura Bk BT" panose="020B0502020204020303" pitchFamily="34" charset="0"/>
              </a:rPr>
              <a:t>both</a:t>
            </a:r>
            <a:r>
              <a:rPr lang="it-IT" sz="2800" dirty="0">
                <a:latin typeface="Futura Bk BT" panose="020B0502020204020303" pitchFamily="34" charset="0"/>
              </a:rPr>
              <a:t> Seurat and HDBSCAN) </a:t>
            </a:r>
            <a:r>
              <a:rPr lang="it-IT" sz="2800" dirty="0" err="1">
                <a:latin typeface="Futura Bk BT" panose="020B0502020204020303" pitchFamily="34" charset="0"/>
              </a:rPr>
              <a:t>declines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notably</a:t>
            </a:r>
            <a:r>
              <a:rPr lang="it-IT" sz="2800" dirty="0">
                <a:latin typeface="Futura Bk BT" panose="020B0502020204020303" pitchFamily="34" charset="0"/>
              </a:rPr>
              <a:t>. </a:t>
            </a:r>
            <a:r>
              <a:rPr lang="it-IT" sz="2800" dirty="0" err="1">
                <a:latin typeface="Futura Bk BT" panose="020B0502020204020303" pitchFamily="34" charset="0"/>
              </a:rPr>
              <a:t>Additionally</a:t>
            </a:r>
            <a:r>
              <a:rPr lang="it-IT" sz="2800" dirty="0">
                <a:latin typeface="Futura Bk BT" panose="020B0502020204020303" pitchFamily="34" charset="0"/>
              </a:rPr>
              <a:t>, </a:t>
            </a:r>
            <a:r>
              <a:rPr lang="it-IT" sz="2800" dirty="0" err="1">
                <a:latin typeface="Futura Bk BT" panose="020B0502020204020303" pitchFamily="34" charset="0"/>
              </a:rPr>
              <a:t>our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current</a:t>
            </a:r>
            <a:r>
              <a:rPr lang="it-IT" sz="2800" dirty="0">
                <a:latin typeface="Futura Bk BT" panose="020B0502020204020303" pitchFamily="34" charset="0"/>
              </a:rPr>
              <a:t> HDBSCAN pipeline </a:t>
            </a:r>
            <a:r>
              <a:rPr lang="it-IT" sz="2800" dirty="0" err="1">
                <a:latin typeface="Futura Bk BT" panose="020B0502020204020303" pitchFamily="34" charset="0"/>
              </a:rPr>
              <a:t>does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not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yet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surpass</a:t>
            </a:r>
            <a:r>
              <a:rPr lang="it-IT" sz="2800" dirty="0">
                <a:latin typeface="Futura Bk BT" panose="020B0502020204020303" pitchFamily="34" charset="0"/>
              </a:rPr>
              <a:t> Seurat, </a:t>
            </a:r>
            <a:r>
              <a:rPr lang="it-IT" sz="2800" dirty="0" err="1">
                <a:latin typeface="Futura Bk BT" panose="020B0502020204020303" pitchFamily="34" charset="0"/>
              </a:rPr>
              <a:t>although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further</a:t>
            </a:r>
            <a:r>
              <a:rPr lang="it-IT" sz="2800" dirty="0">
                <a:latin typeface="Futura Bk BT" panose="020B0502020204020303" pitchFamily="34" charset="0"/>
              </a:rPr>
              <a:t> </a:t>
            </a:r>
            <a:r>
              <a:rPr lang="it-IT" sz="2800" dirty="0" err="1">
                <a:latin typeface="Futura Bk BT" panose="020B0502020204020303" pitchFamily="34" charset="0"/>
              </a:rPr>
              <a:t>improvements</a:t>
            </a:r>
            <a:r>
              <a:rPr lang="it-IT" sz="2800" dirty="0">
                <a:latin typeface="Futura Bk BT" panose="020B0502020204020303" pitchFamily="34" charset="0"/>
              </a:rPr>
              <a:t> are in progress.</a:t>
            </a:r>
            <a:endParaRPr lang="en-US" sz="2800" dirty="0">
              <a:latin typeface="Futura Bk BT" panose="020B0502020204020303" pitchFamily="34" charset="0"/>
            </a:endParaRPr>
          </a:p>
        </p:txBody>
      </p:sp>
      <p:grpSp>
        <p:nvGrpSpPr>
          <p:cNvPr id="494" name="Gruppo 493">
            <a:extLst>
              <a:ext uri="{FF2B5EF4-FFF2-40B4-BE49-F238E27FC236}">
                <a16:creationId xmlns:a16="http://schemas.microsoft.com/office/drawing/2014/main" id="{DE57F966-578C-094B-E07D-5D81ECF9EEC3}"/>
              </a:ext>
            </a:extLst>
          </p:cNvPr>
          <p:cNvGrpSpPr/>
          <p:nvPr/>
        </p:nvGrpSpPr>
        <p:grpSpPr>
          <a:xfrm>
            <a:off x="11152086" y="19178485"/>
            <a:ext cx="7998690" cy="6309857"/>
            <a:chOff x="18588391" y="14017082"/>
            <a:chExt cx="8257010" cy="6931122"/>
          </a:xfrm>
        </p:grpSpPr>
        <p:sp>
          <p:nvSpPr>
            <p:cNvPr id="495" name="Rettangolo con angoli arrotondati 494">
              <a:extLst>
                <a:ext uri="{FF2B5EF4-FFF2-40B4-BE49-F238E27FC236}">
                  <a16:creationId xmlns:a16="http://schemas.microsoft.com/office/drawing/2014/main" id="{AE677F03-CFF1-D65C-FFA1-CC8CAB6B011F}"/>
                </a:ext>
              </a:extLst>
            </p:cNvPr>
            <p:cNvSpPr/>
            <p:nvPr/>
          </p:nvSpPr>
          <p:spPr>
            <a:xfrm>
              <a:off x="18588392" y="14185851"/>
              <a:ext cx="8257009" cy="6762353"/>
            </a:xfrm>
            <a:prstGeom prst="roundRect">
              <a:avLst>
                <a:gd name="adj" fmla="val 620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ttangolo con angoli arrotondati 495">
              <a:extLst>
                <a:ext uri="{FF2B5EF4-FFF2-40B4-BE49-F238E27FC236}">
                  <a16:creationId xmlns:a16="http://schemas.microsoft.com/office/drawing/2014/main" id="{7F406494-66BD-A739-8897-1816548E4220}"/>
                </a:ext>
              </a:extLst>
            </p:cNvPr>
            <p:cNvSpPr/>
            <p:nvPr/>
          </p:nvSpPr>
          <p:spPr>
            <a:xfrm>
              <a:off x="18588391" y="14017082"/>
              <a:ext cx="8257009" cy="810088"/>
            </a:xfrm>
            <a:prstGeom prst="roundRect">
              <a:avLst>
                <a:gd name="adj" fmla="val 46361"/>
              </a:avLst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ttangolo 496">
              <a:extLst>
                <a:ext uri="{FF2B5EF4-FFF2-40B4-BE49-F238E27FC236}">
                  <a16:creationId xmlns:a16="http://schemas.microsoft.com/office/drawing/2014/main" id="{C26DF9C1-4C45-0285-9D9F-06338FD97B42}"/>
                </a:ext>
              </a:extLst>
            </p:cNvPr>
            <p:cNvSpPr/>
            <p:nvPr/>
          </p:nvSpPr>
          <p:spPr>
            <a:xfrm>
              <a:off x="18588392" y="14357337"/>
              <a:ext cx="8257009" cy="583487"/>
            </a:xfrm>
            <a:prstGeom prst="rect">
              <a:avLst/>
            </a:prstGeom>
            <a:solidFill>
              <a:srgbClr val="6A75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8" name="Gruppo 497">
            <a:extLst>
              <a:ext uri="{FF2B5EF4-FFF2-40B4-BE49-F238E27FC236}">
                <a16:creationId xmlns:a16="http://schemas.microsoft.com/office/drawing/2014/main" id="{24E31950-7B71-5838-04A2-98471C613096}"/>
              </a:ext>
            </a:extLst>
          </p:cNvPr>
          <p:cNvGrpSpPr/>
          <p:nvPr/>
        </p:nvGrpSpPr>
        <p:grpSpPr>
          <a:xfrm>
            <a:off x="24275204" y="38299431"/>
            <a:ext cx="1808199" cy="2313652"/>
            <a:chOff x="23250218" y="38787351"/>
            <a:chExt cx="1808199" cy="2313652"/>
          </a:xfrm>
        </p:grpSpPr>
        <p:pic>
          <p:nvPicPr>
            <p:cNvPr id="499" name="Immagine 498">
              <a:extLst>
                <a:ext uri="{FF2B5EF4-FFF2-40B4-BE49-F238E27FC236}">
                  <a16:creationId xmlns:a16="http://schemas.microsoft.com/office/drawing/2014/main" id="{2ACC5B54-F9D2-0F7E-87DE-4274A1DE99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281"/>
            <a:stretch/>
          </p:blipFill>
          <p:spPr>
            <a:xfrm>
              <a:off x="23321663" y="40595550"/>
              <a:ext cx="1716239" cy="505453"/>
            </a:xfrm>
            <a:prstGeom prst="rect">
              <a:avLst/>
            </a:prstGeom>
          </p:spPr>
        </p:pic>
        <p:pic>
          <p:nvPicPr>
            <p:cNvPr id="500" name="Immagine 499">
              <a:extLst>
                <a:ext uri="{FF2B5EF4-FFF2-40B4-BE49-F238E27FC236}">
                  <a16:creationId xmlns:a16="http://schemas.microsoft.com/office/drawing/2014/main" id="{90D2E139-99A9-01CC-8523-0A5A59D6D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50218" y="38787351"/>
              <a:ext cx="1808199" cy="1808199"/>
            </a:xfrm>
            <a:prstGeom prst="rect">
              <a:avLst/>
            </a:prstGeom>
          </p:spPr>
        </p:pic>
      </p:grpSp>
      <p:grpSp>
        <p:nvGrpSpPr>
          <p:cNvPr id="501" name="Gruppo 500">
            <a:extLst>
              <a:ext uri="{FF2B5EF4-FFF2-40B4-BE49-F238E27FC236}">
                <a16:creationId xmlns:a16="http://schemas.microsoft.com/office/drawing/2014/main" id="{58E11AF0-DB11-3205-F350-BFFC58620EA6}"/>
              </a:ext>
            </a:extLst>
          </p:cNvPr>
          <p:cNvGrpSpPr/>
          <p:nvPr/>
        </p:nvGrpSpPr>
        <p:grpSpPr>
          <a:xfrm>
            <a:off x="27115748" y="38178984"/>
            <a:ext cx="1432833" cy="2425309"/>
            <a:chOff x="28628086" y="38649778"/>
            <a:chExt cx="1432833" cy="2425309"/>
          </a:xfrm>
        </p:grpSpPr>
        <p:pic>
          <p:nvPicPr>
            <p:cNvPr id="502" name="Immagine 501">
              <a:extLst>
                <a:ext uri="{FF2B5EF4-FFF2-40B4-BE49-F238E27FC236}">
                  <a16:creationId xmlns:a16="http://schemas.microsoft.com/office/drawing/2014/main" id="{7F03E88F-C8E8-40E2-4EBC-071F6CBF5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28086" y="38649778"/>
              <a:ext cx="1432833" cy="2425309"/>
            </a:xfrm>
            <a:prstGeom prst="rect">
              <a:avLst/>
            </a:prstGeom>
          </p:spPr>
        </p:pic>
        <p:sp>
          <p:nvSpPr>
            <p:cNvPr id="503" name="Rettangolo 502">
              <a:extLst>
                <a:ext uri="{FF2B5EF4-FFF2-40B4-BE49-F238E27FC236}">
                  <a16:creationId xmlns:a16="http://schemas.microsoft.com/office/drawing/2014/main" id="{2E4DB0D4-5E98-09C9-4873-D0ACCBCD4F71}"/>
                </a:ext>
              </a:extLst>
            </p:cNvPr>
            <p:cNvSpPr/>
            <p:nvPr/>
          </p:nvSpPr>
          <p:spPr>
            <a:xfrm>
              <a:off x="28703588" y="39114413"/>
              <a:ext cx="1276350" cy="1281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4" name="Immagine 503">
              <a:extLst>
                <a:ext uri="{FF2B5EF4-FFF2-40B4-BE49-F238E27FC236}">
                  <a16:creationId xmlns:a16="http://schemas.microsoft.com/office/drawing/2014/main" id="{2344F9FB-8428-5876-47F9-B82C89B43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27382" y="39114413"/>
              <a:ext cx="1230313" cy="1230313"/>
            </a:xfrm>
            <a:prstGeom prst="rect">
              <a:avLst/>
            </a:prstGeom>
          </p:spPr>
        </p:pic>
      </p:grpSp>
      <p:sp>
        <p:nvSpPr>
          <p:cNvPr id="508" name="CasellaDiTesto 507">
            <a:extLst>
              <a:ext uri="{FF2B5EF4-FFF2-40B4-BE49-F238E27FC236}">
                <a16:creationId xmlns:a16="http://schemas.microsoft.com/office/drawing/2014/main" id="{06E9F723-E7B2-BE7E-1DB5-542EA6DA35CB}"/>
              </a:ext>
            </a:extLst>
          </p:cNvPr>
          <p:cNvSpPr txBox="1"/>
          <p:nvPr/>
        </p:nvSpPr>
        <p:spPr>
          <a:xfrm>
            <a:off x="11393559" y="20418569"/>
            <a:ext cx="755422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600" b="1" dirty="0">
                <a:solidFill>
                  <a:srgbClr val="6A758C"/>
                </a:solidFill>
                <a:latin typeface="Futura Bk BT" panose="020B0502020204020303" pitchFamily="34" charset="0"/>
              </a:rPr>
              <a:t>Spatial </a:t>
            </a:r>
            <a:r>
              <a:rPr lang="it-IT" sz="2600" b="1" dirty="0" err="1">
                <a:solidFill>
                  <a:srgbClr val="6A758C"/>
                </a:solidFill>
                <a:latin typeface="Futura Bk BT" panose="020B0502020204020303" pitchFamily="34" charset="0"/>
              </a:rPr>
              <a:t>Correlation</a:t>
            </a:r>
            <a:r>
              <a:rPr lang="it-IT" sz="2600" b="1" dirty="0">
                <a:solidFill>
                  <a:srgbClr val="6A758C"/>
                </a:solidFill>
                <a:latin typeface="Futura Bk BT" panose="020B0502020204020303" pitchFamily="34" charset="0"/>
              </a:rPr>
              <a:t> Models</a:t>
            </a:r>
          </a:p>
          <a:p>
            <a:pPr algn="just">
              <a:buNone/>
            </a:pPr>
            <a:r>
              <a:rPr lang="it-IT" sz="2400" dirty="0">
                <a:latin typeface="Futura Bk BT" panose="020B0502020204020303" pitchFamily="34" charset="0"/>
              </a:rPr>
              <a:t>We </a:t>
            </a:r>
            <a:r>
              <a:rPr lang="it-IT" sz="2400" dirty="0" err="1">
                <a:latin typeface="Futura Bk BT" panose="020B0502020204020303" pitchFamily="34" charset="0"/>
              </a:rPr>
              <a:t>employ</a:t>
            </a:r>
            <a:r>
              <a:rPr lang="it-IT" sz="2400" dirty="0">
                <a:latin typeface="Futura Bk BT" panose="020B0502020204020303" pitchFamily="34" charset="0"/>
              </a:rPr>
              <a:t> a </a:t>
            </a:r>
            <a:r>
              <a:rPr lang="it-IT" sz="2400" dirty="0" err="1">
                <a:latin typeface="Futura Bk BT" panose="020B0502020204020303" pitchFamily="34" charset="0"/>
              </a:rPr>
              <a:t>Gaussian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Process</a:t>
            </a:r>
            <a:r>
              <a:rPr lang="it-IT" sz="2400" dirty="0">
                <a:latin typeface="Futura Bk BT" panose="020B0502020204020303" pitchFamily="34" charset="0"/>
              </a:rPr>
              <a:t> with an </a:t>
            </a:r>
            <a:r>
              <a:rPr lang="it-IT" sz="2400" dirty="0" err="1">
                <a:latin typeface="Futura Bk BT" panose="020B0502020204020303" pitchFamily="34" charset="0"/>
              </a:rPr>
              <a:t>exponential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covariance</a:t>
            </a:r>
            <a:r>
              <a:rPr lang="it-IT" sz="2400" dirty="0">
                <a:latin typeface="Futura Bk BT" panose="020B0502020204020303" pitchFamily="34" charset="0"/>
              </a:rPr>
              <a:t> to simulate </a:t>
            </a:r>
            <a:r>
              <a:rPr lang="it-IT" sz="2400" dirty="0" err="1">
                <a:latin typeface="Futura Bk BT" panose="020B0502020204020303" pitchFamily="34" charset="0"/>
              </a:rPr>
              <a:t>spatially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correlated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expression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within</a:t>
            </a:r>
            <a:r>
              <a:rPr lang="it-IT" sz="2400" dirty="0">
                <a:latin typeface="Futura Bk BT" panose="020B0502020204020303" pitchFamily="34" charset="0"/>
              </a:rPr>
              <a:t> a </a:t>
            </a:r>
            <a:r>
              <a:rPr lang="it-IT" sz="2400" dirty="0" err="1">
                <a:latin typeface="Futura Bk BT" panose="020B0502020204020303" pitchFamily="34" charset="0"/>
              </a:rPr>
              <a:t>chosen</a:t>
            </a:r>
            <a:r>
              <a:rPr lang="it-IT" sz="2400" dirty="0">
                <a:latin typeface="Futura Bk BT" panose="020B0502020204020303" pitchFamily="34" charset="0"/>
              </a:rPr>
              <a:t> range, </a:t>
            </a:r>
            <a:r>
              <a:rPr lang="it-IT" sz="2400" dirty="0" err="1">
                <a:latin typeface="Futura Bk BT" panose="020B0502020204020303" pitchFamily="34" charset="0"/>
              </a:rPr>
              <a:t>governed</a:t>
            </a:r>
            <a:r>
              <a:rPr lang="it-IT" sz="2400" dirty="0">
                <a:latin typeface="Futura Bk BT" panose="020B0502020204020303" pitchFamily="34" charset="0"/>
              </a:rPr>
              <a:t> by </a:t>
            </a:r>
            <a:r>
              <a:rPr lang="it-IT" sz="2400" dirty="0" err="1">
                <a:latin typeface="Futura Bk BT" panose="020B0502020204020303" pitchFamily="34" charset="0"/>
              </a:rPr>
              <a:t>parameters</a:t>
            </a:r>
            <a:r>
              <a:rPr lang="it-IT" sz="2400" dirty="0">
                <a:latin typeface="Futura Bk BT" panose="020B0502020204020303" pitchFamily="34" charset="0"/>
              </a:rPr>
              <a:t> for </a:t>
            </a:r>
            <a:r>
              <a:rPr lang="it-IT" sz="2400" dirty="0" err="1">
                <a:latin typeface="Futura Bk BT" panose="020B0502020204020303" pitchFamily="34" charset="0"/>
              </a:rPr>
              <a:t>correlation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length</a:t>
            </a:r>
            <a:r>
              <a:rPr lang="it-IT" sz="2400" dirty="0">
                <a:latin typeface="Futura Bk BT" panose="020B0502020204020303" pitchFamily="34" charset="0"/>
              </a:rPr>
              <a:t> (</a:t>
            </a:r>
            <a:r>
              <a:rPr lang="it-IT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ρ</a:t>
            </a:r>
            <a:r>
              <a:rPr lang="el-GR" sz="2400" dirty="0">
                <a:latin typeface="Futura Bk BT" panose="020B0502020204020303" pitchFamily="34" charset="0"/>
              </a:rPr>
              <a:t>) </a:t>
            </a:r>
            <a:r>
              <a:rPr lang="it-IT" sz="2400" dirty="0">
                <a:latin typeface="Futura Bk BT" panose="020B0502020204020303" pitchFamily="34" charset="0"/>
              </a:rPr>
              <a:t>and </a:t>
            </a:r>
            <a:r>
              <a:rPr lang="it-IT" sz="2400" dirty="0" err="1">
                <a:latin typeface="Futura Bk BT" panose="020B0502020204020303" pitchFamily="34" charset="0"/>
              </a:rPr>
              <a:t>variance</a:t>
            </a:r>
            <a:r>
              <a:rPr lang="it-IT" sz="2400" dirty="0">
                <a:latin typeface="Futura Bk BT" panose="020B0502020204020303" pitchFamily="34" charset="0"/>
              </a:rPr>
              <a:t> (</a:t>
            </a:r>
            <a:r>
              <a:rPr lang="el-GR" sz="2400" dirty="0"/>
              <a:t>σ</a:t>
            </a:r>
            <a:r>
              <a:rPr lang="el-GR" sz="2400" baseline="30000" dirty="0"/>
              <a:t>2</a:t>
            </a:r>
            <a:r>
              <a:rPr lang="el-GR" sz="2400" dirty="0">
                <a:latin typeface="Futura Bk BT" panose="020B0502020204020303" pitchFamily="34" charset="0"/>
              </a:rPr>
              <a:t>). </a:t>
            </a:r>
            <a:r>
              <a:rPr lang="it-IT" sz="2400" dirty="0" err="1">
                <a:latin typeface="Futura Bk BT" panose="020B0502020204020303" pitchFamily="34" charset="0"/>
              </a:rPr>
              <a:t>This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mimics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biological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processes</a:t>
            </a:r>
            <a:r>
              <a:rPr lang="it-IT" sz="2400" dirty="0">
                <a:latin typeface="Futura Bk BT" panose="020B0502020204020303" pitchFamily="34" charset="0"/>
              </a:rPr>
              <a:t> like </a:t>
            </a:r>
            <a:r>
              <a:rPr lang="it-IT" sz="2400" dirty="0" err="1">
                <a:latin typeface="Futura Bk BT" panose="020B0502020204020303" pitchFamily="34" charset="0"/>
              </a:rPr>
              <a:t>molecular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diffusion</a:t>
            </a:r>
            <a:r>
              <a:rPr lang="it-IT" sz="2400" dirty="0">
                <a:latin typeface="Futura Bk BT" panose="020B0502020204020303" pitchFamily="34" charset="0"/>
              </a:rPr>
              <a:t> and </a:t>
            </a:r>
            <a:r>
              <a:rPr lang="it-IT" sz="2400" dirty="0" err="1">
                <a:latin typeface="Futura Bk BT" panose="020B0502020204020303" pitchFamily="34" charset="0"/>
              </a:rPr>
              <a:t>gradual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tissue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gradients</a:t>
            </a:r>
            <a:r>
              <a:rPr lang="it-IT" sz="2400" dirty="0">
                <a:latin typeface="Futura Bk BT" panose="020B0502020204020303" pitchFamily="34" charset="0"/>
              </a:rPr>
              <a:t>. </a:t>
            </a:r>
            <a:r>
              <a:rPr lang="it-IT" sz="2400" dirty="0" err="1">
                <a:latin typeface="Futura Bk BT" panose="020B0502020204020303" pitchFamily="34" charset="0"/>
              </a:rPr>
              <a:t>Additionally</a:t>
            </a:r>
            <a:r>
              <a:rPr lang="it-IT" sz="2400" dirty="0">
                <a:latin typeface="Futura Bk BT" panose="020B0502020204020303" pitchFamily="34" charset="0"/>
              </a:rPr>
              <a:t>, </a:t>
            </a:r>
            <a:r>
              <a:rPr lang="it-IT" sz="2400" dirty="0" err="1">
                <a:latin typeface="Futura Bk BT" panose="020B0502020204020303" pitchFamily="34" charset="0"/>
              </a:rPr>
              <a:t>we</a:t>
            </a:r>
            <a:r>
              <a:rPr lang="it-IT" sz="2400" dirty="0">
                <a:latin typeface="Futura Bk BT" panose="020B0502020204020303" pitchFamily="34" charset="0"/>
              </a:rPr>
              <a:t> introduce </a:t>
            </a:r>
            <a:r>
              <a:rPr lang="it-IT" sz="2400" dirty="0" err="1">
                <a:latin typeface="Futura Bk BT" panose="020B0502020204020303" pitchFamily="34" charset="0"/>
              </a:rPr>
              <a:t>hybrid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cells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at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boundary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regions</a:t>
            </a:r>
            <a:r>
              <a:rPr lang="it-IT" sz="2400" dirty="0">
                <a:latin typeface="Futura Bk BT" panose="020B0502020204020303" pitchFamily="34" charset="0"/>
              </a:rPr>
              <a:t>, </a:t>
            </a:r>
            <a:r>
              <a:rPr lang="it-IT" sz="2400" dirty="0" err="1">
                <a:latin typeface="Futura Bk BT" panose="020B0502020204020303" pitchFamily="34" charset="0"/>
              </a:rPr>
              <a:t>blending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expression</a:t>
            </a:r>
            <a:r>
              <a:rPr lang="it-IT" sz="2400" dirty="0">
                <a:latin typeface="Futura Bk BT" panose="020B0502020204020303" pitchFamily="34" charset="0"/>
              </a:rPr>
              <a:t> from </a:t>
            </a:r>
            <a:r>
              <a:rPr lang="it-IT" sz="2400" dirty="0" err="1">
                <a:latin typeface="Futura Bk BT" panose="020B0502020204020303" pitchFamily="34" charset="0"/>
              </a:rPr>
              <a:t>neighboring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cell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types</a:t>
            </a:r>
            <a:r>
              <a:rPr lang="it-IT" sz="2400" dirty="0">
                <a:latin typeface="Futura Bk BT" panose="020B0502020204020303" pitchFamily="34" charset="0"/>
              </a:rPr>
              <a:t> to </a:t>
            </a:r>
            <a:r>
              <a:rPr lang="it-IT" sz="2400" dirty="0" err="1">
                <a:latin typeface="Futura Bk BT" panose="020B0502020204020303" pitchFamily="34" charset="0"/>
              </a:rPr>
              <a:t>capture</a:t>
            </a:r>
            <a:r>
              <a:rPr lang="it-IT" sz="2400" dirty="0">
                <a:latin typeface="Futura Bk BT" panose="020B0502020204020303" pitchFamily="34" charset="0"/>
              </a:rPr>
              <a:t> the intermediate </a:t>
            </a:r>
            <a:r>
              <a:rPr lang="it-IT" sz="2400" dirty="0" err="1">
                <a:latin typeface="Futura Bk BT" panose="020B0502020204020303" pitchFamily="34" charset="0"/>
              </a:rPr>
              <a:t>phenotypes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observed</a:t>
            </a:r>
            <a:r>
              <a:rPr lang="it-IT" sz="2400" dirty="0">
                <a:latin typeface="Futura Bk BT" panose="020B0502020204020303" pitchFamily="34" charset="0"/>
              </a:rPr>
              <a:t> in </a:t>
            </a:r>
            <a:r>
              <a:rPr lang="it-IT" sz="2400" dirty="0" err="1">
                <a:latin typeface="Futura Bk BT" panose="020B0502020204020303" pitchFamily="34" charset="0"/>
              </a:rPr>
              <a:t>real</a:t>
            </a:r>
            <a:r>
              <a:rPr lang="it-IT" sz="2400" dirty="0">
                <a:latin typeface="Futura Bk BT" panose="020B0502020204020303" pitchFamily="34" charset="0"/>
              </a:rPr>
              <a:t> </a:t>
            </a:r>
            <a:r>
              <a:rPr lang="it-IT" sz="2400" dirty="0" err="1">
                <a:latin typeface="Futura Bk BT" panose="020B0502020204020303" pitchFamily="34" charset="0"/>
              </a:rPr>
              <a:t>tissues</a:t>
            </a:r>
            <a:r>
              <a:rPr lang="it-IT" sz="2400" dirty="0">
                <a:latin typeface="Futura Bk BT" panose="020B0502020204020303" pitchFamily="34" charset="0"/>
              </a:rPr>
              <a:t>.</a:t>
            </a:r>
          </a:p>
        </p:txBody>
      </p:sp>
      <p:sp>
        <p:nvSpPr>
          <p:cNvPr id="510" name="CasellaDiTesto 509">
            <a:extLst>
              <a:ext uri="{FF2B5EF4-FFF2-40B4-BE49-F238E27FC236}">
                <a16:creationId xmlns:a16="http://schemas.microsoft.com/office/drawing/2014/main" id="{E90B7E8A-158F-FBD0-C6C2-30F03E84E9F7}"/>
              </a:ext>
            </a:extLst>
          </p:cNvPr>
          <p:cNvSpPr txBox="1"/>
          <p:nvPr/>
        </p:nvSpPr>
        <p:spPr>
          <a:xfrm>
            <a:off x="11322913" y="19357952"/>
            <a:ext cx="151318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4. Generating </a:t>
            </a:r>
            <a:r>
              <a:rPr lang="it-IT" sz="3200" b="1" dirty="0" err="1">
                <a:solidFill>
                  <a:schemeClr val="bg1"/>
                </a:solidFill>
                <a:latin typeface="Futura Bk BT" panose="020B0502020204020303" pitchFamily="34" charset="0"/>
              </a:rPr>
              <a:t>expression</a:t>
            </a:r>
            <a:r>
              <a:rPr lang="it-IT" sz="3200" b="1" dirty="0">
                <a:solidFill>
                  <a:schemeClr val="bg1"/>
                </a:solidFill>
                <a:latin typeface="Futura Bk BT" panose="020B0502020204020303" pitchFamily="34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Futura Bk BT" panose="020B0502020204020303" pitchFamily="34" charset="0"/>
              </a:rPr>
              <a:t>matrix</a:t>
            </a:r>
            <a:endParaRPr lang="it-IT" sz="3200" dirty="0"/>
          </a:p>
        </p:txBody>
      </p:sp>
      <p:pic>
        <p:nvPicPr>
          <p:cNvPr id="68" name="Elemento grafico 67">
            <a:extLst>
              <a:ext uri="{FF2B5EF4-FFF2-40B4-BE49-F238E27FC236}">
                <a16:creationId xmlns:a16="http://schemas.microsoft.com/office/drawing/2014/main" id="{F13CCDB6-171B-5BB8-7F3F-A47DDFC21FA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9078392" y="41395487"/>
            <a:ext cx="2400893" cy="125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66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e74a74-62fe-4f37-9bf3-26030632685c">
      <Terms xmlns="http://schemas.microsoft.com/office/infopath/2007/PartnerControls"/>
    </lcf76f155ced4ddcb4097134ff3c332f>
    <TaxCatchAll xmlns="f4cdcfb4-b651-4a6b-b34c-0bd8ee173c6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30CFA33DB31749824DBC223138499A" ma:contentTypeVersion="11" ma:contentTypeDescription="Creare un nuovo documento." ma:contentTypeScope="" ma:versionID="9811aa4e8d3ee9c13325f68f697e8054">
  <xsd:schema xmlns:xsd="http://www.w3.org/2001/XMLSchema" xmlns:xs="http://www.w3.org/2001/XMLSchema" xmlns:p="http://schemas.microsoft.com/office/2006/metadata/properties" xmlns:ns2="8be74a74-62fe-4f37-9bf3-26030632685c" xmlns:ns3="f4cdcfb4-b651-4a6b-b34c-0bd8ee173c6e" targetNamespace="http://schemas.microsoft.com/office/2006/metadata/properties" ma:root="true" ma:fieldsID="ce97bc726f07c6efa622f41997f84a92" ns2:_="" ns3:_="">
    <xsd:import namespace="8be74a74-62fe-4f37-9bf3-26030632685c"/>
    <xsd:import namespace="f4cdcfb4-b651-4a6b-b34c-0bd8ee173c6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e74a74-62fe-4f37-9bf3-26030632685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Tag immagine" ma:readOnly="false" ma:fieldId="{5cf76f15-5ced-4ddc-b409-7134ff3c332f}" ma:taxonomyMulti="true" ma:sspId="a51b1ebe-0035-4cd3-9313-8c7bd3a341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dcfb4-b651-4a6b-b34c-0bd8ee173c6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31742cf-7d69-4305-acdc-f89dac1f4ffd}" ma:internalName="TaxCatchAll" ma:showField="CatchAllData" ma:web="f4cdcfb4-b651-4a6b-b34c-0bd8ee173c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136483-234F-43FC-9EC5-DFE24D03ABC6}">
  <ds:schemaRefs>
    <ds:schemaRef ds:uri="http://schemas.openxmlformats.org/package/2006/metadata/core-properties"/>
    <ds:schemaRef ds:uri="http://schemas.microsoft.com/office/2006/documentManagement/types"/>
    <ds:schemaRef ds:uri="f4cdcfb4-b651-4a6b-b34c-0bd8ee173c6e"/>
    <ds:schemaRef ds:uri="8be74a74-62fe-4f37-9bf3-26030632685c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6F4ABB6-D4F0-4C33-9243-F0D74D521A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52DBB9-2144-4FD9-ADE7-2B0A435EE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e74a74-62fe-4f37-9bf3-26030632685c"/>
    <ds:schemaRef ds:uri="f4cdcfb4-b651-4a6b-b34c-0bd8ee173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21280</TotalTime>
  <Words>1072</Words>
  <Application>Microsoft Macintosh PowerPoint</Application>
  <PresentationFormat>Personalizzato</PresentationFormat>
  <Paragraphs>123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Futura Bk BT</vt:lpstr>
      <vt:lpstr>Futura Condensed Medium</vt:lpstr>
      <vt:lpstr>FUTURA MEDIUM</vt:lpstr>
      <vt:lpstr>FUTURA MEDIUM</vt:lpstr>
      <vt:lpstr>Tema di Office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pierangela palmerini</dc:creator>
  <cp:lastModifiedBy>Daniele Sabbatini</cp:lastModifiedBy>
  <cp:revision>181</cp:revision>
  <cp:lastPrinted>2024-05-10T08:17:13Z</cp:lastPrinted>
  <dcterms:created xsi:type="dcterms:W3CDTF">2024-04-24T16:42:42Z</dcterms:created>
  <dcterms:modified xsi:type="dcterms:W3CDTF">2025-04-05T08:45:29Z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0x0101000A30CFA33DB31749824DBC223138499A</vt:lpwstr>
  </property>
  <property fmtid="{D5CDD505-2E9C-101B-9397-08002B2CF9AE}" pid="3" name="MediaServiceImageTags">
    <vt:lpwstr/>
  </property>
</Properties>
</file>