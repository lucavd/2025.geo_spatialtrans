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Lst>
  <p:sldSz cx="30240288" cy="42840275"/>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758C"/>
    <a:srgbClr val="F5F4F5"/>
    <a:srgbClr val="FFFFFF"/>
    <a:srgbClr val="EDEDED"/>
    <a:srgbClr val="EBE7E4"/>
    <a:srgbClr val="C7C7C7"/>
    <a:srgbClr val="E0ECE2"/>
    <a:srgbClr val="C2DAC6"/>
    <a:srgbClr val="F5F3F1"/>
    <a:srgbClr val="B74A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B344D84-9AFB-497E-A393-DC336BA19D2E}" styleName="Stile medio 3 - Colore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Stile medio 3 - Colore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83" autoAdjust="0"/>
    <p:restoredTop sz="94660"/>
  </p:normalViewPr>
  <p:slideViewPr>
    <p:cSldViewPr snapToGrid="0">
      <p:cViewPr>
        <p:scale>
          <a:sx n="50" d="100"/>
          <a:sy n="50" d="100"/>
        </p:scale>
        <p:origin x="102" y="-82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2268022" y="7011132"/>
            <a:ext cx="25704245" cy="14914762"/>
          </a:xfrm>
        </p:spPr>
        <p:txBody>
          <a:bodyPr anchor="b"/>
          <a:lstStyle>
            <a:lvl1pPr algn="ctr">
              <a:defRPr sz="19843"/>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3780036" y="22501064"/>
            <a:ext cx="22680216" cy="10343147"/>
          </a:xfrm>
        </p:spPr>
        <p:txBody>
          <a:bodyPr/>
          <a:lstStyle>
            <a:lvl1pPr marL="0" indent="0" algn="ctr">
              <a:buNone/>
              <a:defRPr sz="7937"/>
            </a:lvl1pPr>
            <a:lvl2pPr marL="1512006" indent="0" algn="ctr">
              <a:buNone/>
              <a:defRPr sz="6614"/>
            </a:lvl2pPr>
            <a:lvl3pPr marL="3024012" indent="0" algn="ctr">
              <a:buNone/>
              <a:defRPr sz="5953"/>
            </a:lvl3pPr>
            <a:lvl4pPr marL="4536018" indent="0" algn="ctr">
              <a:buNone/>
              <a:defRPr sz="5291"/>
            </a:lvl4pPr>
            <a:lvl5pPr marL="6048024" indent="0" algn="ctr">
              <a:buNone/>
              <a:defRPr sz="5291"/>
            </a:lvl5pPr>
            <a:lvl6pPr marL="7560031" indent="0" algn="ctr">
              <a:buNone/>
              <a:defRPr sz="5291"/>
            </a:lvl6pPr>
            <a:lvl7pPr marL="9072037" indent="0" algn="ctr">
              <a:buNone/>
              <a:defRPr sz="5291"/>
            </a:lvl7pPr>
            <a:lvl8pPr marL="10584043" indent="0" algn="ctr">
              <a:buNone/>
              <a:defRPr sz="5291"/>
            </a:lvl8pPr>
            <a:lvl9pPr marL="12096049" indent="0" algn="ctr">
              <a:buNone/>
              <a:defRPr sz="5291"/>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58B29C85-961F-4FE4-A508-8359E21D0F10}" type="datetimeFigureOut">
              <a:rPr lang="en-US" smtClean="0"/>
              <a:t>26-May-25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2563665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8B29C85-961F-4FE4-A508-8359E21D0F10}" type="datetimeFigureOut">
              <a:rPr lang="en-US" smtClean="0"/>
              <a:t>26-May-25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4134396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2063272" y="10680331"/>
            <a:ext cx="26082248" cy="17820361"/>
          </a:xfrm>
        </p:spPr>
        <p:txBody>
          <a:bodyPr anchor="b"/>
          <a:lstStyle>
            <a:lvl1pPr>
              <a:defRPr sz="19843"/>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2063272" y="28669280"/>
            <a:ext cx="26082248" cy="9371307"/>
          </a:xfrm>
        </p:spPr>
        <p:txBody>
          <a:bodyPr/>
          <a:lstStyle>
            <a:lvl1pPr marL="0" indent="0">
              <a:buNone/>
              <a:defRPr sz="7937">
                <a:solidFill>
                  <a:schemeClr val="tx1"/>
                </a:solidFill>
              </a:defRPr>
            </a:lvl1pPr>
            <a:lvl2pPr marL="1512006" indent="0">
              <a:buNone/>
              <a:defRPr sz="6614">
                <a:solidFill>
                  <a:schemeClr val="tx1">
                    <a:tint val="75000"/>
                  </a:schemeClr>
                </a:solidFill>
              </a:defRPr>
            </a:lvl2pPr>
            <a:lvl3pPr marL="3024012" indent="0">
              <a:buNone/>
              <a:defRPr sz="5953">
                <a:solidFill>
                  <a:schemeClr val="tx1">
                    <a:tint val="75000"/>
                  </a:schemeClr>
                </a:solidFill>
              </a:defRPr>
            </a:lvl3pPr>
            <a:lvl4pPr marL="4536018" indent="0">
              <a:buNone/>
              <a:defRPr sz="5291">
                <a:solidFill>
                  <a:schemeClr val="tx1">
                    <a:tint val="75000"/>
                  </a:schemeClr>
                </a:solidFill>
              </a:defRPr>
            </a:lvl4pPr>
            <a:lvl5pPr marL="6048024" indent="0">
              <a:buNone/>
              <a:defRPr sz="5291">
                <a:solidFill>
                  <a:schemeClr val="tx1">
                    <a:tint val="75000"/>
                  </a:schemeClr>
                </a:solidFill>
              </a:defRPr>
            </a:lvl5pPr>
            <a:lvl6pPr marL="7560031" indent="0">
              <a:buNone/>
              <a:defRPr sz="5291">
                <a:solidFill>
                  <a:schemeClr val="tx1">
                    <a:tint val="75000"/>
                  </a:schemeClr>
                </a:solidFill>
              </a:defRPr>
            </a:lvl6pPr>
            <a:lvl7pPr marL="9072037" indent="0">
              <a:buNone/>
              <a:defRPr sz="5291">
                <a:solidFill>
                  <a:schemeClr val="tx1">
                    <a:tint val="75000"/>
                  </a:schemeClr>
                </a:solidFill>
              </a:defRPr>
            </a:lvl7pPr>
            <a:lvl8pPr marL="10584043" indent="0">
              <a:buNone/>
              <a:defRPr sz="5291">
                <a:solidFill>
                  <a:schemeClr val="tx1">
                    <a:tint val="75000"/>
                  </a:schemeClr>
                </a:solidFill>
              </a:defRPr>
            </a:lvl8pPr>
            <a:lvl9pPr marL="12096049" indent="0">
              <a:buNone/>
              <a:defRPr sz="5291">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58B29C85-961F-4FE4-A508-8359E21D0F10}" type="datetimeFigureOut">
              <a:rPr lang="en-US" smtClean="0"/>
              <a:t>26-May-25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3032714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2079020" y="11404240"/>
            <a:ext cx="12852122" cy="2718176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15309146" y="11404240"/>
            <a:ext cx="12852122" cy="27181761"/>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58B29C85-961F-4FE4-A508-8359E21D0F10}" type="datetimeFigureOut">
              <a:rPr lang="en-US" smtClean="0"/>
              <a:t>26-May-25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2537572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2082959" y="2280857"/>
            <a:ext cx="26082248" cy="8280473"/>
          </a:xfrm>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2082962" y="10501820"/>
            <a:ext cx="12793057" cy="5146780"/>
          </a:xfrm>
        </p:spPr>
        <p:txBody>
          <a:bodyPr anchor="b"/>
          <a:lstStyle>
            <a:lvl1pPr marL="0" indent="0">
              <a:buNone/>
              <a:defRPr sz="7937" b="1"/>
            </a:lvl1pPr>
            <a:lvl2pPr marL="1512006" indent="0">
              <a:buNone/>
              <a:defRPr sz="6614" b="1"/>
            </a:lvl2pPr>
            <a:lvl3pPr marL="3024012" indent="0">
              <a:buNone/>
              <a:defRPr sz="5953" b="1"/>
            </a:lvl3pPr>
            <a:lvl4pPr marL="4536018" indent="0">
              <a:buNone/>
              <a:defRPr sz="5291" b="1"/>
            </a:lvl4pPr>
            <a:lvl5pPr marL="6048024" indent="0">
              <a:buNone/>
              <a:defRPr sz="5291" b="1"/>
            </a:lvl5pPr>
            <a:lvl6pPr marL="7560031" indent="0">
              <a:buNone/>
              <a:defRPr sz="5291" b="1"/>
            </a:lvl6pPr>
            <a:lvl7pPr marL="9072037" indent="0">
              <a:buNone/>
              <a:defRPr sz="5291" b="1"/>
            </a:lvl7pPr>
            <a:lvl8pPr marL="10584043" indent="0">
              <a:buNone/>
              <a:defRPr sz="5291" b="1"/>
            </a:lvl8pPr>
            <a:lvl9pPr marL="12096049" indent="0">
              <a:buNone/>
              <a:defRPr sz="5291" b="1"/>
            </a:lvl9pPr>
          </a:lstStyle>
          <a:p>
            <a:pPr lvl="0"/>
            <a:r>
              <a:rPr lang="it-IT"/>
              <a:t>Fare clic per modificare gli stili del testo dello schema</a:t>
            </a:r>
          </a:p>
        </p:txBody>
      </p:sp>
      <p:sp>
        <p:nvSpPr>
          <p:cNvPr id="4" name="Content Placeholder 3"/>
          <p:cNvSpPr>
            <a:spLocks noGrp="1"/>
          </p:cNvSpPr>
          <p:nvPr>
            <p:ph sz="half" idx="2"/>
          </p:nvPr>
        </p:nvSpPr>
        <p:spPr>
          <a:xfrm>
            <a:off x="2082962" y="15648601"/>
            <a:ext cx="12793057" cy="2301673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15309148" y="10501820"/>
            <a:ext cx="12856061" cy="5146780"/>
          </a:xfrm>
        </p:spPr>
        <p:txBody>
          <a:bodyPr anchor="b"/>
          <a:lstStyle>
            <a:lvl1pPr marL="0" indent="0">
              <a:buNone/>
              <a:defRPr sz="7937" b="1"/>
            </a:lvl1pPr>
            <a:lvl2pPr marL="1512006" indent="0">
              <a:buNone/>
              <a:defRPr sz="6614" b="1"/>
            </a:lvl2pPr>
            <a:lvl3pPr marL="3024012" indent="0">
              <a:buNone/>
              <a:defRPr sz="5953" b="1"/>
            </a:lvl3pPr>
            <a:lvl4pPr marL="4536018" indent="0">
              <a:buNone/>
              <a:defRPr sz="5291" b="1"/>
            </a:lvl4pPr>
            <a:lvl5pPr marL="6048024" indent="0">
              <a:buNone/>
              <a:defRPr sz="5291" b="1"/>
            </a:lvl5pPr>
            <a:lvl6pPr marL="7560031" indent="0">
              <a:buNone/>
              <a:defRPr sz="5291" b="1"/>
            </a:lvl6pPr>
            <a:lvl7pPr marL="9072037" indent="0">
              <a:buNone/>
              <a:defRPr sz="5291" b="1"/>
            </a:lvl7pPr>
            <a:lvl8pPr marL="10584043" indent="0">
              <a:buNone/>
              <a:defRPr sz="5291" b="1"/>
            </a:lvl8pPr>
            <a:lvl9pPr marL="12096049" indent="0">
              <a:buNone/>
              <a:defRPr sz="5291" b="1"/>
            </a:lvl9pPr>
          </a:lstStyle>
          <a:p>
            <a:pPr lvl="0"/>
            <a:r>
              <a:rPr lang="it-IT"/>
              <a:t>Fare clic per modificare gli stili del testo dello schema</a:t>
            </a:r>
          </a:p>
        </p:txBody>
      </p:sp>
      <p:sp>
        <p:nvSpPr>
          <p:cNvPr id="6" name="Content Placeholder 5"/>
          <p:cNvSpPr>
            <a:spLocks noGrp="1"/>
          </p:cNvSpPr>
          <p:nvPr>
            <p:ph sz="quarter" idx="4"/>
          </p:nvPr>
        </p:nvSpPr>
        <p:spPr>
          <a:xfrm>
            <a:off x="15309148" y="15648601"/>
            <a:ext cx="12856061" cy="23016734"/>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58B29C85-961F-4FE4-A508-8359E21D0F10}" type="datetimeFigureOut">
              <a:rPr lang="en-US" smtClean="0"/>
              <a:t>26-May-25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870469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58B29C85-961F-4FE4-A508-8359E21D0F10}" type="datetimeFigureOut">
              <a:rPr lang="en-US" smtClean="0"/>
              <a:t>26-May-25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2060818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B29C85-961F-4FE4-A508-8359E21D0F10}" type="datetimeFigureOut">
              <a:rPr lang="en-US" smtClean="0"/>
              <a:t>26-May-25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845536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082959" y="2856018"/>
            <a:ext cx="9753280" cy="9996064"/>
          </a:xfrm>
        </p:spPr>
        <p:txBody>
          <a:bodyPr anchor="b"/>
          <a:lstStyle>
            <a:lvl1pPr>
              <a:defRPr sz="10583"/>
            </a:lvl1pPr>
          </a:lstStyle>
          <a:p>
            <a:r>
              <a:rPr lang="it-IT"/>
              <a:t>Fare clic per modificare lo stile del titolo dello schema</a:t>
            </a:r>
            <a:endParaRPr lang="en-US" dirty="0"/>
          </a:p>
        </p:txBody>
      </p:sp>
      <p:sp>
        <p:nvSpPr>
          <p:cNvPr id="3" name="Content Placeholder 2"/>
          <p:cNvSpPr>
            <a:spLocks noGrp="1"/>
          </p:cNvSpPr>
          <p:nvPr>
            <p:ph idx="1"/>
          </p:nvPr>
        </p:nvSpPr>
        <p:spPr>
          <a:xfrm>
            <a:off x="12856061" y="6168216"/>
            <a:ext cx="15309146" cy="30444362"/>
          </a:xfrm>
        </p:spPr>
        <p:txBody>
          <a:bodyPr/>
          <a:lstStyle>
            <a:lvl1pPr>
              <a:defRPr sz="10583"/>
            </a:lvl1pPr>
            <a:lvl2pPr>
              <a:defRPr sz="9260"/>
            </a:lvl2pPr>
            <a:lvl3pPr>
              <a:defRPr sz="7937"/>
            </a:lvl3pPr>
            <a:lvl4pPr>
              <a:defRPr sz="6614"/>
            </a:lvl4pPr>
            <a:lvl5pPr>
              <a:defRPr sz="6614"/>
            </a:lvl5pPr>
            <a:lvl6pPr>
              <a:defRPr sz="6614"/>
            </a:lvl6pPr>
            <a:lvl7pPr>
              <a:defRPr sz="6614"/>
            </a:lvl7pPr>
            <a:lvl8pPr>
              <a:defRPr sz="6614"/>
            </a:lvl8pPr>
            <a:lvl9pPr>
              <a:defRPr sz="6614"/>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2082959" y="12852082"/>
            <a:ext cx="9753280" cy="23810073"/>
          </a:xfrm>
        </p:spPr>
        <p:txBody>
          <a:bodyPr/>
          <a:lstStyle>
            <a:lvl1pPr marL="0" indent="0">
              <a:buNone/>
              <a:defRPr sz="5291"/>
            </a:lvl1pPr>
            <a:lvl2pPr marL="1512006" indent="0">
              <a:buNone/>
              <a:defRPr sz="4630"/>
            </a:lvl2pPr>
            <a:lvl3pPr marL="3024012" indent="0">
              <a:buNone/>
              <a:defRPr sz="3969"/>
            </a:lvl3pPr>
            <a:lvl4pPr marL="4536018" indent="0">
              <a:buNone/>
              <a:defRPr sz="3307"/>
            </a:lvl4pPr>
            <a:lvl5pPr marL="6048024" indent="0">
              <a:buNone/>
              <a:defRPr sz="3307"/>
            </a:lvl5pPr>
            <a:lvl6pPr marL="7560031" indent="0">
              <a:buNone/>
              <a:defRPr sz="3307"/>
            </a:lvl6pPr>
            <a:lvl7pPr marL="9072037" indent="0">
              <a:buNone/>
              <a:defRPr sz="3307"/>
            </a:lvl7pPr>
            <a:lvl8pPr marL="10584043" indent="0">
              <a:buNone/>
              <a:defRPr sz="3307"/>
            </a:lvl8pPr>
            <a:lvl9pPr marL="12096049" indent="0">
              <a:buNone/>
              <a:defRPr sz="3307"/>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8B29C85-961F-4FE4-A508-8359E21D0F10}" type="datetimeFigureOut">
              <a:rPr lang="en-US" smtClean="0"/>
              <a:t>26-May-25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2172349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082959" y="2856018"/>
            <a:ext cx="9753280" cy="9996064"/>
          </a:xfrm>
        </p:spPr>
        <p:txBody>
          <a:bodyPr anchor="b"/>
          <a:lstStyle>
            <a:lvl1pPr>
              <a:defRPr sz="10583"/>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2856061" y="6168216"/>
            <a:ext cx="15309146" cy="30444362"/>
          </a:xfrm>
        </p:spPr>
        <p:txBody>
          <a:bodyPr anchor="t"/>
          <a:lstStyle>
            <a:lvl1pPr marL="0" indent="0">
              <a:buNone/>
              <a:defRPr sz="10583"/>
            </a:lvl1pPr>
            <a:lvl2pPr marL="1512006" indent="0">
              <a:buNone/>
              <a:defRPr sz="9260"/>
            </a:lvl2pPr>
            <a:lvl3pPr marL="3024012" indent="0">
              <a:buNone/>
              <a:defRPr sz="7937"/>
            </a:lvl3pPr>
            <a:lvl4pPr marL="4536018" indent="0">
              <a:buNone/>
              <a:defRPr sz="6614"/>
            </a:lvl4pPr>
            <a:lvl5pPr marL="6048024" indent="0">
              <a:buNone/>
              <a:defRPr sz="6614"/>
            </a:lvl5pPr>
            <a:lvl6pPr marL="7560031" indent="0">
              <a:buNone/>
              <a:defRPr sz="6614"/>
            </a:lvl6pPr>
            <a:lvl7pPr marL="9072037" indent="0">
              <a:buNone/>
              <a:defRPr sz="6614"/>
            </a:lvl7pPr>
            <a:lvl8pPr marL="10584043" indent="0">
              <a:buNone/>
              <a:defRPr sz="6614"/>
            </a:lvl8pPr>
            <a:lvl9pPr marL="12096049" indent="0">
              <a:buNone/>
              <a:defRPr sz="6614"/>
            </a:lvl9pPr>
          </a:lstStyle>
          <a:p>
            <a:r>
              <a:rPr lang="it-IT"/>
              <a:t>Fare clic sull'icona per inserire un'immagine</a:t>
            </a:r>
            <a:endParaRPr lang="en-US" dirty="0"/>
          </a:p>
        </p:txBody>
      </p:sp>
      <p:sp>
        <p:nvSpPr>
          <p:cNvPr id="4" name="Text Placeholder 3"/>
          <p:cNvSpPr>
            <a:spLocks noGrp="1"/>
          </p:cNvSpPr>
          <p:nvPr>
            <p:ph type="body" sz="half" idx="2"/>
          </p:nvPr>
        </p:nvSpPr>
        <p:spPr>
          <a:xfrm>
            <a:off x="2082959" y="12852082"/>
            <a:ext cx="9753280" cy="23810073"/>
          </a:xfrm>
        </p:spPr>
        <p:txBody>
          <a:bodyPr/>
          <a:lstStyle>
            <a:lvl1pPr marL="0" indent="0">
              <a:buNone/>
              <a:defRPr sz="5291"/>
            </a:lvl1pPr>
            <a:lvl2pPr marL="1512006" indent="0">
              <a:buNone/>
              <a:defRPr sz="4630"/>
            </a:lvl2pPr>
            <a:lvl3pPr marL="3024012" indent="0">
              <a:buNone/>
              <a:defRPr sz="3969"/>
            </a:lvl3pPr>
            <a:lvl4pPr marL="4536018" indent="0">
              <a:buNone/>
              <a:defRPr sz="3307"/>
            </a:lvl4pPr>
            <a:lvl5pPr marL="6048024" indent="0">
              <a:buNone/>
              <a:defRPr sz="3307"/>
            </a:lvl5pPr>
            <a:lvl6pPr marL="7560031" indent="0">
              <a:buNone/>
              <a:defRPr sz="3307"/>
            </a:lvl6pPr>
            <a:lvl7pPr marL="9072037" indent="0">
              <a:buNone/>
              <a:defRPr sz="3307"/>
            </a:lvl7pPr>
            <a:lvl8pPr marL="10584043" indent="0">
              <a:buNone/>
              <a:defRPr sz="3307"/>
            </a:lvl8pPr>
            <a:lvl9pPr marL="12096049" indent="0">
              <a:buNone/>
              <a:defRPr sz="3307"/>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58B29C85-961F-4FE4-A508-8359E21D0F10}" type="datetimeFigureOut">
              <a:rPr lang="en-US" smtClean="0"/>
              <a:t>26-May-25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2168275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8B29C85-961F-4FE4-A508-8359E21D0F10}" type="datetimeFigureOut">
              <a:rPr lang="en-US" smtClean="0"/>
              <a:t>26-May-25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2005172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40708" y="2280848"/>
            <a:ext cx="6520562" cy="36305153"/>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2079021" y="2280848"/>
            <a:ext cx="19183683" cy="3630515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8B29C85-961F-4FE4-A508-8359E21D0F10}" type="datetimeFigureOut">
              <a:rPr lang="en-US" smtClean="0"/>
              <a:t>26-May-25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FBFB88-4EAB-4403-B38F-EF5C430766B8}" type="slidenum">
              <a:rPr lang="en-US" smtClean="0"/>
              <a:t>‹#›</a:t>
            </a:fld>
            <a:endParaRPr lang="en-US"/>
          </a:p>
        </p:txBody>
      </p:sp>
    </p:spTree>
    <p:extLst>
      <p:ext uri="{BB962C8B-B14F-4D97-AF65-F5344CB8AC3E}">
        <p14:creationId xmlns:p14="http://schemas.microsoft.com/office/powerpoint/2010/main" val="262489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9020" y="2280857"/>
            <a:ext cx="26082248" cy="8280473"/>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2079020" y="11404240"/>
            <a:ext cx="26082248" cy="2718176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2079020" y="39706598"/>
            <a:ext cx="6804065" cy="2280848"/>
          </a:xfrm>
          <a:prstGeom prst="rect">
            <a:avLst/>
          </a:prstGeom>
        </p:spPr>
        <p:txBody>
          <a:bodyPr vert="horz" lIns="91440" tIns="45720" rIns="91440" bIns="45720" rtlCol="0" anchor="ctr"/>
          <a:lstStyle>
            <a:lvl1pPr algn="l">
              <a:defRPr sz="3969">
                <a:solidFill>
                  <a:schemeClr val="tx1">
                    <a:tint val="75000"/>
                  </a:schemeClr>
                </a:solidFill>
              </a:defRPr>
            </a:lvl1pPr>
          </a:lstStyle>
          <a:p>
            <a:fld id="{58B29C85-961F-4FE4-A508-8359E21D0F10}" type="datetimeFigureOut">
              <a:rPr lang="en-US" smtClean="0"/>
              <a:t>26-May-25</a:t>
            </a:fld>
            <a:endParaRPr lang="en-US"/>
          </a:p>
        </p:txBody>
      </p:sp>
      <p:sp>
        <p:nvSpPr>
          <p:cNvPr id="5" name="Footer Placeholder 4"/>
          <p:cNvSpPr>
            <a:spLocks noGrp="1"/>
          </p:cNvSpPr>
          <p:nvPr>
            <p:ph type="ftr" sz="quarter" idx="3"/>
          </p:nvPr>
        </p:nvSpPr>
        <p:spPr>
          <a:xfrm>
            <a:off x="10017096" y="39706598"/>
            <a:ext cx="10206097" cy="2280848"/>
          </a:xfrm>
          <a:prstGeom prst="rect">
            <a:avLst/>
          </a:prstGeom>
        </p:spPr>
        <p:txBody>
          <a:bodyPr vert="horz" lIns="91440" tIns="45720" rIns="91440" bIns="45720" rtlCol="0" anchor="ctr"/>
          <a:lstStyle>
            <a:lvl1pPr algn="ctr">
              <a:defRPr sz="3969">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357203" y="39706598"/>
            <a:ext cx="6804065" cy="2280848"/>
          </a:xfrm>
          <a:prstGeom prst="rect">
            <a:avLst/>
          </a:prstGeom>
        </p:spPr>
        <p:txBody>
          <a:bodyPr vert="horz" lIns="91440" tIns="45720" rIns="91440" bIns="45720" rtlCol="0" anchor="ctr"/>
          <a:lstStyle>
            <a:lvl1pPr algn="r">
              <a:defRPr sz="3969">
                <a:solidFill>
                  <a:schemeClr val="tx1">
                    <a:tint val="75000"/>
                  </a:schemeClr>
                </a:solidFill>
              </a:defRPr>
            </a:lvl1pPr>
          </a:lstStyle>
          <a:p>
            <a:fld id="{DDFBFB88-4EAB-4403-B38F-EF5C430766B8}" type="slidenum">
              <a:rPr lang="en-US" smtClean="0"/>
              <a:t>‹#›</a:t>
            </a:fld>
            <a:endParaRPr lang="en-US"/>
          </a:p>
        </p:txBody>
      </p:sp>
    </p:spTree>
    <p:extLst>
      <p:ext uri="{BB962C8B-B14F-4D97-AF65-F5344CB8AC3E}">
        <p14:creationId xmlns:p14="http://schemas.microsoft.com/office/powerpoint/2010/main" val="40152163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4012" rtl="0" eaLnBrk="1" latinLnBrk="0" hangingPunct="1">
        <a:lnSpc>
          <a:spcPct val="90000"/>
        </a:lnSpc>
        <a:spcBef>
          <a:spcPct val="0"/>
        </a:spcBef>
        <a:buNone/>
        <a:defRPr sz="14551" kern="1200">
          <a:solidFill>
            <a:schemeClr val="tx1"/>
          </a:solidFill>
          <a:latin typeface="+mj-lt"/>
          <a:ea typeface="+mj-ea"/>
          <a:cs typeface="+mj-cs"/>
        </a:defRPr>
      </a:lvl1pPr>
    </p:titleStyle>
    <p:bodyStyle>
      <a:lvl1pPr marL="756003" indent="-756003" algn="l" defTabSz="3024012" rtl="0" eaLnBrk="1" latinLnBrk="0" hangingPunct="1">
        <a:lnSpc>
          <a:spcPct val="90000"/>
        </a:lnSpc>
        <a:spcBef>
          <a:spcPts val="3307"/>
        </a:spcBef>
        <a:buFont typeface="Arial" panose="020B0604020202020204" pitchFamily="34" charset="0"/>
        <a:buChar char="•"/>
        <a:defRPr sz="9260" kern="1200">
          <a:solidFill>
            <a:schemeClr val="tx1"/>
          </a:solidFill>
          <a:latin typeface="+mn-lt"/>
          <a:ea typeface="+mn-ea"/>
          <a:cs typeface="+mn-cs"/>
        </a:defRPr>
      </a:lvl1pPr>
      <a:lvl2pPr marL="2268009" indent="-756003" algn="l" defTabSz="3024012" rtl="0" eaLnBrk="1" latinLnBrk="0" hangingPunct="1">
        <a:lnSpc>
          <a:spcPct val="90000"/>
        </a:lnSpc>
        <a:spcBef>
          <a:spcPts val="1654"/>
        </a:spcBef>
        <a:buFont typeface="Arial" panose="020B0604020202020204" pitchFamily="34" charset="0"/>
        <a:buChar char="•"/>
        <a:defRPr sz="7937" kern="1200">
          <a:solidFill>
            <a:schemeClr val="tx1"/>
          </a:solidFill>
          <a:latin typeface="+mn-lt"/>
          <a:ea typeface="+mn-ea"/>
          <a:cs typeface="+mn-cs"/>
        </a:defRPr>
      </a:lvl2pPr>
      <a:lvl3pPr marL="3780015" indent="-756003" algn="l" defTabSz="3024012" rtl="0" eaLnBrk="1" latinLnBrk="0" hangingPunct="1">
        <a:lnSpc>
          <a:spcPct val="90000"/>
        </a:lnSpc>
        <a:spcBef>
          <a:spcPts val="1654"/>
        </a:spcBef>
        <a:buFont typeface="Arial" panose="020B0604020202020204" pitchFamily="34" charset="0"/>
        <a:buChar char="•"/>
        <a:defRPr sz="6614" kern="1200">
          <a:solidFill>
            <a:schemeClr val="tx1"/>
          </a:solidFill>
          <a:latin typeface="+mn-lt"/>
          <a:ea typeface="+mn-ea"/>
          <a:cs typeface="+mn-cs"/>
        </a:defRPr>
      </a:lvl3pPr>
      <a:lvl4pPr marL="5292021"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4pPr>
      <a:lvl5pPr marL="6804028"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5pPr>
      <a:lvl6pPr marL="8316034"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6pPr>
      <a:lvl7pPr marL="9828040"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7pPr>
      <a:lvl8pPr marL="11340046"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8pPr>
      <a:lvl9pPr marL="12852052" indent="-756003" algn="l" defTabSz="3024012" rtl="0" eaLnBrk="1" latinLnBrk="0" hangingPunct="1">
        <a:lnSpc>
          <a:spcPct val="90000"/>
        </a:lnSpc>
        <a:spcBef>
          <a:spcPts val="1654"/>
        </a:spcBef>
        <a:buFont typeface="Arial" panose="020B0604020202020204" pitchFamily="34" charset="0"/>
        <a:buChar char="•"/>
        <a:defRPr sz="5953" kern="1200">
          <a:solidFill>
            <a:schemeClr val="tx1"/>
          </a:solidFill>
          <a:latin typeface="+mn-lt"/>
          <a:ea typeface="+mn-ea"/>
          <a:cs typeface="+mn-cs"/>
        </a:defRPr>
      </a:lvl9pPr>
    </p:bodyStyle>
    <p:otherStyle>
      <a:defPPr>
        <a:defRPr lang="en-US"/>
      </a:defPPr>
      <a:lvl1pPr marL="0" algn="l" defTabSz="3024012" rtl="0" eaLnBrk="1" latinLnBrk="0" hangingPunct="1">
        <a:defRPr sz="5953" kern="1200">
          <a:solidFill>
            <a:schemeClr val="tx1"/>
          </a:solidFill>
          <a:latin typeface="+mn-lt"/>
          <a:ea typeface="+mn-ea"/>
          <a:cs typeface="+mn-cs"/>
        </a:defRPr>
      </a:lvl1pPr>
      <a:lvl2pPr marL="1512006" algn="l" defTabSz="3024012" rtl="0" eaLnBrk="1" latinLnBrk="0" hangingPunct="1">
        <a:defRPr sz="5953" kern="1200">
          <a:solidFill>
            <a:schemeClr val="tx1"/>
          </a:solidFill>
          <a:latin typeface="+mn-lt"/>
          <a:ea typeface="+mn-ea"/>
          <a:cs typeface="+mn-cs"/>
        </a:defRPr>
      </a:lvl2pPr>
      <a:lvl3pPr marL="3024012" algn="l" defTabSz="3024012" rtl="0" eaLnBrk="1" latinLnBrk="0" hangingPunct="1">
        <a:defRPr sz="5953" kern="1200">
          <a:solidFill>
            <a:schemeClr val="tx1"/>
          </a:solidFill>
          <a:latin typeface="+mn-lt"/>
          <a:ea typeface="+mn-ea"/>
          <a:cs typeface="+mn-cs"/>
        </a:defRPr>
      </a:lvl3pPr>
      <a:lvl4pPr marL="4536018" algn="l" defTabSz="3024012" rtl="0" eaLnBrk="1" latinLnBrk="0" hangingPunct="1">
        <a:defRPr sz="5953" kern="1200">
          <a:solidFill>
            <a:schemeClr val="tx1"/>
          </a:solidFill>
          <a:latin typeface="+mn-lt"/>
          <a:ea typeface="+mn-ea"/>
          <a:cs typeface="+mn-cs"/>
        </a:defRPr>
      </a:lvl4pPr>
      <a:lvl5pPr marL="6048024" algn="l" defTabSz="3024012" rtl="0" eaLnBrk="1" latinLnBrk="0" hangingPunct="1">
        <a:defRPr sz="5953" kern="1200">
          <a:solidFill>
            <a:schemeClr val="tx1"/>
          </a:solidFill>
          <a:latin typeface="+mn-lt"/>
          <a:ea typeface="+mn-ea"/>
          <a:cs typeface="+mn-cs"/>
        </a:defRPr>
      </a:lvl5pPr>
      <a:lvl6pPr marL="7560031" algn="l" defTabSz="3024012" rtl="0" eaLnBrk="1" latinLnBrk="0" hangingPunct="1">
        <a:defRPr sz="5953" kern="1200">
          <a:solidFill>
            <a:schemeClr val="tx1"/>
          </a:solidFill>
          <a:latin typeface="+mn-lt"/>
          <a:ea typeface="+mn-ea"/>
          <a:cs typeface="+mn-cs"/>
        </a:defRPr>
      </a:lvl6pPr>
      <a:lvl7pPr marL="9072037" algn="l" defTabSz="3024012" rtl="0" eaLnBrk="1" latinLnBrk="0" hangingPunct="1">
        <a:defRPr sz="5953" kern="1200">
          <a:solidFill>
            <a:schemeClr val="tx1"/>
          </a:solidFill>
          <a:latin typeface="+mn-lt"/>
          <a:ea typeface="+mn-ea"/>
          <a:cs typeface="+mn-cs"/>
        </a:defRPr>
      </a:lvl7pPr>
      <a:lvl8pPr marL="10584043" algn="l" defTabSz="3024012" rtl="0" eaLnBrk="1" latinLnBrk="0" hangingPunct="1">
        <a:defRPr sz="5953" kern="1200">
          <a:solidFill>
            <a:schemeClr val="tx1"/>
          </a:solidFill>
          <a:latin typeface="+mn-lt"/>
          <a:ea typeface="+mn-ea"/>
          <a:cs typeface="+mn-cs"/>
        </a:defRPr>
      </a:lvl8pPr>
      <a:lvl9pPr marL="12096049" algn="l" defTabSz="3024012" rtl="0" eaLnBrk="1" latinLnBrk="0" hangingPunct="1">
        <a:defRPr sz="595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mailto:luca.vedocelli@ubep.unipd.it" TargetMode="Externa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hyperlink" Target="mailto:daniele.sabbatini@ubep.unipd.it" TargetMode="Externa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ttangolo 146">
            <a:extLst>
              <a:ext uri="{FF2B5EF4-FFF2-40B4-BE49-F238E27FC236}">
                <a16:creationId xmlns:a16="http://schemas.microsoft.com/office/drawing/2014/main" id="{C8BD197E-9035-46F6-A1A4-D116369D91C6}"/>
              </a:ext>
            </a:extLst>
          </p:cNvPr>
          <p:cNvSpPr/>
          <p:nvPr/>
        </p:nvSpPr>
        <p:spPr>
          <a:xfrm>
            <a:off x="20130677" y="28496350"/>
            <a:ext cx="9953817" cy="8814591"/>
          </a:xfrm>
          <a:prstGeom prst="rect">
            <a:avLst/>
          </a:prstGeom>
          <a:solidFill>
            <a:srgbClr val="E0EC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ttangolo 40">
            <a:extLst>
              <a:ext uri="{FF2B5EF4-FFF2-40B4-BE49-F238E27FC236}">
                <a16:creationId xmlns:a16="http://schemas.microsoft.com/office/drawing/2014/main" id="{D3E34088-6C54-4845-87DA-F84065F4B1C5}"/>
              </a:ext>
            </a:extLst>
          </p:cNvPr>
          <p:cNvSpPr/>
          <p:nvPr/>
        </p:nvSpPr>
        <p:spPr>
          <a:xfrm>
            <a:off x="286964" y="27982739"/>
            <a:ext cx="19380840" cy="9176733"/>
          </a:xfrm>
          <a:prstGeom prst="rect">
            <a:avLst/>
          </a:prstGeom>
          <a:solidFill>
            <a:srgbClr val="EBE7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ttangolo 12">
            <a:extLst>
              <a:ext uri="{FF2B5EF4-FFF2-40B4-BE49-F238E27FC236}">
                <a16:creationId xmlns:a16="http://schemas.microsoft.com/office/drawing/2014/main" id="{207CC955-3B96-4774-B0FB-6DD7D7AF0724}"/>
              </a:ext>
            </a:extLst>
          </p:cNvPr>
          <p:cNvSpPr/>
          <p:nvPr/>
        </p:nvSpPr>
        <p:spPr>
          <a:xfrm>
            <a:off x="0" y="5746951"/>
            <a:ext cx="30240288" cy="3567681"/>
          </a:xfrm>
          <a:prstGeom prst="rect">
            <a:avLst/>
          </a:prstGeom>
          <a:solidFill>
            <a:srgbClr val="6A7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dirty="0"/>
          </a:p>
        </p:txBody>
      </p:sp>
      <p:sp>
        <p:nvSpPr>
          <p:cNvPr id="6" name="Rettangolo 5">
            <a:extLst>
              <a:ext uri="{FF2B5EF4-FFF2-40B4-BE49-F238E27FC236}">
                <a16:creationId xmlns:a16="http://schemas.microsoft.com/office/drawing/2014/main" id="{19A0F009-3170-4CC7-BD9A-8262F7E3AA5E}"/>
              </a:ext>
            </a:extLst>
          </p:cNvPr>
          <p:cNvSpPr/>
          <p:nvPr/>
        </p:nvSpPr>
        <p:spPr>
          <a:xfrm>
            <a:off x="2165204" y="10915161"/>
            <a:ext cx="25527087" cy="75340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dirty="0"/>
          </a:p>
        </p:txBody>
      </p:sp>
      <p:sp>
        <p:nvSpPr>
          <p:cNvPr id="4" name="Rettangolo 3">
            <a:extLst>
              <a:ext uri="{FF2B5EF4-FFF2-40B4-BE49-F238E27FC236}">
                <a16:creationId xmlns:a16="http://schemas.microsoft.com/office/drawing/2014/main" id="{A4F1CE12-BA96-4914-8C83-A831AA87121E}"/>
              </a:ext>
            </a:extLst>
          </p:cNvPr>
          <p:cNvSpPr/>
          <p:nvPr/>
        </p:nvSpPr>
        <p:spPr>
          <a:xfrm>
            <a:off x="0" y="-134459"/>
            <a:ext cx="30240288" cy="5889430"/>
          </a:xfrm>
          <a:prstGeom prst="rect">
            <a:avLst/>
          </a:prstGeom>
          <a:solidFill>
            <a:srgbClr val="343E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dirty="0"/>
          </a:p>
        </p:txBody>
      </p:sp>
      <p:sp>
        <p:nvSpPr>
          <p:cNvPr id="9" name="CasellaDiTesto 8">
            <a:extLst>
              <a:ext uri="{FF2B5EF4-FFF2-40B4-BE49-F238E27FC236}">
                <a16:creationId xmlns:a16="http://schemas.microsoft.com/office/drawing/2014/main" id="{671ADD19-1137-458D-8AEE-2F0A4A4FC5A2}"/>
              </a:ext>
            </a:extLst>
          </p:cNvPr>
          <p:cNvSpPr txBox="1"/>
          <p:nvPr/>
        </p:nvSpPr>
        <p:spPr>
          <a:xfrm>
            <a:off x="1673589" y="418649"/>
            <a:ext cx="26893110" cy="4401205"/>
          </a:xfrm>
          <a:prstGeom prst="rect">
            <a:avLst/>
          </a:prstGeom>
          <a:noFill/>
        </p:spPr>
        <p:txBody>
          <a:bodyPr wrap="square" rtlCol="0">
            <a:spAutoFit/>
          </a:bodyPr>
          <a:lstStyle/>
          <a:p>
            <a:pPr algn="ctr"/>
            <a:r>
              <a:rPr lang="en-US" sz="6000" b="1" dirty="0" err="1">
                <a:solidFill>
                  <a:schemeClr val="bg1"/>
                </a:solidFill>
                <a:latin typeface="Futura Bk BT" panose="020B0502020204020303" pitchFamily="34" charset="0"/>
                <a:cs typeface="Arial" panose="020B0604020202020204" pitchFamily="34" charset="0"/>
              </a:rPr>
              <a:t>spatialBenchR</a:t>
            </a:r>
            <a:r>
              <a:rPr lang="en-US" sz="6000" b="1" dirty="0">
                <a:solidFill>
                  <a:schemeClr val="bg1"/>
                </a:solidFill>
                <a:latin typeface="Futura Bk BT" panose="020B0502020204020303" pitchFamily="34" charset="0"/>
                <a:cs typeface="Arial" panose="020B0604020202020204" pitchFamily="34" charset="0"/>
              </a:rPr>
              <a:t>: a Simulation framework for </a:t>
            </a:r>
          </a:p>
          <a:p>
            <a:pPr algn="ctr"/>
            <a:r>
              <a:rPr lang="en-US" sz="6000" b="1" dirty="0">
                <a:solidFill>
                  <a:schemeClr val="bg1"/>
                </a:solidFill>
                <a:latin typeface="Futura Bk BT" panose="020B0502020204020303" pitchFamily="34" charset="0"/>
                <a:cs typeface="Arial" panose="020B0604020202020204" pitchFamily="34" charset="0"/>
              </a:rPr>
              <a:t>spatial single-cell RNA-sequencing data</a:t>
            </a:r>
          </a:p>
          <a:p>
            <a:endParaRPr lang="en-US" sz="3200" dirty="0">
              <a:solidFill>
                <a:schemeClr val="bg1"/>
              </a:solidFill>
              <a:latin typeface="Futura Bk BT" panose="020B0502020204020303" pitchFamily="34" charset="0"/>
              <a:cs typeface="Arial" panose="020B0604020202020204" pitchFamily="34" charset="0"/>
            </a:endParaRPr>
          </a:p>
          <a:p>
            <a:r>
              <a:rPr lang="en-US" sz="3200" dirty="0">
                <a:solidFill>
                  <a:schemeClr val="bg1"/>
                </a:solidFill>
                <a:latin typeface="Futura Bk BT" panose="020B0502020204020303" pitchFamily="34" charset="0"/>
                <a:cs typeface="Arial" panose="020B0604020202020204" pitchFamily="34" charset="0"/>
              </a:rPr>
              <a:t>Daniele Sabbatini</a:t>
            </a:r>
            <a:r>
              <a:rPr lang="en-US" sz="3200" baseline="30000" dirty="0">
                <a:solidFill>
                  <a:schemeClr val="bg1"/>
                </a:solidFill>
                <a:latin typeface="Futura Bk BT" panose="020B0502020204020303" pitchFamily="34" charset="0"/>
                <a:cs typeface="Arial" panose="020B0604020202020204" pitchFamily="34" charset="0"/>
              </a:rPr>
              <a:t>1,2</a:t>
            </a:r>
            <a:r>
              <a:rPr lang="en-US" sz="3200" dirty="0">
                <a:solidFill>
                  <a:schemeClr val="bg1"/>
                </a:solidFill>
                <a:latin typeface="Futura Bk BT" panose="020B0502020204020303" pitchFamily="34" charset="0"/>
                <a:cs typeface="Arial" panose="020B0604020202020204" pitchFamily="34" charset="0"/>
              </a:rPr>
              <a:t>, Pierangela Palmerini</a:t>
            </a:r>
            <a:r>
              <a:rPr lang="en-US" sz="3200" baseline="30000" dirty="0">
                <a:solidFill>
                  <a:schemeClr val="bg1"/>
                </a:solidFill>
                <a:latin typeface="Futura Bk BT" panose="020B0502020204020303" pitchFamily="34" charset="0"/>
                <a:cs typeface="Arial" panose="020B0604020202020204" pitchFamily="34" charset="0"/>
              </a:rPr>
              <a:t>1,3</a:t>
            </a:r>
            <a:r>
              <a:rPr lang="en-US" sz="3200" dirty="0">
                <a:solidFill>
                  <a:schemeClr val="bg1"/>
                </a:solidFill>
                <a:latin typeface="Futura Bk BT" panose="020B0502020204020303" pitchFamily="34" charset="0"/>
                <a:cs typeface="Arial" panose="020B0604020202020204" pitchFamily="34" charset="0"/>
              </a:rPr>
              <a:t>, Giorgia Stoppa</a:t>
            </a:r>
            <a:r>
              <a:rPr lang="en-US" sz="3200" baseline="30000" dirty="0">
                <a:solidFill>
                  <a:schemeClr val="bg1"/>
                </a:solidFill>
                <a:latin typeface="Futura Bk BT" panose="020B0502020204020303" pitchFamily="34" charset="0"/>
                <a:cs typeface="Arial" panose="020B0604020202020204" pitchFamily="34" charset="0"/>
              </a:rPr>
              <a:t>1</a:t>
            </a:r>
            <a:r>
              <a:rPr lang="en-US" sz="3200" dirty="0">
                <a:solidFill>
                  <a:schemeClr val="bg1"/>
                </a:solidFill>
                <a:latin typeface="Futura Bk BT" panose="020B0502020204020303" pitchFamily="34" charset="0"/>
                <a:cs typeface="Arial" panose="020B0604020202020204" pitchFamily="34" charset="0"/>
              </a:rPr>
              <a:t>, Dolores Cattelan</a:t>
            </a:r>
            <a:r>
              <a:rPr lang="en-US" sz="3200" baseline="30000" dirty="0">
                <a:solidFill>
                  <a:schemeClr val="bg1"/>
                </a:solidFill>
                <a:latin typeface="Futura Bk BT" panose="020B0502020204020303" pitchFamily="34" charset="0"/>
                <a:cs typeface="Arial" panose="020B0604020202020204" pitchFamily="34" charset="0"/>
              </a:rPr>
              <a:t>1</a:t>
            </a:r>
            <a:r>
              <a:rPr lang="en-US" sz="3200" dirty="0">
                <a:solidFill>
                  <a:schemeClr val="bg1"/>
                </a:solidFill>
                <a:latin typeface="Futura Bk BT" panose="020B0502020204020303" pitchFamily="34" charset="0"/>
                <a:cs typeface="Arial" panose="020B0604020202020204" pitchFamily="34" charset="0"/>
              </a:rPr>
              <a:t>, Annibale Biggeri</a:t>
            </a:r>
            <a:r>
              <a:rPr lang="en-US" sz="3200" baseline="30000" dirty="0">
                <a:solidFill>
                  <a:schemeClr val="bg1"/>
                </a:solidFill>
                <a:latin typeface="Futura Bk BT" panose="020B0502020204020303" pitchFamily="34" charset="0"/>
                <a:cs typeface="Arial" panose="020B0604020202020204" pitchFamily="34" charset="0"/>
              </a:rPr>
              <a:t>1</a:t>
            </a:r>
            <a:r>
              <a:rPr lang="en-US" sz="3200" dirty="0">
                <a:solidFill>
                  <a:schemeClr val="bg1"/>
                </a:solidFill>
                <a:latin typeface="Futura Bk BT" panose="020B0502020204020303" pitchFamily="34" charset="0"/>
                <a:cs typeface="Arial" panose="020B0604020202020204" pitchFamily="34" charset="0"/>
              </a:rPr>
              <a:t>, Dario Gregori</a:t>
            </a:r>
            <a:r>
              <a:rPr lang="en-US" sz="3200" baseline="30000" dirty="0">
                <a:solidFill>
                  <a:schemeClr val="bg1"/>
                </a:solidFill>
                <a:latin typeface="Futura Bk BT" panose="020B0502020204020303" pitchFamily="34" charset="0"/>
                <a:cs typeface="Arial" panose="020B0604020202020204" pitchFamily="34" charset="0"/>
              </a:rPr>
              <a:t>1</a:t>
            </a:r>
            <a:r>
              <a:rPr lang="en-US" sz="3200" dirty="0">
                <a:solidFill>
                  <a:schemeClr val="bg1"/>
                </a:solidFill>
                <a:latin typeface="Futura Bk BT" panose="020B0502020204020303" pitchFamily="34" charset="0"/>
                <a:cs typeface="Arial" panose="020B0604020202020204" pitchFamily="34" charset="0"/>
              </a:rPr>
              <a:t> and </a:t>
            </a:r>
            <a:r>
              <a:rPr lang="en-US" sz="3200" b="1" u="sng" dirty="0">
                <a:solidFill>
                  <a:schemeClr val="bg1"/>
                </a:solidFill>
                <a:latin typeface="Futura Bk BT" panose="020B0502020204020303" pitchFamily="34" charset="0"/>
                <a:cs typeface="Arial" panose="020B0604020202020204" pitchFamily="34" charset="0"/>
              </a:rPr>
              <a:t>Luca Vedovelli</a:t>
            </a:r>
            <a:r>
              <a:rPr lang="en-US" sz="3200" b="1" u="sng" baseline="30000" dirty="0">
                <a:solidFill>
                  <a:schemeClr val="bg1"/>
                </a:solidFill>
                <a:latin typeface="Futura Bk BT" panose="020B0502020204020303" pitchFamily="34" charset="0"/>
                <a:cs typeface="Arial" panose="020B0604020202020204" pitchFamily="34" charset="0"/>
              </a:rPr>
              <a:t>1</a:t>
            </a:r>
          </a:p>
          <a:p>
            <a:endParaRPr lang="en-US" sz="3600" baseline="30000" dirty="0">
              <a:solidFill>
                <a:schemeClr val="bg1"/>
              </a:solidFill>
              <a:latin typeface="Futura Bk BT" panose="020B0502020204020303" pitchFamily="34" charset="0"/>
              <a:cs typeface="Arial" panose="020B0604020202020204" pitchFamily="34" charset="0"/>
            </a:endParaRPr>
          </a:p>
          <a:p>
            <a:r>
              <a:rPr lang="en-US" sz="2400" baseline="30000" dirty="0">
                <a:solidFill>
                  <a:schemeClr val="bg1"/>
                </a:solidFill>
                <a:latin typeface="Futura Bk BT" panose="020B0502020204020303" pitchFamily="34" charset="0"/>
                <a:cs typeface="Arial" panose="020B0604020202020204" pitchFamily="34" charset="0"/>
              </a:rPr>
              <a:t>1</a:t>
            </a:r>
            <a:r>
              <a:rPr lang="en-US" sz="2400" dirty="0">
                <a:solidFill>
                  <a:schemeClr val="bg1"/>
                </a:solidFill>
                <a:latin typeface="Futura Bk BT" panose="020B0502020204020303" pitchFamily="34" charset="0"/>
                <a:cs typeface="Arial" panose="020B0604020202020204" pitchFamily="34" charset="0"/>
              </a:rPr>
              <a:t>Department of Cardiac, Thoracic, Vascular Sciences and Public Health, University of Padua, Italy</a:t>
            </a:r>
          </a:p>
          <a:p>
            <a:r>
              <a:rPr lang="en-US" sz="2400" baseline="30000" dirty="0">
                <a:solidFill>
                  <a:schemeClr val="bg1"/>
                </a:solidFill>
                <a:latin typeface="Futura Bk BT" panose="020B0502020204020303" pitchFamily="34" charset="0"/>
                <a:cs typeface="Arial" panose="020B0604020202020204" pitchFamily="34" charset="0"/>
              </a:rPr>
              <a:t>2</a:t>
            </a:r>
            <a:r>
              <a:rPr lang="en-US" sz="2400" dirty="0">
                <a:solidFill>
                  <a:schemeClr val="bg1"/>
                </a:solidFill>
                <a:latin typeface="Futura Bk BT" panose="020B0502020204020303" pitchFamily="34" charset="0"/>
                <a:cs typeface="Arial" panose="020B0604020202020204" pitchFamily="34" charset="0"/>
              </a:rPr>
              <a:t>Department of Neurosciences, University of Padua, Italy</a:t>
            </a:r>
          </a:p>
          <a:p>
            <a:r>
              <a:rPr lang="en-US" sz="2400" baseline="30000" dirty="0">
                <a:solidFill>
                  <a:schemeClr val="bg1"/>
                </a:solidFill>
                <a:latin typeface="Futura Bk BT" panose="020B0502020204020303" pitchFamily="34" charset="0"/>
                <a:cs typeface="Arial" panose="020B0604020202020204" pitchFamily="34" charset="0"/>
              </a:rPr>
              <a:t>3</a:t>
            </a:r>
            <a:r>
              <a:rPr lang="en-US" sz="2400" dirty="0">
                <a:solidFill>
                  <a:schemeClr val="bg1"/>
                </a:solidFill>
                <a:latin typeface="Futura Bk BT" panose="020B0502020204020303" pitchFamily="34" charset="0"/>
                <a:cs typeface="Arial" panose="020B0604020202020204" pitchFamily="34" charset="0"/>
              </a:rPr>
              <a:t>Veneto Institute of Oncology-IRCCS, Padua, Italy</a:t>
            </a:r>
          </a:p>
        </p:txBody>
      </p:sp>
      <p:sp>
        <p:nvSpPr>
          <p:cNvPr id="11" name="CasellaDiTesto 10">
            <a:extLst>
              <a:ext uri="{FF2B5EF4-FFF2-40B4-BE49-F238E27FC236}">
                <a16:creationId xmlns:a16="http://schemas.microsoft.com/office/drawing/2014/main" id="{924106B9-9587-42D1-8D13-AF5B9F282BEF}"/>
              </a:ext>
            </a:extLst>
          </p:cNvPr>
          <p:cNvSpPr txBox="1"/>
          <p:nvPr/>
        </p:nvSpPr>
        <p:spPr>
          <a:xfrm>
            <a:off x="719549" y="5924892"/>
            <a:ext cx="28591455" cy="2905924"/>
          </a:xfrm>
          <a:prstGeom prst="rect">
            <a:avLst/>
          </a:prstGeom>
          <a:noFill/>
        </p:spPr>
        <p:txBody>
          <a:bodyPr wrap="square" rtlCol="0">
            <a:spAutoFit/>
          </a:bodyPr>
          <a:lstStyle/>
          <a:p>
            <a:pPr algn="just">
              <a:spcAft>
                <a:spcPts val="1288"/>
              </a:spcAft>
            </a:pPr>
            <a:r>
              <a:rPr lang="it-IT" sz="3200" b="1" dirty="0" err="1">
                <a:solidFill>
                  <a:schemeClr val="bg1"/>
                </a:solidFill>
                <a:latin typeface="FUTURA MEDIUM" panose="020B0602020204020303" pitchFamily="34" charset="-79"/>
                <a:cs typeface="FUTURA MEDIUM" panose="020B0602020204020303" pitchFamily="34" charset="-79"/>
              </a:rPr>
              <a:t>Introduction</a:t>
            </a:r>
            <a:endParaRPr lang="it-IT" sz="3200" b="1" dirty="0">
              <a:solidFill>
                <a:schemeClr val="bg1"/>
              </a:solidFill>
              <a:latin typeface="FUTURA MEDIUM" panose="020B0602020204020303" pitchFamily="34" charset="-79"/>
              <a:cs typeface="FUTURA MEDIUM" panose="020B0602020204020303" pitchFamily="34" charset="-79"/>
            </a:endParaRPr>
          </a:p>
          <a:p>
            <a:pPr algn="just">
              <a:spcAft>
                <a:spcPts val="1288"/>
              </a:spcAft>
            </a:pPr>
            <a:r>
              <a:rPr lang="it-IT" sz="2800" dirty="0" err="1">
                <a:solidFill>
                  <a:schemeClr val="bg1"/>
                </a:solidFill>
                <a:latin typeface="Futura Medium" panose="020B0602020204020303" pitchFamily="34" charset="-79"/>
                <a:cs typeface="Futura Medium" panose="020B0602020204020303" pitchFamily="34" charset="-79"/>
              </a:rPr>
              <a:t>Developing</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robust</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analytical</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methods</a:t>
            </a:r>
            <a:r>
              <a:rPr lang="it-IT" sz="2800" dirty="0">
                <a:solidFill>
                  <a:schemeClr val="bg1"/>
                </a:solidFill>
                <a:latin typeface="Futura Medium" panose="020B0602020204020303" pitchFamily="34" charset="-79"/>
                <a:cs typeface="Futura Medium" panose="020B0602020204020303" pitchFamily="34" charset="-79"/>
              </a:rPr>
              <a:t> for single-</a:t>
            </a:r>
            <a:r>
              <a:rPr lang="it-IT" sz="2800" dirty="0" err="1">
                <a:solidFill>
                  <a:schemeClr val="bg1"/>
                </a:solidFill>
                <a:latin typeface="Futura Medium" panose="020B0602020204020303" pitchFamily="34" charset="-79"/>
                <a:cs typeface="Futura Medium" panose="020B0602020204020303" pitchFamily="34" charset="-79"/>
              </a:rPr>
              <a:t>cell</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spatial</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transcriptomics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requires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rigorous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evaluations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against</a:t>
            </a:r>
            <a:r>
              <a:rPr lang="it-IT" sz="2800" dirty="0">
                <a:solidFill>
                  <a:schemeClr val="bg1"/>
                </a:solidFill>
                <a:latin typeface="Futura Medium" panose="020B0602020204020303" pitchFamily="34" charset="-79"/>
                <a:cs typeface="Futura Medium" panose="020B0602020204020303" pitchFamily="34" charset="-79"/>
              </a:rPr>
              <a:t> data with a </a:t>
            </a:r>
            <a:r>
              <a:rPr lang="it-IT" sz="2800" dirty="0" err="1">
                <a:solidFill>
                  <a:schemeClr val="bg1"/>
                </a:solidFill>
                <a:latin typeface="Futura Medium" panose="020B0602020204020303" pitchFamily="34" charset="-79"/>
                <a:cs typeface="Futura Medium" panose="020B0602020204020303" pitchFamily="34" charset="-79"/>
              </a:rPr>
              <a:t>known</a:t>
            </a:r>
            <a:r>
              <a:rPr lang="it-IT" sz="2800" dirty="0">
                <a:solidFill>
                  <a:schemeClr val="bg1"/>
                </a:solidFill>
                <a:latin typeface="Futura Medium" panose="020B0602020204020303" pitchFamily="34" charset="-79"/>
                <a:cs typeface="Futura Medium" panose="020B0602020204020303" pitchFamily="34" charset="-79"/>
              </a:rPr>
              <a:t> </a:t>
            </a:r>
            <a:r>
              <a:rPr lang="it-IT" sz="2800" b="1" dirty="0">
                <a:solidFill>
                  <a:schemeClr val="bg1"/>
                </a:solidFill>
                <a:latin typeface="Futura Medium" panose="020B0602020204020303" pitchFamily="34" charset="-79"/>
                <a:cs typeface="Futura Medium" panose="020B0602020204020303" pitchFamily="34" charset="-79"/>
              </a:rPr>
              <a:t>ground truth</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yet</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generating</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such</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gold</a:t>
            </a:r>
            <a:r>
              <a:rPr lang="it-IT" sz="2800" dirty="0">
                <a:solidFill>
                  <a:schemeClr val="bg1"/>
                </a:solidFill>
                <a:latin typeface="Futura Medium" panose="020B0602020204020303" pitchFamily="34" charset="-79"/>
                <a:cs typeface="Futura Medium" panose="020B0602020204020303" pitchFamily="34" charset="-79"/>
              </a:rPr>
              <a:t>-standard data </a:t>
            </a:r>
            <a:r>
              <a:rPr lang="it-IT" sz="2800" dirty="0" err="1">
                <a:solidFill>
                  <a:schemeClr val="bg1"/>
                </a:solidFill>
                <a:latin typeface="Futura Medium" panose="020B0602020204020303" pitchFamily="34" charset="-79"/>
                <a:cs typeface="Futura Medium" panose="020B0602020204020303" pitchFamily="34" charset="-79"/>
              </a:rPr>
              <a:t>experimentally</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is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prohibitively</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expensive</a:t>
            </a:r>
            <a:r>
              <a:rPr lang="it-IT" sz="2800" dirty="0">
                <a:solidFill>
                  <a:schemeClr val="bg1"/>
                </a:solidFill>
                <a:latin typeface="Futura Medium" panose="020B0602020204020303" pitchFamily="34" charset="-79"/>
                <a:cs typeface="Futura Medium" panose="020B0602020204020303" pitchFamily="34" charset="-79"/>
              </a:rPr>
              <a:t>, time-</a:t>
            </a:r>
            <a:r>
              <a:rPr lang="it-IT" sz="2800" dirty="0" err="1">
                <a:solidFill>
                  <a:schemeClr val="bg1"/>
                </a:solidFill>
                <a:latin typeface="Futura Medium" panose="020B0602020204020303" pitchFamily="34" charset="-79"/>
                <a:cs typeface="Futura Medium" panose="020B0602020204020303" pitchFamily="34" charset="-79"/>
              </a:rPr>
              <a:t>consuming</a:t>
            </a:r>
            <a:r>
              <a:rPr lang="it-IT" sz="2800" dirty="0">
                <a:solidFill>
                  <a:schemeClr val="bg1"/>
                </a:solidFill>
                <a:latin typeface="Futura Medium" panose="020B0602020204020303" pitchFamily="34" charset="-79"/>
                <a:cs typeface="Futura Medium" panose="020B0602020204020303" pitchFamily="34" charset="-79"/>
              </a:rPr>
              <a:t>, and </a:t>
            </a:r>
            <a:r>
              <a:rPr lang="it-IT" sz="2800" dirty="0" err="1">
                <a:solidFill>
                  <a:schemeClr val="bg1"/>
                </a:solidFill>
                <a:latin typeface="Futura Medium" panose="020B0602020204020303" pitchFamily="34" charset="-79"/>
                <a:cs typeface="Futura Medium" panose="020B0602020204020303" pitchFamily="34" charset="-79"/>
              </a:rPr>
              <a:t>technically</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challenging</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Computational</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simulations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provide</a:t>
            </a:r>
            <a:r>
              <a:rPr lang="it-IT" sz="2800" dirty="0">
                <a:solidFill>
                  <a:schemeClr val="bg1"/>
                </a:solidFill>
                <a:latin typeface="Futura Medium" panose="020B0602020204020303" pitchFamily="34" charset="-79"/>
                <a:cs typeface="Futura Medium" panose="020B0602020204020303" pitchFamily="34" charset="-79"/>
              </a:rPr>
              <a:t> a </a:t>
            </a:r>
            <a:r>
              <a:rPr lang="it-IT" sz="2800" dirty="0" err="1">
                <a:solidFill>
                  <a:schemeClr val="bg1"/>
                </a:solidFill>
                <a:latin typeface="Futura Medium" panose="020B0602020204020303" pitchFamily="34" charset="-79"/>
                <a:cs typeface="Futura Medium" panose="020B0602020204020303" pitchFamily="34" charset="-79"/>
              </a:rPr>
              <a:t>compelling</a:t>
            </a:r>
            <a:r>
              <a:rPr lang="it-IT" sz="2800" dirty="0">
                <a:solidFill>
                  <a:schemeClr val="bg1"/>
                </a:solidFill>
                <a:latin typeface="Futura Medium" panose="020B0602020204020303" pitchFamily="34" charset="-79"/>
                <a:cs typeface="Futura Medium" panose="020B0602020204020303" pitchFamily="34" charset="-79"/>
              </a:rPr>
              <a:t> alternative by </a:t>
            </a:r>
            <a:r>
              <a:rPr lang="it-IT" sz="2800" dirty="0" err="1">
                <a:solidFill>
                  <a:schemeClr val="bg1"/>
                </a:solidFill>
                <a:latin typeface="Futura Medium" panose="020B0602020204020303" pitchFamily="34" charset="-79"/>
                <a:cs typeface="Futura Medium" panose="020B0602020204020303" pitchFamily="34" charset="-79"/>
              </a:rPr>
              <a:t>producing</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synthetic</a:t>
            </a:r>
            <a:r>
              <a:rPr lang="it-IT" sz="2800" dirty="0">
                <a:solidFill>
                  <a:schemeClr val="bg1"/>
                </a:solidFill>
                <a:latin typeface="Futura Medium" panose="020B0602020204020303" pitchFamily="34" charset="-79"/>
                <a:cs typeface="Futura Medium" panose="020B0602020204020303" pitchFamily="34" charset="-79"/>
              </a:rPr>
              <a:t> datasets with </a:t>
            </a:r>
            <a:r>
              <a:rPr lang="it-IT" sz="2800" dirty="0" err="1">
                <a:solidFill>
                  <a:schemeClr val="bg1"/>
                </a:solidFill>
                <a:latin typeface="Futura Medium" panose="020B0602020204020303" pitchFamily="34" charset="-79"/>
                <a:cs typeface="Futura Medium" panose="020B0602020204020303" pitchFamily="34" charset="-79"/>
              </a:rPr>
              <a:t>fully</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controllable</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properties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However</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many</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existing</a:t>
            </a:r>
            <a:r>
              <a:rPr lang="it-IT" sz="2800" dirty="0">
                <a:solidFill>
                  <a:schemeClr val="bg1"/>
                </a:solidFill>
                <a:latin typeface="Futura Medium" panose="020B0602020204020303" pitchFamily="34" charset="-79"/>
                <a:cs typeface="Futura Medium" panose="020B0602020204020303" pitchFamily="34" charset="-79"/>
              </a:rPr>
              <a:t> simulators </a:t>
            </a:r>
            <a:r>
              <a:rPr lang="it-IT" sz="2800" dirty="0" err="1">
                <a:solidFill>
                  <a:schemeClr val="bg1"/>
                </a:solidFill>
                <a:latin typeface="Futura Medium" panose="020B0602020204020303" pitchFamily="34" charset="-79"/>
                <a:cs typeface="Futura Medium" panose="020B0602020204020303" pitchFamily="34" charset="-79"/>
              </a:rPr>
              <a:t>rely</a:t>
            </a:r>
            <a:r>
              <a:rPr lang="it-IT" sz="2800" dirty="0">
                <a:solidFill>
                  <a:schemeClr val="bg1"/>
                </a:solidFill>
                <a:latin typeface="Futura Medium" panose="020B0602020204020303" pitchFamily="34" charset="-79"/>
                <a:cs typeface="Futura Medium" panose="020B0602020204020303" pitchFamily="34" charset="-79"/>
              </a:rPr>
              <a:t> on </a:t>
            </a:r>
            <a:r>
              <a:rPr lang="it-IT" sz="2800" dirty="0" err="1">
                <a:solidFill>
                  <a:schemeClr val="bg1"/>
                </a:solidFill>
                <a:latin typeface="Futura Medium" panose="020B0602020204020303" pitchFamily="34" charset="-79"/>
                <a:cs typeface="Futura Medium" panose="020B0602020204020303" pitchFamily="34" charset="-79"/>
              </a:rPr>
              <a:t>oversimplified</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statistical</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assumptions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unrealistic</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tissue</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geometries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homogeneous</a:t>
            </a:r>
            <a:r>
              <a:rPr lang="it-IT" sz="2800" dirty="0">
                <a:solidFill>
                  <a:schemeClr val="bg1"/>
                </a:solidFill>
                <a:latin typeface="Futura Medium" panose="020B0602020204020303" pitchFamily="34" charset="-79"/>
                <a:cs typeface="Futura Medium" panose="020B0602020204020303" pitchFamily="34" charset="-79"/>
              </a:rPr>
              <a:t> technical </a:t>
            </a:r>
            <a:r>
              <a:rPr lang="it-IT" sz="2800" dirty="0" err="1">
                <a:solidFill>
                  <a:schemeClr val="bg1"/>
                </a:solidFill>
                <a:latin typeface="Futura Medium" panose="020B0602020204020303" pitchFamily="34" charset="-79"/>
                <a:cs typeface="Futura Medium" panose="020B0602020204020303" pitchFamily="34" charset="-79"/>
              </a:rPr>
              <a:t>artifacts</a:t>
            </a:r>
            <a:r>
              <a:rPr lang="it-IT" sz="2800" dirty="0">
                <a:solidFill>
                  <a:schemeClr val="bg1"/>
                </a:solidFill>
                <a:latin typeface="Futura Medium" panose="020B0602020204020303" pitchFamily="34" charset="-79"/>
                <a:cs typeface="Futura Medium" panose="020B0602020204020303" pitchFamily="34" charset="-79"/>
              </a:rPr>
              <a:t>, and </a:t>
            </a:r>
            <a:r>
              <a:rPr lang="it-IT" sz="2800" dirty="0" err="1">
                <a:solidFill>
                  <a:schemeClr val="bg1"/>
                </a:solidFill>
                <a:latin typeface="Futura Medium" panose="020B0602020204020303" pitchFamily="34" charset="-79"/>
                <a:cs typeface="Futura Medium" panose="020B0602020204020303" pitchFamily="34" charset="-79"/>
              </a:rPr>
              <a:t>artificially</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sharp</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boundaries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Our</a:t>
            </a:r>
            <a:r>
              <a:rPr lang="it-IT" sz="2800" dirty="0">
                <a:solidFill>
                  <a:schemeClr val="bg1"/>
                </a:solidFill>
                <a:latin typeface="Futura Medium" panose="020B0602020204020303" pitchFamily="34" charset="-79"/>
                <a:cs typeface="Futura Medium" panose="020B0602020204020303" pitchFamily="34" charset="-79"/>
              </a:rPr>
              <a:t> framework </a:t>
            </a:r>
            <a:r>
              <a:rPr lang="it-IT" sz="2800" dirty="0" err="1">
                <a:solidFill>
                  <a:schemeClr val="bg1"/>
                </a:solidFill>
                <a:latin typeface="Futura Medium" panose="020B0602020204020303" pitchFamily="34" charset="-79"/>
                <a:cs typeface="Futura Medium" panose="020B0602020204020303" pitchFamily="34" charset="-79"/>
              </a:rPr>
              <a:t>overcomes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these</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shortcomings</a:t>
            </a:r>
            <a:r>
              <a:rPr lang="it-IT" sz="2800" dirty="0">
                <a:solidFill>
                  <a:schemeClr val="bg1"/>
                </a:solidFill>
                <a:latin typeface="Futura Medium" panose="020B0602020204020303" pitchFamily="34" charset="-79"/>
                <a:cs typeface="Futura Medium" panose="020B0602020204020303" pitchFamily="34" charset="-79"/>
              </a:rPr>
              <a:t> with </a:t>
            </a:r>
            <a:r>
              <a:rPr lang="it-IT" sz="2800" dirty="0" err="1">
                <a:solidFill>
                  <a:schemeClr val="bg1"/>
                </a:solidFill>
                <a:latin typeface="Futura Medium" panose="020B0602020204020303" pitchFamily="34" charset="-79"/>
                <a:cs typeface="Futura Medium" panose="020B0602020204020303" pitchFamily="34" charset="-79"/>
              </a:rPr>
              <a:t>advanced</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statistical</a:t>
            </a:r>
            <a:r>
              <a:rPr lang="it-IT" sz="2800" dirty="0">
                <a:solidFill>
                  <a:schemeClr val="bg1"/>
                </a:solidFill>
                <a:latin typeface="Futura Medium" panose="020B0602020204020303" pitchFamily="34" charset="-79"/>
                <a:cs typeface="Futura Medium" panose="020B0602020204020303" pitchFamily="34" charset="-79"/>
              </a:rPr>
              <a:t> models and </a:t>
            </a:r>
            <a:r>
              <a:rPr lang="it-IT" sz="2800" dirty="0" err="1">
                <a:solidFill>
                  <a:schemeClr val="bg1"/>
                </a:solidFill>
                <a:latin typeface="Futura Medium" panose="020B0602020204020303" pitchFamily="34" charset="-79"/>
                <a:cs typeface="Futura Medium" panose="020B0602020204020303" pitchFamily="34" charset="-79"/>
              </a:rPr>
              <a:t>biologically</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informed</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spatial</a:t>
            </a:r>
            <a:r>
              <a:rPr lang="it-IT" sz="2800" dirty="0">
                <a:solidFill>
                  <a:schemeClr val="bg1"/>
                </a:solidFill>
                <a:latin typeface="Futura Medium" panose="020B0602020204020303" pitchFamily="34" charset="-79"/>
                <a:cs typeface="Futura Medium" panose="020B0602020204020303" pitchFamily="34" charset="-79"/>
              </a:rPr>
              <a:t> patterns, </a:t>
            </a:r>
            <a:r>
              <a:rPr lang="it-IT" sz="2800" dirty="0" err="1">
                <a:solidFill>
                  <a:schemeClr val="bg1"/>
                </a:solidFill>
                <a:latin typeface="Futura Medium" panose="020B0602020204020303" pitchFamily="34" charset="-79"/>
                <a:cs typeface="Futura Medium" panose="020B0602020204020303" pitchFamily="34" charset="-79"/>
              </a:rPr>
              <a:t>recreating</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realistic</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noise</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gradual</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transitions</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between</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cell</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types</a:t>
            </a:r>
            <a:r>
              <a:rPr lang="it-IT" sz="2800" dirty="0">
                <a:solidFill>
                  <a:schemeClr val="bg1"/>
                </a:solidFill>
                <a:latin typeface="Futura Medium" panose="020B0602020204020303" pitchFamily="34" charset="-79"/>
                <a:cs typeface="Futura Medium" panose="020B0602020204020303" pitchFamily="34" charset="-79"/>
              </a:rPr>
              <a:t>, and </a:t>
            </a:r>
            <a:r>
              <a:rPr lang="it-IT" sz="2800" dirty="0" err="1">
                <a:solidFill>
                  <a:schemeClr val="bg1"/>
                </a:solidFill>
                <a:latin typeface="Futura Medium" panose="020B0602020204020303" pitchFamily="34" charset="-79"/>
                <a:cs typeface="Futura Medium" panose="020B0602020204020303" pitchFamily="34" charset="-79"/>
              </a:rPr>
              <a:t>enabling</a:t>
            </a:r>
            <a:r>
              <a:rPr lang="it-IT" sz="2800" dirty="0">
                <a:solidFill>
                  <a:schemeClr val="bg1"/>
                </a:solidFill>
                <a:latin typeface="Futura Medium" panose="020B0602020204020303" pitchFamily="34" charset="-79"/>
                <a:cs typeface="Futura Medium" panose="020B0602020204020303" pitchFamily="34" charset="-79"/>
              </a:rPr>
              <a:t> </a:t>
            </a:r>
            <a:r>
              <a:rPr lang="it-IT" sz="2800" dirty="0" err="1">
                <a:solidFill>
                  <a:schemeClr val="bg1"/>
                </a:solidFill>
                <a:latin typeface="Futura Medium" panose="020B0602020204020303" pitchFamily="34" charset="-79"/>
                <a:cs typeface="Futura Medium" panose="020B0602020204020303" pitchFamily="34" charset="-79"/>
              </a:rPr>
              <a:t>systematic</a:t>
            </a:r>
            <a:r>
              <a:rPr lang="it-IT" sz="2800" dirty="0">
                <a:solidFill>
                  <a:schemeClr val="bg1"/>
                </a:solidFill>
                <a:latin typeface="Futura Medium" panose="020B0602020204020303" pitchFamily="34" charset="-79"/>
                <a:cs typeface="Futura Medium" panose="020B0602020204020303" pitchFamily="34" charset="-79"/>
              </a:rPr>
              <a:t> benchmarking under </a:t>
            </a:r>
            <a:r>
              <a:rPr lang="it-IT" sz="2800" dirty="0" err="1">
                <a:solidFill>
                  <a:schemeClr val="bg1"/>
                </a:solidFill>
                <a:latin typeface="Futura Medium" panose="020B0602020204020303" pitchFamily="34" charset="-79"/>
                <a:cs typeface="Futura Medium" panose="020B0602020204020303" pitchFamily="34" charset="-79"/>
              </a:rPr>
              <a:t>near</a:t>
            </a:r>
            <a:r>
              <a:rPr lang="it-IT" sz="2800" dirty="0">
                <a:solidFill>
                  <a:schemeClr val="bg1"/>
                </a:solidFill>
                <a:latin typeface="Futura Medium" panose="020B0602020204020303" pitchFamily="34" charset="-79"/>
                <a:cs typeface="Futura Medium" panose="020B0602020204020303" pitchFamily="34" charset="-79"/>
              </a:rPr>
              <a:t>–in vivo </a:t>
            </a:r>
            <a:r>
              <a:rPr lang="it-IT" sz="2800" dirty="0" err="1">
                <a:solidFill>
                  <a:schemeClr val="bg1"/>
                </a:solidFill>
                <a:latin typeface="Futura Medium" panose="020B0602020204020303" pitchFamily="34" charset="-79"/>
                <a:cs typeface="Futura Medium" panose="020B0602020204020303" pitchFamily="34" charset="-79"/>
              </a:rPr>
              <a:t>conditions</a:t>
            </a:r>
            <a:r>
              <a:rPr lang="it-IT" sz="2800" dirty="0">
                <a:solidFill>
                  <a:schemeClr val="bg1"/>
                </a:solidFill>
                <a:latin typeface="Futura Medium" panose="020B0602020204020303" pitchFamily="34" charset="-79"/>
                <a:cs typeface="Futura Medium" panose="020B0602020204020303" pitchFamily="34" charset="-79"/>
              </a:rPr>
              <a:t>.</a:t>
            </a:r>
            <a:endParaRPr lang="en-US" sz="2800" b="1" dirty="0">
              <a:solidFill>
                <a:schemeClr val="bg1"/>
              </a:solidFill>
              <a:latin typeface="FUTURA MEDIUM" panose="020B0602020204020303" pitchFamily="34" charset="-79"/>
              <a:cs typeface="FUTURA MEDIUM" panose="020B0602020204020303" pitchFamily="34" charset="-79"/>
            </a:endParaRPr>
          </a:p>
        </p:txBody>
      </p:sp>
      <p:sp>
        <p:nvSpPr>
          <p:cNvPr id="25" name="Rettangolo 24">
            <a:extLst>
              <a:ext uri="{FF2B5EF4-FFF2-40B4-BE49-F238E27FC236}">
                <a16:creationId xmlns:a16="http://schemas.microsoft.com/office/drawing/2014/main" id="{FFC69DBC-2BCF-4882-8F89-1ACC2DD348BE}"/>
              </a:ext>
            </a:extLst>
          </p:cNvPr>
          <p:cNvSpPr/>
          <p:nvPr/>
        </p:nvSpPr>
        <p:spPr>
          <a:xfrm>
            <a:off x="22259471" y="37595626"/>
            <a:ext cx="8018917" cy="3604719"/>
          </a:xfrm>
          <a:prstGeom prst="rect">
            <a:avLst/>
          </a:prstGeom>
          <a:solidFill>
            <a:srgbClr val="B7C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dirty="0"/>
          </a:p>
        </p:txBody>
      </p:sp>
      <p:sp>
        <p:nvSpPr>
          <p:cNvPr id="18" name="Rettangolo 17">
            <a:extLst>
              <a:ext uri="{FF2B5EF4-FFF2-40B4-BE49-F238E27FC236}">
                <a16:creationId xmlns:a16="http://schemas.microsoft.com/office/drawing/2014/main" id="{0E534554-38A9-4E11-A687-8E12D2437DE3}"/>
              </a:ext>
            </a:extLst>
          </p:cNvPr>
          <p:cNvSpPr/>
          <p:nvPr/>
        </p:nvSpPr>
        <p:spPr>
          <a:xfrm>
            <a:off x="0" y="37598521"/>
            <a:ext cx="22645826" cy="3604719"/>
          </a:xfrm>
          <a:prstGeom prst="rect">
            <a:avLst/>
          </a:prstGeom>
          <a:solidFill>
            <a:srgbClr val="C2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dirty="0"/>
          </a:p>
        </p:txBody>
      </p:sp>
      <p:sp>
        <p:nvSpPr>
          <p:cNvPr id="22" name="CasellaDiTesto 21">
            <a:extLst>
              <a:ext uri="{FF2B5EF4-FFF2-40B4-BE49-F238E27FC236}">
                <a16:creationId xmlns:a16="http://schemas.microsoft.com/office/drawing/2014/main" id="{65448C0E-5000-4E84-AB40-E9CD21D0F20B}"/>
              </a:ext>
            </a:extLst>
          </p:cNvPr>
          <p:cNvSpPr txBox="1"/>
          <p:nvPr/>
        </p:nvSpPr>
        <p:spPr>
          <a:xfrm>
            <a:off x="554849" y="28146598"/>
            <a:ext cx="2475113" cy="830997"/>
          </a:xfrm>
          <a:prstGeom prst="rect">
            <a:avLst/>
          </a:prstGeom>
          <a:noFill/>
        </p:spPr>
        <p:txBody>
          <a:bodyPr wrap="square" rtlCol="0">
            <a:spAutoFit/>
          </a:bodyPr>
          <a:lstStyle/>
          <a:p>
            <a:pPr algn="just">
              <a:spcAft>
                <a:spcPts val="1288"/>
              </a:spcAft>
            </a:pPr>
            <a:r>
              <a:rPr lang="it-IT" sz="4800" b="1" dirty="0">
                <a:solidFill>
                  <a:srgbClr val="00B050"/>
                </a:solidFill>
                <a:latin typeface="Futura Bk BT" panose="020B0502020204020303" pitchFamily="34" charset="0"/>
              </a:rPr>
              <a:t>Results</a:t>
            </a:r>
            <a:endParaRPr lang="en-US" sz="4000" b="1" dirty="0">
              <a:solidFill>
                <a:srgbClr val="00B050"/>
              </a:solidFill>
              <a:latin typeface="Futura Bk BT" panose="020B0502020204020303" pitchFamily="34" charset="0"/>
            </a:endParaRPr>
          </a:p>
        </p:txBody>
      </p:sp>
      <p:sp>
        <p:nvSpPr>
          <p:cNvPr id="26" name="CasellaDiTesto 25">
            <a:extLst>
              <a:ext uri="{FF2B5EF4-FFF2-40B4-BE49-F238E27FC236}">
                <a16:creationId xmlns:a16="http://schemas.microsoft.com/office/drawing/2014/main" id="{D8D43EE8-0643-4ABF-8673-00A55140D7D9}"/>
              </a:ext>
            </a:extLst>
          </p:cNvPr>
          <p:cNvSpPr txBox="1"/>
          <p:nvPr/>
        </p:nvSpPr>
        <p:spPr>
          <a:xfrm>
            <a:off x="477125" y="37836249"/>
            <a:ext cx="3949203" cy="687111"/>
          </a:xfrm>
          <a:prstGeom prst="rect">
            <a:avLst/>
          </a:prstGeom>
          <a:noFill/>
        </p:spPr>
        <p:txBody>
          <a:bodyPr wrap="square" rtlCol="0">
            <a:spAutoFit/>
          </a:bodyPr>
          <a:lstStyle/>
          <a:p>
            <a:pPr algn="just">
              <a:spcAft>
                <a:spcPts val="1288"/>
              </a:spcAft>
            </a:pPr>
            <a:r>
              <a:rPr lang="it-IT" sz="3865" b="1" dirty="0" err="1">
                <a:latin typeface="Futura Bk BT" panose="020B0502020204020303" pitchFamily="34" charset="0"/>
              </a:rPr>
              <a:t>Conclusions</a:t>
            </a:r>
            <a:endParaRPr lang="en-US" sz="3865" b="1" dirty="0">
              <a:latin typeface="Futura Bk BT" panose="020B0502020204020303" pitchFamily="34" charset="0"/>
            </a:endParaRPr>
          </a:p>
        </p:txBody>
      </p:sp>
      <p:sp>
        <p:nvSpPr>
          <p:cNvPr id="27" name="CasellaDiTesto 26">
            <a:extLst>
              <a:ext uri="{FF2B5EF4-FFF2-40B4-BE49-F238E27FC236}">
                <a16:creationId xmlns:a16="http://schemas.microsoft.com/office/drawing/2014/main" id="{7BF00308-178F-4357-8A0F-B8FEE921518B}"/>
              </a:ext>
            </a:extLst>
          </p:cNvPr>
          <p:cNvSpPr txBox="1"/>
          <p:nvPr/>
        </p:nvSpPr>
        <p:spPr>
          <a:xfrm>
            <a:off x="22930903" y="37711423"/>
            <a:ext cx="6478858" cy="687111"/>
          </a:xfrm>
          <a:prstGeom prst="rect">
            <a:avLst/>
          </a:prstGeom>
          <a:noFill/>
        </p:spPr>
        <p:txBody>
          <a:bodyPr wrap="square" rtlCol="0">
            <a:spAutoFit/>
          </a:bodyPr>
          <a:lstStyle/>
          <a:p>
            <a:pPr>
              <a:spcAft>
                <a:spcPts val="1288"/>
              </a:spcAft>
            </a:pPr>
            <a:r>
              <a:rPr lang="it-IT" sz="3865" b="1" dirty="0">
                <a:latin typeface="Futura Bk BT" panose="020B0502020204020303" pitchFamily="34" charset="0"/>
              </a:rPr>
              <a:t>Repo &amp; Contacts</a:t>
            </a:r>
            <a:endParaRPr lang="en-US" sz="3865" b="1" dirty="0">
              <a:latin typeface="Futura Bk BT" panose="020B0502020204020303" pitchFamily="34" charset="0"/>
            </a:endParaRPr>
          </a:p>
        </p:txBody>
      </p:sp>
      <p:grpSp>
        <p:nvGrpSpPr>
          <p:cNvPr id="181" name="Gruppo 180">
            <a:extLst>
              <a:ext uri="{FF2B5EF4-FFF2-40B4-BE49-F238E27FC236}">
                <a16:creationId xmlns:a16="http://schemas.microsoft.com/office/drawing/2014/main" id="{85A0E4B7-16A3-4733-9060-59B91AB97A9E}"/>
              </a:ext>
            </a:extLst>
          </p:cNvPr>
          <p:cNvGrpSpPr/>
          <p:nvPr/>
        </p:nvGrpSpPr>
        <p:grpSpPr>
          <a:xfrm rot="5400000">
            <a:off x="4397088" y="28100618"/>
            <a:ext cx="791163" cy="1459718"/>
            <a:chOff x="526198" y="25067761"/>
            <a:chExt cx="1149219" cy="2120954"/>
          </a:xfrm>
        </p:grpSpPr>
        <p:sp>
          <p:nvSpPr>
            <p:cNvPr id="16" name="Triangolo isoscele 15">
              <a:extLst>
                <a:ext uri="{FF2B5EF4-FFF2-40B4-BE49-F238E27FC236}">
                  <a16:creationId xmlns:a16="http://schemas.microsoft.com/office/drawing/2014/main" id="{377F750E-A3E3-4769-8C44-DC62917B570F}"/>
                </a:ext>
              </a:extLst>
            </p:cNvPr>
            <p:cNvSpPr/>
            <p:nvPr/>
          </p:nvSpPr>
          <p:spPr>
            <a:xfrm rot="5400000">
              <a:off x="127260" y="25640558"/>
              <a:ext cx="2120954" cy="975360"/>
            </a:xfrm>
            <a:prstGeom prst="triangle">
              <a:avLst/>
            </a:prstGeom>
            <a:gradFill flip="none" rotWithShape="1">
              <a:gsLst>
                <a:gs pos="0">
                  <a:srgbClr val="EBE7E4"/>
                </a:gs>
                <a:gs pos="73000">
                  <a:schemeClr val="bg1"/>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a:p>
          </p:txBody>
        </p:sp>
        <p:sp>
          <p:nvSpPr>
            <p:cNvPr id="28" name="CasellaDiTesto 27">
              <a:extLst>
                <a:ext uri="{FF2B5EF4-FFF2-40B4-BE49-F238E27FC236}">
                  <a16:creationId xmlns:a16="http://schemas.microsoft.com/office/drawing/2014/main" id="{9094E1B7-212C-403E-B2A2-7C1F1CFAE4B9}"/>
                </a:ext>
              </a:extLst>
            </p:cNvPr>
            <p:cNvSpPr txBox="1"/>
            <p:nvPr/>
          </p:nvSpPr>
          <p:spPr>
            <a:xfrm rot="16200000">
              <a:off x="696181" y="25703524"/>
              <a:ext cx="509459" cy="849426"/>
            </a:xfrm>
            <a:prstGeom prst="rect">
              <a:avLst/>
            </a:prstGeom>
            <a:noFill/>
          </p:spPr>
          <p:txBody>
            <a:bodyPr wrap="square" rtlCol="0">
              <a:spAutoFit/>
            </a:bodyPr>
            <a:lstStyle/>
            <a:p>
              <a:pPr algn="just">
                <a:spcAft>
                  <a:spcPts val="1288"/>
                </a:spcAft>
              </a:pPr>
              <a:r>
                <a:rPr lang="it-IT" sz="3200" b="1" dirty="0">
                  <a:latin typeface="Futura Bk BT" panose="020B0502020204020303" pitchFamily="34" charset="0"/>
                </a:rPr>
                <a:t>1</a:t>
              </a:r>
              <a:endParaRPr lang="en-US" sz="3200" b="1" dirty="0">
                <a:latin typeface="Futura Bk BT" panose="020B0502020204020303" pitchFamily="34" charset="0"/>
              </a:endParaRPr>
            </a:p>
          </p:txBody>
        </p:sp>
      </p:grpSp>
      <p:sp>
        <p:nvSpPr>
          <p:cNvPr id="165" name="Triangolo isoscele 164">
            <a:extLst>
              <a:ext uri="{FF2B5EF4-FFF2-40B4-BE49-F238E27FC236}">
                <a16:creationId xmlns:a16="http://schemas.microsoft.com/office/drawing/2014/main" id="{B6E11537-CA1E-44B7-B5E7-EA01D7C66024}"/>
              </a:ext>
            </a:extLst>
          </p:cNvPr>
          <p:cNvSpPr/>
          <p:nvPr/>
        </p:nvSpPr>
        <p:spPr>
          <a:xfrm rot="10800000" flipH="1">
            <a:off x="851878" y="9326585"/>
            <a:ext cx="1804368" cy="844675"/>
          </a:xfrm>
          <a:prstGeom prst="triangle">
            <a:avLst/>
          </a:prstGeom>
          <a:solidFill>
            <a:srgbClr val="6A7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a:p>
        </p:txBody>
      </p:sp>
      <p:sp>
        <p:nvSpPr>
          <p:cNvPr id="167" name="Triangolo isoscele 166">
            <a:extLst>
              <a:ext uri="{FF2B5EF4-FFF2-40B4-BE49-F238E27FC236}">
                <a16:creationId xmlns:a16="http://schemas.microsoft.com/office/drawing/2014/main" id="{EC96A731-21EC-4CCB-B1B7-65355A95B6DC}"/>
              </a:ext>
            </a:extLst>
          </p:cNvPr>
          <p:cNvSpPr/>
          <p:nvPr/>
        </p:nvSpPr>
        <p:spPr>
          <a:xfrm rot="5400000" flipH="1">
            <a:off x="21949472" y="39219198"/>
            <a:ext cx="1784281" cy="845556"/>
          </a:xfrm>
          <a:prstGeom prst="triangle">
            <a:avLst/>
          </a:prstGeom>
          <a:solidFill>
            <a:srgbClr val="C2DA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a:p>
        </p:txBody>
      </p:sp>
      <p:sp>
        <p:nvSpPr>
          <p:cNvPr id="168" name="CasellaDiTesto 5">
            <a:extLst>
              <a:ext uri="{FF2B5EF4-FFF2-40B4-BE49-F238E27FC236}">
                <a16:creationId xmlns:a16="http://schemas.microsoft.com/office/drawing/2014/main" id="{A8A46F2C-89D8-4F7D-B59C-2F292751D2E5}"/>
              </a:ext>
            </a:extLst>
          </p:cNvPr>
          <p:cNvSpPr txBox="1"/>
          <p:nvPr/>
        </p:nvSpPr>
        <p:spPr>
          <a:xfrm>
            <a:off x="23116955" y="38948537"/>
            <a:ext cx="4943695" cy="1200329"/>
          </a:xfrm>
          <a:prstGeom prst="rect">
            <a:avLst/>
          </a:prstGeom>
          <a:noFill/>
        </p:spPr>
        <p:txBody>
          <a:bodyPr wrap="square" rtlCol="0">
            <a:spAutoFit/>
          </a:bodyPr>
          <a:lstStyle/>
          <a:p>
            <a:pPr algn="ctr"/>
            <a:r>
              <a:rPr lang="it-IT" sz="2400" b="1" dirty="0">
                <a:latin typeface="Futura Bk BT" panose="020B0502020204020303" pitchFamily="34" charset="0"/>
                <a:cs typeface="Arial" panose="020B0604020202020204" pitchFamily="34" charset="0"/>
                <a:hlinkClick r:id="rId2">
                  <a:extLst>
                    <a:ext uri="{A12FA001-AC4F-418D-AE19-62706E023703}">
                      <ahyp:hlinkClr xmlns:ahyp="http://schemas.microsoft.com/office/drawing/2018/hyperlinkcolor" val="tx"/>
                    </a:ext>
                  </a:extLst>
                </a:hlinkClick>
              </a:rPr>
              <a:t>daniele.sabbatini@ubep.unipd.it</a:t>
            </a:r>
            <a:endParaRPr lang="it-IT" sz="2400" b="1" dirty="0">
              <a:latin typeface="Futura Bk BT" panose="020B0502020204020303" pitchFamily="34" charset="0"/>
              <a:cs typeface="Arial" panose="020B0604020202020204" pitchFamily="34" charset="0"/>
            </a:endParaRPr>
          </a:p>
          <a:p>
            <a:pPr algn="ctr"/>
            <a:endParaRPr lang="it-IT" sz="2400" b="1" dirty="0">
              <a:latin typeface="Futura Bk BT" panose="020B0502020204020303" pitchFamily="34" charset="0"/>
              <a:cs typeface="Arial" panose="020B0604020202020204" pitchFamily="34" charset="0"/>
            </a:endParaRPr>
          </a:p>
          <a:p>
            <a:pPr algn="ctr"/>
            <a:r>
              <a:rPr lang="it-IT" sz="2400" b="1" dirty="0">
                <a:latin typeface="Futura Bk BT" panose="020B0502020204020303" pitchFamily="34" charset="0"/>
                <a:cs typeface="Arial" panose="020B0604020202020204" pitchFamily="34" charset="0"/>
                <a:hlinkClick r:id="rId3">
                  <a:extLst>
                    <a:ext uri="{A12FA001-AC4F-418D-AE19-62706E023703}">
                      <ahyp:hlinkClr xmlns:ahyp="http://schemas.microsoft.com/office/drawing/2018/hyperlinkcolor" val="tx"/>
                    </a:ext>
                  </a:extLst>
                </a:hlinkClick>
              </a:rPr>
              <a:t>luca.vedovelli@ubep.unipd.it</a:t>
            </a:r>
            <a:endParaRPr lang="it-IT" sz="2400" b="1" dirty="0">
              <a:latin typeface="Futura Bk BT" panose="020B0502020204020303" pitchFamily="34" charset="0"/>
              <a:cs typeface="Arial" panose="020B0604020202020204" pitchFamily="34" charset="0"/>
            </a:endParaRPr>
          </a:p>
        </p:txBody>
      </p:sp>
      <p:sp>
        <p:nvSpPr>
          <p:cNvPr id="178" name="CasellaDiTesto 177">
            <a:extLst>
              <a:ext uri="{FF2B5EF4-FFF2-40B4-BE49-F238E27FC236}">
                <a16:creationId xmlns:a16="http://schemas.microsoft.com/office/drawing/2014/main" id="{CE9FEBCA-4C5D-42BE-96DA-B53F1EB99085}"/>
              </a:ext>
            </a:extLst>
          </p:cNvPr>
          <p:cNvSpPr txBox="1"/>
          <p:nvPr/>
        </p:nvSpPr>
        <p:spPr>
          <a:xfrm>
            <a:off x="483256" y="38606829"/>
            <a:ext cx="21635026" cy="1766637"/>
          </a:xfrm>
          <a:prstGeom prst="rect">
            <a:avLst/>
          </a:prstGeom>
          <a:noFill/>
        </p:spPr>
        <p:txBody>
          <a:bodyPr wrap="square" rtlCol="0">
            <a:spAutoFit/>
          </a:bodyPr>
          <a:lstStyle/>
          <a:p>
            <a:pPr algn="just"/>
            <a:r>
              <a:rPr lang="en-GB" sz="2720" dirty="0">
                <a:latin typeface="Futura Bk BT" panose="020B0502020204020303" pitchFamily="34" charset="0"/>
              </a:rPr>
              <a:t> This framework enables comprehensive benchmarking of spatial transcriptomics methods by generating data with controlled biological complexity and realistic technical challenges. The modular architecture facilitates systematic evaluation of analytical approaches while the parameterizable difficulty system supports both method development and educational applications. The framework will be available as an open-source R package with comprehensive validation tools.</a:t>
            </a:r>
            <a:endParaRPr lang="en-US" sz="2720" dirty="0">
              <a:latin typeface="Futura Bk BT" panose="020B0502020204020303" pitchFamily="34" charset="0"/>
            </a:endParaRPr>
          </a:p>
        </p:txBody>
      </p:sp>
      <p:pic>
        <p:nvPicPr>
          <p:cNvPr id="199" name="Immagine 198">
            <a:extLst>
              <a:ext uri="{FF2B5EF4-FFF2-40B4-BE49-F238E27FC236}">
                <a16:creationId xmlns:a16="http://schemas.microsoft.com/office/drawing/2014/main" id="{6870FE5B-1659-466F-86A0-4969B36030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549" y="41254736"/>
            <a:ext cx="11251201" cy="1474417"/>
          </a:xfrm>
          <a:prstGeom prst="rect">
            <a:avLst/>
          </a:prstGeom>
        </p:spPr>
      </p:pic>
      <p:grpSp>
        <p:nvGrpSpPr>
          <p:cNvPr id="46" name="Gruppo 45">
            <a:extLst>
              <a:ext uri="{FF2B5EF4-FFF2-40B4-BE49-F238E27FC236}">
                <a16:creationId xmlns:a16="http://schemas.microsoft.com/office/drawing/2014/main" id="{1D21D7DA-D89A-443B-BDCD-3C9B555F6863}"/>
              </a:ext>
            </a:extLst>
          </p:cNvPr>
          <p:cNvGrpSpPr/>
          <p:nvPr/>
        </p:nvGrpSpPr>
        <p:grpSpPr>
          <a:xfrm>
            <a:off x="20087119" y="10153494"/>
            <a:ext cx="9718608" cy="8692959"/>
            <a:chOff x="10474137" y="14105181"/>
            <a:chExt cx="8257010" cy="7465178"/>
          </a:xfrm>
        </p:grpSpPr>
        <p:sp>
          <p:nvSpPr>
            <p:cNvPr id="65" name="Rettangolo con angoli arrotondati 64">
              <a:extLst>
                <a:ext uri="{FF2B5EF4-FFF2-40B4-BE49-F238E27FC236}">
                  <a16:creationId xmlns:a16="http://schemas.microsoft.com/office/drawing/2014/main" id="{BA10BCB6-922C-472B-92D9-235C3771408C}"/>
                </a:ext>
              </a:extLst>
            </p:cNvPr>
            <p:cNvSpPr/>
            <p:nvPr/>
          </p:nvSpPr>
          <p:spPr>
            <a:xfrm>
              <a:off x="10474138" y="14277423"/>
              <a:ext cx="8257009" cy="7292936"/>
            </a:xfrm>
            <a:prstGeom prst="roundRect">
              <a:avLst>
                <a:gd name="adj" fmla="val 620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ttangolo con angoli arrotondati 65">
              <a:extLst>
                <a:ext uri="{FF2B5EF4-FFF2-40B4-BE49-F238E27FC236}">
                  <a16:creationId xmlns:a16="http://schemas.microsoft.com/office/drawing/2014/main" id="{EF1210D5-1D95-4543-9D12-924F40268289}"/>
                </a:ext>
              </a:extLst>
            </p:cNvPr>
            <p:cNvSpPr/>
            <p:nvPr/>
          </p:nvSpPr>
          <p:spPr>
            <a:xfrm>
              <a:off x="10474137" y="14105181"/>
              <a:ext cx="8257009" cy="638351"/>
            </a:xfrm>
            <a:prstGeom prst="roundRect">
              <a:avLst>
                <a:gd name="adj" fmla="val 46361"/>
              </a:avLst>
            </a:prstGeom>
            <a:solidFill>
              <a:srgbClr val="6A7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ttangolo 66">
              <a:extLst>
                <a:ext uri="{FF2B5EF4-FFF2-40B4-BE49-F238E27FC236}">
                  <a16:creationId xmlns:a16="http://schemas.microsoft.com/office/drawing/2014/main" id="{998D8BBE-D1C0-46A8-844B-A6AEEACEC7B2}"/>
                </a:ext>
              </a:extLst>
            </p:cNvPr>
            <p:cNvSpPr/>
            <p:nvPr/>
          </p:nvSpPr>
          <p:spPr>
            <a:xfrm>
              <a:off x="10474138" y="14448909"/>
              <a:ext cx="8257009" cy="345791"/>
            </a:xfrm>
            <a:prstGeom prst="rect">
              <a:avLst/>
            </a:prstGeom>
            <a:solidFill>
              <a:srgbClr val="6A7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CasellaDiTesto 61">
            <a:extLst>
              <a:ext uri="{FF2B5EF4-FFF2-40B4-BE49-F238E27FC236}">
                <a16:creationId xmlns:a16="http://schemas.microsoft.com/office/drawing/2014/main" id="{1E47ABDA-3A9E-4C04-AAC7-699F87A1E6A2}"/>
              </a:ext>
            </a:extLst>
          </p:cNvPr>
          <p:cNvSpPr txBox="1"/>
          <p:nvPr/>
        </p:nvSpPr>
        <p:spPr>
          <a:xfrm>
            <a:off x="20735097" y="10266507"/>
            <a:ext cx="8735868" cy="584775"/>
          </a:xfrm>
          <a:prstGeom prst="rect">
            <a:avLst/>
          </a:prstGeom>
          <a:noFill/>
        </p:spPr>
        <p:txBody>
          <a:bodyPr wrap="square" rtlCol="0">
            <a:spAutoFit/>
          </a:bodyPr>
          <a:lstStyle/>
          <a:p>
            <a:pPr>
              <a:spcAft>
                <a:spcPts val="1288"/>
              </a:spcAft>
            </a:pPr>
            <a:r>
              <a:rPr lang="it-IT" sz="3200" b="1" dirty="0">
                <a:solidFill>
                  <a:schemeClr val="bg1"/>
                </a:solidFill>
                <a:latin typeface="Futura Bk BT" panose="020B0502020204020303" pitchFamily="34" charset="0"/>
              </a:rPr>
              <a:t> 2. Image processing and grid creation</a:t>
            </a:r>
            <a:endParaRPr lang="en-US" sz="3200" b="1" dirty="0">
              <a:solidFill>
                <a:schemeClr val="bg1"/>
              </a:solidFill>
              <a:latin typeface="Futura Bk BT" panose="020B0502020204020303" pitchFamily="34" charset="0"/>
            </a:endParaRPr>
          </a:p>
        </p:txBody>
      </p:sp>
      <p:grpSp>
        <p:nvGrpSpPr>
          <p:cNvPr id="29" name="Gruppo 28">
            <a:extLst>
              <a:ext uri="{FF2B5EF4-FFF2-40B4-BE49-F238E27FC236}">
                <a16:creationId xmlns:a16="http://schemas.microsoft.com/office/drawing/2014/main" id="{D1AFDE07-DC0C-48CC-ADF6-D87E17F12310}"/>
              </a:ext>
            </a:extLst>
          </p:cNvPr>
          <p:cNvGrpSpPr/>
          <p:nvPr/>
        </p:nvGrpSpPr>
        <p:grpSpPr>
          <a:xfrm>
            <a:off x="20060448" y="19040329"/>
            <a:ext cx="9999134" cy="5225248"/>
            <a:chOff x="18588391" y="14017082"/>
            <a:chExt cx="8257010" cy="6931122"/>
          </a:xfrm>
        </p:grpSpPr>
        <p:sp>
          <p:nvSpPr>
            <p:cNvPr id="69" name="Rettangolo con angoli arrotondati 68">
              <a:extLst>
                <a:ext uri="{FF2B5EF4-FFF2-40B4-BE49-F238E27FC236}">
                  <a16:creationId xmlns:a16="http://schemas.microsoft.com/office/drawing/2014/main" id="{6ECBCB5F-C548-4375-9B5F-33BF8C28765D}"/>
                </a:ext>
              </a:extLst>
            </p:cNvPr>
            <p:cNvSpPr/>
            <p:nvPr/>
          </p:nvSpPr>
          <p:spPr>
            <a:xfrm>
              <a:off x="18588392" y="14185851"/>
              <a:ext cx="8257009" cy="6762353"/>
            </a:xfrm>
            <a:prstGeom prst="roundRect">
              <a:avLst>
                <a:gd name="adj" fmla="val 620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ttangolo con angoli arrotondati 69">
              <a:extLst>
                <a:ext uri="{FF2B5EF4-FFF2-40B4-BE49-F238E27FC236}">
                  <a16:creationId xmlns:a16="http://schemas.microsoft.com/office/drawing/2014/main" id="{212EE84F-8896-4132-AE55-06566F1FC399}"/>
                </a:ext>
              </a:extLst>
            </p:cNvPr>
            <p:cNvSpPr/>
            <p:nvPr/>
          </p:nvSpPr>
          <p:spPr>
            <a:xfrm>
              <a:off x="18588391" y="14017082"/>
              <a:ext cx="8257009" cy="810088"/>
            </a:xfrm>
            <a:prstGeom prst="roundRect">
              <a:avLst>
                <a:gd name="adj" fmla="val 46361"/>
              </a:avLst>
            </a:prstGeom>
            <a:solidFill>
              <a:srgbClr val="6A7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ttangolo 70">
              <a:extLst>
                <a:ext uri="{FF2B5EF4-FFF2-40B4-BE49-F238E27FC236}">
                  <a16:creationId xmlns:a16="http://schemas.microsoft.com/office/drawing/2014/main" id="{45FC0B23-62C9-4699-8C30-A32598FD875F}"/>
                </a:ext>
              </a:extLst>
            </p:cNvPr>
            <p:cNvSpPr/>
            <p:nvPr/>
          </p:nvSpPr>
          <p:spPr>
            <a:xfrm>
              <a:off x="18588392" y="14357337"/>
              <a:ext cx="8257009" cy="583487"/>
            </a:xfrm>
            <a:prstGeom prst="rect">
              <a:avLst/>
            </a:prstGeom>
            <a:solidFill>
              <a:srgbClr val="6A7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4" name="CasellaDiTesto 73">
            <a:extLst>
              <a:ext uri="{FF2B5EF4-FFF2-40B4-BE49-F238E27FC236}">
                <a16:creationId xmlns:a16="http://schemas.microsoft.com/office/drawing/2014/main" id="{621F4C8F-D677-40B0-AD41-D6D10EE3CB33}"/>
              </a:ext>
            </a:extLst>
          </p:cNvPr>
          <p:cNvSpPr txBox="1"/>
          <p:nvPr/>
        </p:nvSpPr>
        <p:spPr>
          <a:xfrm>
            <a:off x="19952793" y="19133821"/>
            <a:ext cx="6217539" cy="584775"/>
          </a:xfrm>
          <a:prstGeom prst="rect">
            <a:avLst/>
          </a:prstGeom>
          <a:noFill/>
        </p:spPr>
        <p:txBody>
          <a:bodyPr wrap="square" rtlCol="0">
            <a:spAutoFit/>
          </a:bodyPr>
          <a:lstStyle/>
          <a:p>
            <a:pPr algn="ctr">
              <a:spcAft>
                <a:spcPts val="1288"/>
              </a:spcAft>
            </a:pPr>
            <a:r>
              <a:rPr lang="it-IT" sz="3200" b="1" dirty="0">
                <a:solidFill>
                  <a:schemeClr val="bg1"/>
                </a:solidFill>
                <a:latin typeface="Futura Bk BT" panose="020B0502020204020303" pitchFamily="34" charset="0"/>
              </a:rPr>
              <a:t> 3. </a:t>
            </a:r>
            <a:r>
              <a:rPr lang="en-US" sz="3200" b="1" dirty="0">
                <a:solidFill>
                  <a:schemeClr val="bg1"/>
                </a:solidFill>
                <a:latin typeface="Futura Bk BT" panose="020B0502020204020303" pitchFamily="34" charset="0"/>
              </a:rPr>
              <a:t>Clustering and sampling</a:t>
            </a:r>
          </a:p>
        </p:txBody>
      </p:sp>
      <p:sp>
        <p:nvSpPr>
          <p:cNvPr id="20" name="Triangolo isoscele 19">
            <a:extLst>
              <a:ext uri="{FF2B5EF4-FFF2-40B4-BE49-F238E27FC236}">
                <a16:creationId xmlns:a16="http://schemas.microsoft.com/office/drawing/2014/main" id="{EDF19CD5-844B-4CF5-BF3F-88EF8C15A969}"/>
              </a:ext>
            </a:extLst>
          </p:cNvPr>
          <p:cNvSpPr/>
          <p:nvPr/>
        </p:nvSpPr>
        <p:spPr>
          <a:xfrm rot="10800000">
            <a:off x="19297654" y="37350037"/>
            <a:ext cx="1723136" cy="821490"/>
          </a:xfrm>
          <a:prstGeom prst="triangle">
            <a:avLst/>
          </a:prstGeom>
          <a:solidFill>
            <a:srgbClr val="E0EC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a:p>
        </p:txBody>
      </p:sp>
      <p:sp>
        <p:nvSpPr>
          <p:cNvPr id="146" name="CasellaDiTesto 145">
            <a:extLst>
              <a:ext uri="{FF2B5EF4-FFF2-40B4-BE49-F238E27FC236}">
                <a16:creationId xmlns:a16="http://schemas.microsoft.com/office/drawing/2014/main" id="{0239CD44-E06A-40AE-A8D4-98C1F8E4CD91}"/>
              </a:ext>
            </a:extLst>
          </p:cNvPr>
          <p:cNvSpPr txBox="1"/>
          <p:nvPr/>
        </p:nvSpPr>
        <p:spPr>
          <a:xfrm>
            <a:off x="19938188" y="27612519"/>
            <a:ext cx="10302100" cy="707886"/>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spcAft>
                <a:spcPts val="1288"/>
              </a:spcAft>
            </a:pPr>
            <a:r>
              <a:rPr lang="it-IT" sz="4000" b="1" dirty="0" err="1">
                <a:latin typeface="Futura Bk BT" panose="020B0502020204020303" pitchFamily="34" charset="0"/>
              </a:rPr>
              <a:t>Advantages</a:t>
            </a:r>
            <a:r>
              <a:rPr lang="it-IT" sz="4000" b="1" dirty="0">
                <a:latin typeface="Futura Bk BT" panose="020B0502020204020303" pitchFamily="34" charset="0"/>
              </a:rPr>
              <a:t> of the </a:t>
            </a:r>
            <a:r>
              <a:rPr lang="it-IT" sz="4000" b="1" dirty="0" err="1">
                <a:latin typeface="Futura Bk BT" panose="020B0502020204020303" pitchFamily="34" charset="0"/>
              </a:rPr>
              <a:t>proposed</a:t>
            </a:r>
            <a:r>
              <a:rPr lang="it-IT" sz="4000" b="1" dirty="0">
                <a:latin typeface="Futura Bk BT" panose="020B0502020204020303" pitchFamily="34" charset="0"/>
              </a:rPr>
              <a:t> framework</a:t>
            </a:r>
            <a:endParaRPr lang="en-US" sz="4000" b="1" dirty="0">
              <a:latin typeface="Futura Bk BT" panose="020B0502020204020303" pitchFamily="34" charset="0"/>
            </a:endParaRPr>
          </a:p>
        </p:txBody>
      </p:sp>
      <p:sp>
        <p:nvSpPr>
          <p:cNvPr id="79" name="Triangolo isoscele 78">
            <a:extLst>
              <a:ext uri="{FF2B5EF4-FFF2-40B4-BE49-F238E27FC236}">
                <a16:creationId xmlns:a16="http://schemas.microsoft.com/office/drawing/2014/main" id="{F5208B3C-9372-4046-A150-06372C179C34}"/>
              </a:ext>
            </a:extLst>
          </p:cNvPr>
          <p:cNvSpPr/>
          <p:nvPr/>
        </p:nvSpPr>
        <p:spPr>
          <a:xfrm rot="16200000" flipV="1">
            <a:off x="17981189" y="29208332"/>
            <a:ext cx="2239808" cy="845556"/>
          </a:xfrm>
          <a:prstGeom prst="triangle">
            <a:avLst/>
          </a:prstGeom>
          <a:solidFill>
            <a:srgbClr val="EBE7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a:p>
        </p:txBody>
      </p:sp>
      <p:sp>
        <p:nvSpPr>
          <p:cNvPr id="86" name="CasellaDiTesto 85">
            <a:extLst>
              <a:ext uri="{FF2B5EF4-FFF2-40B4-BE49-F238E27FC236}">
                <a16:creationId xmlns:a16="http://schemas.microsoft.com/office/drawing/2014/main" id="{49374953-F605-4676-9C4F-C6F9B92A3FF8}"/>
              </a:ext>
            </a:extLst>
          </p:cNvPr>
          <p:cNvSpPr txBox="1"/>
          <p:nvPr/>
        </p:nvSpPr>
        <p:spPr>
          <a:xfrm>
            <a:off x="20147513" y="28648527"/>
            <a:ext cx="9897901" cy="8525411"/>
          </a:xfrm>
          <a:prstGeom prst="rect">
            <a:avLst/>
          </a:prstGeom>
          <a:noFill/>
        </p:spPr>
        <p:txBody>
          <a:bodyPr wrap="square" rtlCol="0">
            <a:spAutoFit/>
          </a:bodyPr>
          <a:lstStyle/>
          <a:p>
            <a:pPr algn="just"/>
            <a:r>
              <a:rPr lang="en-GB" sz="3200" b="1" dirty="0">
                <a:latin typeface="+mj-lt"/>
                <a:sym typeface="Wingdings" panose="05000000000000000000" pitchFamily="2" charset="2"/>
              </a:rPr>
              <a:t>Complete simulation control: </a:t>
            </a:r>
            <a:r>
              <a:rPr lang="en-GB" sz="3200" dirty="0">
                <a:latin typeface="+mj-lt"/>
                <a:sym typeface="Wingdings" panose="05000000000000000000" pitchFamily="2" charset="2"/>
              </a:rPr>
              <a:t>Enable systematic evaluation of analytical methods across controlled</a:t>
            </a:r>
          </a:p>
          <a:p>
            <a:pPr algn="just"/>
            <a:r>
              <a:rPr lang="en-GB" sz="3200" dirty="0">
                <a:latin typeface="+mj-lt"/>
                <a:sym typeface="Wingdings" panose="05000000000000000000" pitchFamily="2" charset="2"/>
              </a:rPr>
              <a:t>  parameter ranges from simple to extremely challenging datasets</a:t>
            </a:r>
          </a:p>
          <a:p>
            <a:pPr algn="just"/>
            <a:r>
              <a:rPr lang="en-GB" sz="3200" b="1" dirty="0">
                <a:latin typeface="+mj-lt"/>
                <a:sym typeface="Wingdings" panose="05000000000000000000" pitchFamily="2" charset="2"/>
              </a:rPr>
              <a:t> </a:t>
            </a:r>
          </a:p>
          <a:p>
            <a:pPr algn="just"/>
            <a:r>
              <a:rPr lang="en-GB" sz="3200" b="1" dirty="0">
                <a:latin typeface="+mj-lt"/>
                <a:sym typeface="Wingdings" panose="05000000000000000000" pitchFamily="2" charset="2"/>
              </a:rPr>
              <a:t>Realistic technical artifacts: </a:t>
            </a:r>
            <a:r>
              <a:rPr lang="en-GB" sz="3200" dirty="0">
                <a:latin typeface="+mj-lt"/>
                <a:sym typeface="Wingdings" panose="05000000000000000000" pitchFamily="2" charset="2"/>
              </a:rPr>
              <a:t>Faithful reproduction of platform-specific biases including ambient RNA</a:t>
            </a:r>
          </a:p>
          <a:p>
            <a:pPr algn="just"/>
            <a:r>
              <a:rPr lang="en-GB" sz="3200" dirty="0">
                <a:latin typeface="+mj-lt"/>
                <a:sym typeface="Wingdings" panose="05000000000000000000" pitchFamily="2" charset="2"/>
              </a:rPr>
              <a:t>  contamination, spatial dropout patterns, and library size effects observed in real experiments</a:t>
            </a:r>
          </a:p>
          <a:p>
            <a:pPr algn="just"/>
            <a:r>
              <a:rPr lang="en-GB" sz="3200" b="1" dirty="0">
                <a:latin typeface="+mj-lt"/>
                <a:sym typeface="Wingdings" panose="05000000000000000000" pitchFamily="2" charset="2"/>
              </a:rPr>
              <a:t> </a:t>
            </a:r>
          </a:p>
          <a:p>
            <a:pPr algn="just"/>
            <a:r>
              <a:rPr lang="en-GB" sz="3200" b="1" dirty="0">
                <a:latin typeface="+mj-lt"/>
                <a:sym typeface="Wingdings" panose="05000000000000000000" pitchFamily="2" charset="2"/>
              </a:rPr>
              <a:t>Modular biological complexity: </a:t>
            </a:r>
            <a:r>
              <a:rPr lang="en-GB" sz="3200" dirty="0">
                <a:latin typeface="+mj-lt"/>
                <a:sym typeface="Wingdings" panose="05000000000000000000" pitchFamily="2" charset="2"/>
              </a:rPr>
              <a:t>Independent control over ligand-receptor </a:t>
            </a:r>
            <a:r>
              <a:rPr lang="en-GB" sz="3200" dirty="0" err="1">
                <a:latin typeface="+mj-lt"/>
                <a:sym typeface="Wingdings" panose="05000000000000000000" pitchFamily="2" charset="2"/>
              </a:rPr>
              <a:t>signaling</a:t>
            </a:r>
            <a:r>
              <a:rPr lang="en-GB" sz="3200" dirty="0">
                <a:latin typeface="+mj-lt"/>
                <a:sym typeface="Wingdings" panose="05000000000000000000" pitchFamily="2" charset="2"/>
              </a:rPr>
              <a:t>, developmental trajectories, alternative splicing, and tissue architecture features</a:t>
            </a:r>
          </a:p>
          <a:p>
            <a:pPr algn="just"/>
            <a:endParaRPr lang="en-GB" sz="3200" b="1" dirty="0">
              <a:latin typeface="+mj-lt"/>
              <a:sym typeface="Wingdings" panose="05000000000000000000" pitchFamily="2" charset="2"/>
            </a:endParaRPr>
          </a:p>
          <a:p>
            <a:pPr algn="just"/>
            <a:r>
              <a:rPr lang="en-GB" sz="3200" b="1" dirty="0">
                <a:latin typeface="+mj-lt"/>
                <a:sym typeface="Wingdings" panose="05000000000000000000" pitchFamily="2" charset="2"/>
              </a:rPr>
              <a:t>Grid-based precision</a:t>
            </a:r>
            <a:r>
              <a:rPr lang="en-GB" sz="3200" dirty="0">
                <a:latin typeface="+mj-lt"/>
                <a:sym typeface="Wingdings" panose="05000000000000000000" pitchFamily="2" charset="2"/>
              </a:rPr>
              <a:t>: </a:t>
            </a:r>
            <a:r>
              <a:rPr lang="en-GB" sz="3600" dirty="0">
                <a:latin typeface="+mj-lt"/>
                <a:sym typeface="Wingdings" panose="05000000000000000000" pitchFamily="2" charset="2"/>
              </a:rPr>
              <a:t>Deterministic</a:t>
            </a:r>
            <a:r>
              <a:rPr lang="en-GB" sz="3200" dirty="0">
                <a:latin typeface="+mj-lt"/>
                <a:sym typeface="Wingdings" panose="05000000000000000000" pitchFamily="2" charset="2"/>
              </a:rPr>
              <a:t> mapping between tissue images and measurement coordinates enables exact ground truth validation for spatial analysis algorithms</a:t>
            </a:r>
            <a:endParaRPr lang="en-US" sz="3200" dirty="0">
              <a:latin typeface="+mj-lt"/>
              <a:sym typeface="Wingdings" panose="05000000000000000000" pitchFamily="2" charset="2"/>
            </a:endParaRPr>
          </a:p>
        </p:txBody>
      </p:sp>
      <p:grpSp>
        <p:nvGrpSpPr>
          <p:cNvPr id="287" name="Gruppo 286">
            <a:extLst>
              <a:ext uri="{FF2B5EF4-FFF2-40B4-BE49-F238E27FC236}">
                <a16:creationId xmlns:a16="http://schemas.microsoft.com/office/drawing/2014/main" id="{5D65CCAE-28DC-4634-9A16-98BAA75D65B2}"/>
              </a:ext>
            </a:extLst>
          </p:cNvPr>
          <p:cNvGrpSpPr/>
          <p:nvPr/>
        </p:nvGrpSpPr>
        <p:grpSpPr>
          <a:xfrm>
            <a:off x="13336861" y="28550181"/>
            <a:ext cx="1459718" cy="671472"/>
            <a:chOff x="127566" y="25640416"/>
            <a:chExt cx="2120342" cy="975642"/>
          </a:xfrm>
        </p:grpSpPr>
        <p:sp>
          <p:nvSpPr>
            <p:cNvPr id="288" name="Triangolo isoscele 287">
              <a:extLst>
                <a:ext uri="{FF2B5EF4-FFF2-40B4-BE49-F238E27FC236}">
                  <a16:creationId xmlns:a16="http://schemas.microsoft.com/office/drawing/2014/main" id="{47BDAFF4-F1B4-4595-863E-EEE5B2917434}"/>
                </a:ext>
              </a:extLst>
            </p:cNvPr>
            <p:cNvSpPr/>
            <p:nvPr/>
          </p:nvSpPr>
          <p:spPr>
            <a:xfrm rot="10800000">
              <a:off x="127566" y="25640416"/>
              <a:ext cx="2120342" cy="975642"/>
            </a:xfrm>
            <a:prstGeom prst="triangle">
              <a:avLst/>
            </a:prstGeom>
            <a:gradFill flip="none" rotWithShape="1">
              <a:gsLst>
                <a:gs pos="0">
                  <a:srgbClr val="EBE7E4"/>
                </a:gs>
                <a:gs pos="73000">
                  <a:schemeClr val="bg1"/>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71"/>
            </a:p>
          </p:txBody>
        </p:sp>
        <p:sp>
          <p:nvSpPr>
            <p:cNvPr id="289" name="CasellaDiTesto 288">
              <a:extLst>
                <a:ext uri="{FF2B5EF4-FFF2-40B4-BE49-F238E27FC236}">
                  <a16:creationId xmlns:a16="http://schemas.microsoft.com/office/drawing/2014/main" id="{EA4AE3A1-E24A-4515-89CC-C824D74A65E6}"/>
                </a:ext>
              </a:extLst>
            </p:cNvPr>
            <p:cNvSpPr txBox="1"/>
            <p:nvPr/>
          </p:nvSpPr>
          <p:spPr>
            <a:xfrm>
              <a:off x="933081" y="25640416"/>
              <a:ext cx="509312" cy="849672"/>
            </a:xfrm>
            <a:prstGeom prst="rect">
              <a:avLst/>
            </a:prstGeom>
            <a:noFill/>
          </p:spPr>
          <p:txBody>
            <a:bodyPr wrap="square" rtlCol="0">
              <a:spAutoFit/>
            </a:bodyPr>
            <a:lstStyle/>
            <a:p>
              <a:pPr algn="just">
                <a:spcAft>
                  <a:spcPts val="1288"/>
                </a:spcAft>
              </a:pPr>
              <a:r>
                <a:rPr lang="it-IT" sz="3200" b="1" dirty="0">
                  <a:latin typeface="Futura Bk BT" panose="020B0502020204020303" pitchFamily="34" charset="0"/>
                </a:rPr>
                <a:t>2</a:t>
              </a:r>
              <a:endParaRPr lang="en-US" sz="3200" b="1" dirty="0">
                <a:latin typeface="Futura Bk BT" panose="020B0502020204020303" pitchFamily="34" charset="0"/>
              </a:endParaRPr>
            </a:p>
          </p:txBody>
        </p:sp>
      </p:grpSp>
      <p:pic>
        <p:nvPicPr>
          <p:cNvPr id="300" name="Immagine 299">
            <a:extLst>
              <a:ext uri="{FF2B5EF4-FFF2-40B4-BE49-F238E27FC236}">
                <a16:creationId xmlns:a16="http://schemas.microsoft.com/office/drawing/2014/main" id="{DCCF4B92-7D8F-49F6-79F3-3DF0AC7D35B0}"/>
              </a:ext>
            </a:extLst>
          </p:cNvPr>
          <p:cNvPicPr>
            <a:picLocks noChangeAspect="1"/>
          </p:cNvPicPr>
          <p:nvPr/>
        </p:nvPicPr>
        <p:blipFill>
          <a:blip r:embed="rId5"/>
          <a:srcRect l="6526" t="5461" b="9673"/>
          <a:stretch/>
        </p:blipFill>
        <p:spPr>
          <a:xfrm>
            <a:off x="24369099" y="11440380"/>
            <a:ext cx="2427434" cy="1397988"/>
          </a:xfrm>
          <a:prstGeom prst="rect">
            <a:avLst/>
          </a:prstGeom>
        </p:spPr>
      </p:pic>
      <p:sp>
        <p:nvSpPr>
          <p:cNvPr id="303" name="CasellaDiTesto 302">
            <a:extLst>
              <a:ext uri="{FF2B5EF4-FFF2-40B4-BE49-F238E27FC236}">
                <a16:creationId xmlns:a16="http://schemas.microsoft.com/office/drawing/2014/main" id="{5885B334-E599-9BFD-ABB7-9D2EDB1A6A36}"/>
              </a:ext>
            </a:extLst>
          </p:cNvPr>
          <p:cNvSpPr txBox="1"/>
          <p:nvPr/>
        </p:nvSpPr>
        <p:spPr>
          <a:xfrm rot="16200000">
            <a:off x="22517835" y="11798897"/>
            <a:ext cx="2879245" cy="523220"/>
          </a:xfrm>
          <a:prstGeom prst="rect">
            <a:avLst/>
          </a:prstGeom>
          <a:noFill/>
        </p:spPr>
        <p:txBody>
          <a:bodyPr wrap="square" rtlCol="0">
            <a:spAutoFit/>
          </a:bodyPr>
          <a:lstStyle/>
          <a:p>
            <a:pPr algn="ctr"/>
            <a:r>
              <a:rPr lang="it-IT" sz="1400" i="1" dirty="0">
                <a:latin typeface="Futura Bk BT" panose="020B0502020204020303"/>
              </a:rPr>
              <a:t>human granuloma</a:t>
            </a:r>
          </a:p>
          <a:p>
            <a:pPr algn="ctr"/>
            <a:r>
              <a:rPr lang="it-IT" sz="1400" i="1" dirty="0" err="1">
                <a:latin typeface="Futura Bk BT" panose="020B0502020204020303"/>
              </a:rPr>
              <a:t>greyscale</a:t>
            </a:r>
            <a:endParaRPr lang="en-US" sz="1400" i="1" dirty="0">
              <a:latin typeface="Futura Bk BT" panose="020B0502020204020303"/>
            </a:endParaRPr>
          </a:p>
        </p:txBody>
      </p:sp>
      <p:sp>
        <p:nvSpPr>
          <p:cNvPr id="306" name="CasellaDiTesto 305">
            <a:extLst>
              <a:ext uri="{FF2B5EF4-FFF2-40B4-BE49-F238E27FC236}">
                <a16:creationId xmlns:a16="http://schemas.microsoft.com/office/drawing/2014/main" id="{90DCB767-79D6-D6CF-1372-3DB9240057C4}"/>
              </a:ext>
            </a:extLst>
          </p:cNvPr>
          <p:cNvSpPr txBox="1"/>
          <p:nvPr/>
        </p:nvSpPr>
        <p:spPr>
          <a:xfrm rot="16200000">
            <a:off x="19629127" y="11779736"/>
            <a:ext cx="1881008" cy="523220"/>
          </a:xfrm>
          <a:prstGeom prst="rect">
            <a:avLst/>
          </a:prstGeom>
          <a:noFill/>
        </p:spPr>
        <p:txBody>
          <a:bodyPr wrap="square" rtlCol="0">
            <a:spAutoFit/>
          </a:bodyPr>
          <a:lstStyle/>
          <a:p>
            <a:pPr algn="ctr"/>
            <a:r>
              <a:rPr lang="it-IT" sz="1400" i="1" dirty="0">
                <a:latin typeface="Futura Bk BT" panose="020B0502020204020303"/>
              </a:rPr>
              <a:t>human granuloma</a:t>
            </a:r>
          </a:p>
          <a:p>
            <a:pPr algn="ctr"/>
            <a:r>
              <a:rPr lang="it-IT" sz="1400" i="1" dirty="0">
                <a:latin typeface="Futura Bk BT" panose="020B0502020204020303"/>
              </a:rPr>
              <a:t>H&amp;E</a:t>
            </a:r>
            <a:endParaRPr lang="en-US" sz="1400" i="1" dirty="0">
              <a:latin typeface="Futura Bk BT" panose="020B0502020204020303"/>
            </a:endParaRPr>
          </a:p>
        </p:txBody>
      </p:sp>
      <p:cxnSp>
        <p:nvCxnSpPr>
          <p:cNvPr id="308" name="Connettore 2 307">
            <a:extLst>
              <a:ext uri="{FF2B5EF4-FFF2-40B4-BE49-F238E27FC236}">
                <a16:creationId xmlns:a16="http://schemas.microsoft.com/office/drawing/2014/main" id="{C91BDA1B-5C4F-FF13-A112-D30AD8474319}"/>
              </a:ext>
            </a:extLst>
          </p:cNvPr>
          <p:cNvCxnSpPr>
            <a:cxnSpLocks/>
          </p:cNvCxnSpPr>
          <p:nvPr/>
        </p:nvCxnSpPr>
        <p:spPr>
          <a:xfrm>
            <a:off x="23236936" y="12080539"/>
            <a:ext cx="42833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pic>
        <p:nvPicPr>
          <p:cNvPr id="316" name="Immagine 315">
            <a:extLst>
              <a:ext uri="{FF2B5EF4-FFF2-40B4-BE49-F238E27FC236}">
                <a16:creationId xmlns:a16="http://schemas.microsoft.com/office/drawing/2014/main" id="{BD031D66-2E14-B45B-EA16-04136D3CBC99}"/>
              </a:ext>
            </a:extLst>
          </p:cNvPr>
          <p:cNvPicPr>
            <a:picLocks noChangeAspect="1"/>
          </p:cNvPicPr>
          <p:nvPr/>
        </p:nvPicPr>
        <p:blipFill>
          <a:blip r:embed="rId6"/>
          <a:srcRect l="1109"/>
          <a:stretch/>
        </p:blipFill>
        <p:spPr>
          <a:xfrm>
            <a:off x="27370235" y="11535726"/>
            <a:ext cx="1711501" cy="1263761"/>
          </a:xfrm>
          <a:prstGeom prst="rect">
            <a:avLst/>
          </a:prstGeom>
        </p:spPr>
      </p:pic>
      <p:cxnSp>
        <p:nvCxnSpPr>
          <p:cNvPr id="317" name="Connettore 2 316">
            <a:extLst>
              <a:ext uri="{FF2B5EF4-FFF2-40B4-BE49-F238E27FC236}">
                <a16:creationId xmlns:a16="http://schemas.microsoft.com/office/drawing/2014/main" id="{1323FF6F-0BCC-7BE8-BF90-F6DDBF64BA07}"/>
              </a:ext>
            </a:extLst>
          </p:cNvPr>
          <p:cNvCxnSpPr>
            <a:cxnSpLocks/>
          </p:cNvCxnSpPr>
          <p:nvPr/>
        </p:nvCxnSpPr>
        <p:spPr>
          <a:xfrm>
            <a:off x="26796533" y="12098957"/>
            <a:ext cx="42833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pic>
        <p:nvPicPr>
          <p:cNvPr id="5" name="Immagine 4">
            <a:extLst>
              <a:ext uri="{FF2B5EF4-FFF2-40B4-BE49-F238E27FC236}">
                <a16:creationId xmlns:a16="http://schemas.microsoft.com/office/drawing/2014/main" id="{9BF52CD0-444A-D933-5A7C-28350B36F9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794812" y="11377162"/>
            <a:ext cx="2427434" cy="1445448"/>
          </a:xfrm>
          <a:prstGeom prst="rect">
            <a:avLst/>
          </a:prstGeom>
        </p:spPr>
      </p:pic>
      <p:grpSp>
        <p:nvGrpSpPr>
          <p:cNvPr id="7" name="Gruppo 6">
            <a:extLst>
              <a:ext uri="{FF2B5EF4-FFF2-40B4-BE49-F238E27FC236}">
                <a16:creationId xmlns:a16="http://schemas.microsoft.com/office/drawing/2014/main" id="{169D082C-336B-1AE7-E4BC-8FE4426A7E8E}"/>
              </a:ext>
            </a:extLst>
          </p:cNvPr>
          <p:cNvGrpSpPr/>
          <p:nvPr/>
        </p:nvGrpSpPr>
        <p:grpSpPr>
          <a:xfrm>
            <a:off x="333766" y="10171263"/>
            <a:ext cx="19303465" cy="11536860"/>
            <a:chOff x="10474137" y="14105182"/>
            <a:chExt cx="8257010" cy="7465177"/>
          </a:xfrm>
        </p:grpSpPr>
        <p:sp>
          <p:nvSpPr>
            <p:cNvPr id="10" name="Rettangolo con angoli arrotondati 9">
              <a:extLst>
                <a:ext uri="{FF2B5EF4-FFF2-40B4-BE49-F238E27FC236}">
                  <a16:creationId xmlns:a16="http://schemas.microsoft.com/office/drawing/2014/main" id="{1194423D-ED39-3B7F-74A9-F43ECFDBEA43}"/>
                </a:ext>
              </a:extLst>
            </p:cNvPr>
            <p:cNvSpPr/>
            <p:nvPr/>
          </p:nvSpPr>
          <p:spPr>
            <a:xfrm>
              <a:off x="10474138" y="14277423"/>
              <a:ext cx="8257009" cy="7292936"/>
            </a:xfrm>
            <a:prstGeom prst="roundRect">
              <a:avLst>
                <a:gd name="adj" fmla="val 620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ttangolo con angoli arrotondati 11">
              <a:extLst>
                <a:ext uri="{FF2B5EF4-FFF2-40B4-BE49-F238E27FC236}">
                  <a16:creationId xmlns:a16="http://schemas.microsoft.com/office/drawing/2014/main" id="{FB0CCA78-9038-324C-8D73-CCA7A03964CF}"/>
                </a:ext>
              </a:extLst>
            </p:cNvPr>
            <p:cNvSpPr/>
            <p:nvPr/>
          </p:nvSpPr>
          <p:spPr>
            <a:xfrm>
              <a:off x="10474137" y="14105182"/>
              <a:ext cx="8257009" cy="715055"/>
            </a:xfrm>
            <a:prstGeom prst="roundRect">
              <a:avLst>
                <a:gd name="adj" fmla="val 46361"/>
              </a:avLst>
            </a:prstGeom>
            <a:solidFill>
              <a:srgbClr val="6A7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ttangolo 14">
              <a:extLst>
                <a:ext uri="{FF2B5EF4-FFF2-40B4-BE49-F238E27FC236}">
                  <a16:creationId xmlns:a16="http://schemas.microsoft.com/office/drawing/2014/main" id="{C3FA5D5E-AA3C-43F1-E7A1-6A84852A5CB2}"/>
                </a:ext>
              </a:extLst>
            </p:cNvPr>
            <p:cNvSpPr/>
            <p:nvPr/>
          </p:nvSpPr>
          <p:spPr>
            <a:xfrm>
              <a:off x="10474138" y="14448909"/>
              <a:ext cx="8257009" cy="371326"/>
            </a:xfrm>
            <a:prstGeom prst="rect">
              <a:avLst/>
            </a:prstGeom>
            <a:solidFill>
              <a:srgbClr val="6A7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7" name="CasellaDiTesto 56">
            <a:extLst>
              <a:ext uri="{FF2B5EF4-FFF2-40B4-BE49-F238E27FC236}">
                <a16:creationId xmlns:a16="http://schemas.microsoft.com/office/drawing/2014/main" id="{17DA509E-6FB0-4227-8817-416315406FEF}"/>
              </a:ext>
            </a:extLst>
          </p:cNvPr>
          <p:cNvSpPr txBox="1"/>
          <p:nvPr/>
        </p:nvSpPr>
        <p:spPr>
          <a:xfrm>
            <a:off x="132843" y="10333228"/>
            <a:ext cx="6788096" cy="584775"/>
          </a:xfrm>
          <a:prstGeom prst="rect">
            <a:avLst/>
          </a:prstGeom>
          <a:noFill/>
        </p:spPr>
        <p:txBody>
          <a:bodyPr wrap="square" rtlCol="0">
            <a:spAutoFit/>
          </a:bodyPr>
          <a:lstStyle/>
          <a:p>
            <a:pPr algn="ctr">
              <a:spcAft>
                <a:spcPts val="1288"/>
              </a:spcAft>
            </a:pPr>
            <a:r>
              <a:rPr lang="it-IT" sz="3200" b="1" dirty="0">
                <a:solidFill>
                  <a:schemeClr val="bg1"/>
                </a:solidFill>
                <a:latin typeface="Futura Bk BT" panose="020B0502020204020303" pitchFamily="34" charset="0"/>
              </a:rPr>
              <a:t> 1. Configuration parameters</a:t>
            </a:r>
            <a:endParaRPr lang="en-US" sz="3200" b="1" dirty="0">
              <a:solidFill>
                <a:schemeClr val="bg1"/>
              </a:solidFill>
              <a:latin typeface="Futura Bk BT" panose="020B0502020204020303" pitchFamily="34" charset="0"/>
            </a:endParaRPr>
          </a:p>
        </p:txBody>
      </p:sp>
      <p:grpSp>
        <p:nvGrpSpPr>
          <p:cNvPr id="494" name="Gruppo 493">
            <a:extLst>
              <a:ext uri="{FF2B5EF4-FFF2-40B4-BE49-F238E27FC236}">
                <a16:creationId xmlns:a16="http://schemas.microsoft.com/office/drawing/2014/main" id="{DE57F966-578C-094B-E07D-5D81ECF9EEC3}"/>
              </a:ext>
            </a:extLst>
          </p:cNvPr>
          <p:cNvGrpSpPr/>
          <p:nvPr/>
        </p:nvGrpSpPr>
        <p:grpSpPr>
          <a:xfrm>
            <a:off x="358677" y="21818067"/>
            <a:ext cx="19400221" cy="5873620"/>
            <a:chOff x="18588391" y="14017082"/>
            <a:chExt cx="8257010" cy="6931122"/>
          </a:xfrm>
        </p:grpSpPr>
        <p:sp>
          <p:nvSpPr>
            <p:cNvPr id="495" name="Rettangolo con angoli arrotondati 494">
              <a:extLst>
                <a:ext uri="{FF2B5EF4-FFF2-40B4-BE49-F238E27FC236}">
                  <a16:creationId xmlns:a16="http://schemas.microsoft.com/office/drawing/2014/main" id="{AE677F03-CFF1-D65C-FFA1-CC8CAB6B011F}"/>
                </a:ext>
              </a:extLst>
            </p:cNvPr>
            <p:cNvSpPr/>
            <p:nvPr/>
          </p:nvSpPr>
          <p:spPr>
            <a:xfrm>
              <a:off x="18588392" y="14185851"/>
              <a:ext cx="8257009" cy="6762353"/>
            </a:xfrm>
            <a:prstGeom prst="roundRect">
              <a:avLst>
                <a:gd name="adj" fmla="val 620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ttangolo con angoli arrotondati 495">
              <a:extLst>
                <a:ext uri="{FF2B5EF4-FFF2-40B4-BE49-F238E27FC236}">
                  <a16:creationId xmlns:a16="http://schemas.microsoft.com/office/drawing/2014/main" id="{7F406494-66BD-A739-8897-1816548E4220}"/>
                </a:ext>
              </a:extLst>
            </p:cNvPr>
            <p:cNvSpPr/>
            <p:nvPr/>
          </p:nvSpPr>
          <p:spPr>
            <a:xfrm>
              <a:off x="18588391" y="14017082"/>
              <a:ext cx="8257009" cy="810088"/>
            </a:xfrm>
            <a:prstGeom prst="roundRect">
              <a:avLst>
                <a:gd name="adj" fmla="val 46361"/>
              </a:avLst>
            </a:prstGeom>
            <a:solidFill>
              <a:srgbClr val="6A7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ttangolo 496">
              <a:extLst>
                <a:ext uri="{FF2B5EF4-FFF2-40B4-BE49-F238E27FC236}">
                  <a16:creationId xmlns:a16="http://schemas.microsoft.com/office/drawing/2014/main" id="{C26DF9C1-4C45-0285-9D9F-06338FD97B42}"/>
                </a:ext>
              </a:extLst>
            </p:cNvPr>
            <p:cNvSpPr/>
            <p:nvPr/>
          </p:nvSpPr>
          <p:spPr>
            <a:xfrm>
              <a:off x="18588392" y="14357337"/>
              <a:ext cx="8257009" cy="583487"/>
            </a:xfrm>
            <a:prstGeom prst="rect">
              <a:avLst/>
            </a:prstGeom>
            <a:solidFill>
              <a:srgbClr val="6A7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1" name="Gruppo 500">
            <a:extLst>
              <a:ext uri="{FF2B5EF4-FFF2-40B4-BE49-F238E27FC236}">
                <a16:creationId xmlns:a16="http://schemas.microsoft.com/office/drawing/2014/main" id="{58E11AF0-DB11-3205-F350-BFFC58620EA6}"/>
              </a:ext>
            </a:extLst>
          </p:cNvPr>
          <p:cNvGrpSpPr/>
          <p:nvPr/>
        </p:nvGrpSpPr>
        <p:grpSpPr>
          <a:xfrm>
            <a:off x="28027061" y="37771572"/>
            <a:ext cx="1910692" cy="3161101"/>
            <a:chOff x="28628086" y="38649778"/>
            <a:chExt cx="1432833" cy="2425309"/>
          </a:xfrm>
        </p:grpSpPr>
        <p:pic>
          <p:nvPicPr>
            <p:cNvPr id="502" name="Immagine 501">
              <a:extLst>
                <a:ext uri="{FF2B5EF4-FFF2-40B4-BE49-F238E27FC236}">
                  <a16:creationId xmlns:a16="http://schemas.microsoft.com/office/drawing/2014/main" id="{7F03E88F-C8E8-40E2-4EBC-071F6CBF554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8628086" y="38649778"/>
              <a:ext cx="1432833" cy="2425309"/>
            </a:xfrm>
            <a:prstGeom prst="rect">
              <a:avLst/>
            </a:prstGeom>
          </p:spPr>
        </p:pic>
        <p:sp>
          <p:nvSpPr>
            <p:cNvPr id="503" name="Rettangolo 502">
              <a:extLst>
                <a:ext uri="{FF2B5EF4-FFF2-40B4-BE49-F238E27FC236}">
                  <a16:creationId xmlns:a16="http://schemas.microsoft.com/office/drawing/2014/main" id="{2E4DB0D4-5E98-09C9-4873-D0ACCBCD4F71}"/>
                </a:ext>
              </a:extLst>
            </p:cNvPr>
            <p:cNvSpPr/>
            <p:nvPr/>
          </p:nvSpPr>
          <p:spPr>
            <a:xfrm>
              <a:off x="28703588" y="39114413"/>
              <a:ext cx="1276350" cy="128111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4" name="Immagine 503">
              <a:extLst>
                <a:ext uri="{FF2B5EF4-FFF2-40B4-BE49-F238E27FC236}">
                  <a16:creationId xmlns:a16="http://schemas.microsoft.com/office/drawing/2014/main" id="{2344F9FB-8428-5876-47F9-B82C89B434B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727382" y="39114413"/>
              <a:ext cx="1230313" cy="1230313"/>
            </a:xfrm>
            <a:prstGeom prst="rect">
              <a:avLst/>
            </a:prstGeom>
          </p:spPr>
        </p:pic>
      </p:grpSp>
      <p:pic>
        <p:nvPicPr>
          <p:cNvPr id="3" name="Picture 2">
            <a:extLst>
              <a:ext uri="{FF2B5EF4-FFF2-40B4-BE49-F238E27FC236}">
                <a16:creationId xmlns:a16="http://schemas.microsoft.com/office/drawing/2014/main" id="{518BB0E2-88A0-53E7-A6D2-BF2AAE08836A}"/>
              </a:ext>
            </a:extLst>
          </p:cNvPr>
          <p:cNvPicPr>
            <a:picLocks noChangeAspect="1"/>
          </p:cNvPicPr>
          <p:nvPr/>
        </p:nvPicPr>
        <p:blipFill>
          <a:blip r:embed="rId10"/>
          <a:stretch>
            <a:fillRect/>
          </a:stretch>
        </p:blipFill>
        <p:spPr>
          <a:xfrm>
            <a:off x="24921702" y="41188632"/>
            <a:ext cx="5337252" cy="1651643"/>
          </a:xfrm>
          <a:prstGeom prst="rect">
            <a:avLst/>
          </a:prstGeom>
        </p:spPr>
      </p:pic>
      <p:sp>
        <p:nvSpPr>
          <p:cNvPr id="17" name="CasellaDiTesto 463">
            <a:extLst>
              <a:ext uri="{FF2B5EF4-FFF2-40B4-BE49-F238E27FC236}">
                <a16:creationId xmlns:a16="http://schemas.microsoft.com/office/drawing/2014/main" id="{B5097DB0-A061-3EBC-6308-9755E4395FFC}"/>
              </a:ext>
            </a:extLst>
          </p:cNvPr>
          <p:cNvSpPr txBox="1"/>
          <p:nvPr/>
        </p:nvSpPr>
        <p:spPr>
          <a:xfrm>
            <a:off x="557135" y="11354991"/>
            <a:ext cx="19110669" cy="10926068"/>
          </a:xfrm>
          <a:prstGeom prst="rect">
            <a:avLst/>
          </a:prstGeom>
          <a:noFill/>
        </p:spPr>
        <p:txBody>
          <a:bodyPr wrap="square">
            <a:spAutoFit/>
          </a:bodyPr>
          <a:lstStyle/>
          <a:p>
            <a:r>
              <a:rPr lang="en-GB" sz="2200" dirty="0">
                <a:latin typeface="Futura Medium" panose="020B0602020204020303" pitchFamily="34" charset="-79"/>
                <a:cs typeface="Futura Medium" panose="020B0602020204020303" pitchFamily="34" charset="-79"/>
              </a:rPr>
              <a:t> The framework operates through a flexible parameterization system allowing </a:t>
            </a:r>
            <a:r>
              <a:rPr lang="en-GB" sz="2200" b="1" dirty="0">
                <a:effectLst>
                  <a:outerShdw blurRad="38100" dist="38100" dir="2700000" algn="tl">
                    <a:srgbClr val="000000">
                      <a:alpha val="43137"/>
                    </a:srgbClr>
                  </a:outerShdw>
                </a:effectLst>
                <a:latin typeface="Futura Medium" panose="020B0602020204020303" pitchFamily="34" charset="-79"/>
                <a:cs typeface="Futura Medium" panose="020B0602020204020303" pitchFamily="34" charset="-79"/>
              </a:rPr>
              <a:t>both full control </a:t>
            </a:r>
            <a:r>
              <a:rPr lang="en-GB" sz="2200" dirty="0">
                <a:latin typeface="Futura Medium" panose="020B0602020204020303" pitchFamily="34" charset="-79"/>
                <a:cs typeface="Futura Medium" panose="020B0602020204020303" pitchFamily="34" charset="-79"/>
              </a:rPr>
              <a:t>on </a:t>
            </a:r>
            <a:r>
              <a:rPr lang="en-GB" sz="2200" b="1" dirty="0">
                <a:effectLst>
                  <a:outerShdw blurRad="38100" dist="38100" dir="2700000" algn="tl">
                    <a:srgbClr val="000000">
                      <a:alpha val="43137"/>
                    </a:srgbClr>
                  </a:outerShdw>
                </a:effectLst>
                <a:latin typeface="Futura Medium" panose="020B0602020204020303" pitchFamily="34" charset="-79"/>
                <a:cs typeface="Futura Medium" panose="020B0602020204020303" pitchFamily="34" charset="-79"/>
              </a:rPr>
              <a:t>custom configurations </a:t>
            </a:r>
            <a:r>
              <a:rPr lang="en-GB" sz="2200" dirty="0">
                <a:latin typeface="Futura Medium" panose="020B0602020204020303" pitchFamily="34" charset="-79"/>
                <a:cs typeface="Futura Medium" panose="020B0602020204020303" pitchFamily="34" charset="-79"/>
              </a:rPr>
              <a:t>but also giving </a:t>
            </a:r>
          </a:p>
          <a:p>
            <a:r>
              <a:rPr lang="en-GB" sz="2200" dirty="0">
                <a:latin typeface="Futura Medium" panose="020B0602020204020303" pitchFamily="34" charset="-79"/>
                <a:cs typeface="Futura Medium" panose="020B0602020204020303" pitchFamily="34" charset="-79"/>
              </a:rPr>
              <a:t>  pre-defined difficulty levels for a quick start:</a:t>
            </a:r>
          </a:p>
          <a:p>
            <a:r>
              <a:rPr lang="en-GB" sz="2200" dirty="0">
                <a:latin typeface="Futura Medium" panose="020B0602020204020303" pitchFamily="34" charset="-79"/>
                <a:cs typeface="Futura Medium" panose="020B0602020204020303" pitchFamily="34" charset="-79"/>
              </a:rPr>
              <a:t> </a:t>
            </a:r>
            <a:r>
              <a:rPr lang="en-GB" sz="2200" b="1" dirty="0">
                <a:solidFill>
                  <a:srgbClr val="FF0000"/>
                </a:solidFill>
                <a:latin typeface="Futura Medium" panose="020B0602020204020303" pitchFamily="34" charset="-79"/>
                <a:cs typeface="Futura Medium" panose="020B0602020204020303" pitchFamily="34" charset="-79"/>
              </a:rPr>
              <a:t>Custom Parameter Control System:</a:t>
            </a:r>
          </a:p>
          <a:p>
            <a:r>
              <a:rPr lang="en-GB" sz="2200" dirty="0">
                <a:latin typeface="Futura Medium" panose="020B0602020204020303" pitchFamily="34" charset="-79"/>
                <a:cs typeface="Futura Medium" panose="020B0602020204020303" pitchFamily="34" charset="-79"/>
              </a:rPr>
              <a:t>  - </a:t>
            </a:r>
            <a:r>
              <a:rPr lang="en-GB" sz="2200" b="1" dirty="0">
                <a:latin typeface="Futura Medium" panose="020B0602020204020303" pitchFamily="34" charset="-79"/>
                <a:cs typeface="Futura Medium" panose="020B0602020204020303" pitchFamily="34" charset="-79"/>
              </a:rPr>
              <a:t>Spatial organization</a:t>
            </a:r>
            <a:r>
              <a:rPr lang="en-GB" sz="2200" dirty="0">
                <a:latin typeface="Futura Medium" panose="020B0602020204020303" pitchFamily="34" charset="-79"/>
                <a:cs typeface="Futura Medium" panose="020B0602020204020303" pitchFamily="34" charset="-79"/>
              </a:rPr>
              <a:t>: Users precisely control spatial noise intensity (0.5-2.0 scale), correlation range (15-100</a:t>
            </a:r>
            <a:r>
              <a:rPr lang="el-GR" sz="2200" dirty="0">
                <a:latin typeface="Futura Medium" panose="020B0602020204020303" pitchFamily="34" charset="-79"/>
                <a:cs typeface="Futura Medium" panose="020B0602020204020303" pitchFamily="34" charset="-79"/>
              </a:rPr>
              <a:t>μ</a:t>
            </a:r>
            <a:r>
              <a:rPr lang="en-GB" sz="2200" dirty="0">
                <a:latin typeface="Futura Medium" panose="020B0602020204020303" pitchFamily="34" charset="-79"/>
                <a:cs typeface="Futura Medium" panose="020B0602020204020303" pitchFamily="34" charset="-79"/>
              </a:rPr>
              <a:t>m), and pattern types (continuous gradients, multi-scale hierarchies, or non-stationary patches with region-specific properties)</a:t>
            </a:r>
          </a:p>
          <a:p>
            <a:r>
              <a:rPr lang="en-GB" sz="2200" dirty="0">
                <a:latin typeface="Futura Medium" panose="020B0602020204020303" pitchFamily="34" charset="-79"/>
                <a:cs typeface="Futura Medium" panose="020B0602020204020303" pitchFamily="34" charset="-79"/>
              </a:rPr>
              <a:t>  - </a:t>
            </a:r>
            <a:r>
              <a:rPr lang="en-GB" sz="2200" b="1" dirty="0">
                <a:latin typeface="Futura Medium" panose="020B0602020204020303" pitchFamily="34" charset="-79"/>
                <a:cs typeface="Futura Medium" panose="020B0602020204020303" pitchFamily="34" charset="-79"/>
              </a:rPr>
              <a:t>Cell type definition</a:t>
            </a:r>
            <a:r>
              <a:rPr lang="en-GB" sz="2200" dirty="0">
                <a:latin typeface="Futura Medium" panose="020B0602020204020303" pitchFamily="34" charset="-79"/>
                <a:cs typeface="Futura Medium" panose="020B0602020204020303" pitchFamily="34" charset="-79"/>
              </a:rPr>
              <a:t>: Configurable marker gene counts (3-15 per type), expression fold-changes (+0.8 to  +3.0 log-scale), and inter-type overlap percentages (0-50%) to simulate varying degrees of cell type distinctiveness</a:t>
            </a:r>
          </a:p>
          <a:p>
            <a:r>
              <a:rPr lang="en-GB" sz="2200" dirty="0">
                <a:latin typeface="Futura Medium" panose="020B0602020204020303" pitchFamily="34" charset="-79"/>
                <a:cs typeface="Futura Medium" panose="020B0602020204020303" pitchFamily="34" charset="-79"/>
              </a:rPr>
              <a:t>  - </a:t>
            </a:r>
            <a:r>
              <a:rPr lang="en-GB" sz="2200" b="1" dirty="0">
                <a:latin typeface="Futura Medium" panose="020B0602020204020303" pitchFamily="34" charset="-79"/>
                <a:cs typeface="Futura Medium" panose="020B0602020204020303" pitchFamily="34" charset="-79"/>
              </a:rPr>
              <a:t>Technical artifact </a:t>
            </a:r>
            <a:r>
              <a:rPr lang="en-GB" sz="2200" b="1" dirty="0" err="1">
                <a:latin typeface="Futura Medium" panose="020B0602020204020303" pitchFamily="34" charset="-79"/>
                <a:cs typeface="Futura Medium" panose="020B0602020204020303" pitchFamily="34" charset="-79"/>
              </a:rPr>
              <a:t>modeling</a:t>
            </a:r>
            <a:r>
              <a:rPr lang="en-GB" sz="2200" dirty="0">
                <a:latin typeface="Futura Medium" panose="020B0602020204020303" pitchFamily="34" charset="-79"/>
                <a:cs typeface="Futura Medium" panose="020B0602020204020303" pitchFamily="34" charset="-79"/>
              </a:rPr>
              <a:t>: Independent control of dropout rates (5-70%), ambient RNA contamination (0-15%), library size variation (CV 0.1-0.8), and gene-specific biases reflecting real platform characteristics</a:t>
            </a:r>
          </a:p>
          <a:p>
            <a:r>
              <a:rPr lang="en-GB" sz="2200" dirty="0">
                <a:latin typeface="Futura Medium" panose="020B0602020204020303" pitchFamily="34" charset="-79"/>
                <a:cs typeface="Futura Medium" panose="020B0602020204020303" pitchFamily="34" charset="-79"/>
              </a:rPr>
              <a:t>  - </a:t>
            </a:r>
            <a:r>
              <a:rPr lang="en-GB" sz="2200" b="1" dirty="0">
                <a:latin typeface="Futura Medium" panose="020B0602020204020303" pitchFamily="34" charset="-79"/>
                <a:cs typeface="Futura Medium" panose="020B0602020204020303" pitchFamily="34" charset="-79"/>
              </a:rPr>
              <a:t>Biological complexity modules</a:t>
            </a:r>
            <a:r>
              <a:rPr lang="en-GB" sz="2200" dirty="0">
                <a:latin typeface="Futura Medium" panose="020B0602020204020303" pitchFamily="34" charset="-79"/>
                <a:cs typeface="Futura Medium" panose="020B0602020204020303" pitchFamily="34" charset="-79"/>
              </a:rPr>
              <a:t>: Toggle advanced features including ligand-receptor interactions (10-50 pairs), temporal dynamics with </a:t>
            </a:r>
            <a:r>
              <a:rPr lang="en-GB" sz="2200" dirty="0" err="1">
                <a:latin typeface="Futura Medium" panose="020B0602020204020303" pitchFamily="34" charset="-79"/>
                <a:cs typeface="Futura Medium" panose="020B0602020204020303" pitchFamily="34" charset="-79"/>
              </a:rPr>
              <a:t>pseudotime</a:t>
            </a:r>
            <a:r>
              <a:rPr lang="en-GB" sz="2200" dirty="0">
                <a:latin typeface="Futura Medium" panose="020B0602020204020303" pitchFamily="34" charset="-79"/>
                <a:cs typeface="Futura Medium" panose="020B0602020204020303" pitchFamily="34" charset="-79"/>
              </a:rPr>
              <a:t> trajectories, alternative splicing regulation (20-60% of genes), anisotropic patterns along tissue structures, and 3D microenvironment effects</a:t>
            </a:r>
          </a:p>
          <a:p>
            <a:r>
              <a:rPr lang="en-GB" sz="2200" b="1" dirty="0">
                <a:solidFill>
                  <a:srgbClr val="FF0000"/>
                </a:solidFill>
                <a:latin typeface="Futura Medium" panose="020B0602020204020303" pitchFamily="34" charset="-79"/>
                <a:cs typeface="Futura Medium" panose="020B0602020204020303" pitchFamily="34" charset="-79"/>
              </a:rPr>
              <a:t> </a:t>
            </a:r>
          </a:p>
          <a:p>
            <a:r>
              <a:rPr lang="en-GB" sz="2200" b="1" dirty="0">
                <a:solidFill>
                  <a:srgbClr val="FF0000"/>
                </a:solidFill>
                <a:latin typeface="Futura Medium" panose="020B0602020204020303" pitchFamily="34" charset="-79"/>
                <a:cs typeface="Futura Medium" panose="020B0602020204020303" pitchFamily="34" charset="-79"/>
              </a:rPr>
              <a:t> Pre-defined Difficulty Tiers:</a:t>
            </a:r>
          </a:p>
          <a:p>
            <a:r>
              <a:rPr lang="en-GB" sz="2200" dirty="0">
                <a:latin typeface="Futura Medium" panose="020B0602020204020303" pitchFamily="34" charset="-79"/>
                <a:cs typeface="Futura Medium" panose="020B0602020204020303" pitchFamily="34" charset="-79"/>
              </a:rPr>
              <a:t>- </a:t>
            </a:r>
            <a:r>
              <a:rPr lang="en-GB" sz="2200" b="1" dirty="0">
                <a:latin typeface="Futura Medium" panose="020B0602020204020303" pitchFamily="34" charset="-79"/>
                <a:cs typeface="Futura Medium" panose="020B0602020204020303" pitchFamily="34" charset="-79"/>
              </a:rPr>
              <a:t>Easy Level</a:t>
            </a:r>
            <a:r>
              <a:rPr lang="en-GB" sz="2200" dirty="0">
                <a:latin typeface="Futura Medium" panose="020B0602020204020303" pitchFamily="34" charset="-79"/>
                <a:cs typeface="Futura Medium" panose="020B0602020204020303" pitchFamily="34" charset="-79"/>
              </a:rPr>
              <a:t>: Creates ideal analytical conditions with 10 strong marker genes per cell type (+2.0  log-fold), zero overlap between types, minimal spatial noise (intensity 0.5, range 50</a:t>
            </a:r>
            <a:r>
              <a:rPr lang="el-GR" sz="2200" dirty="0">
                <a:latin typeface="Futura Medium" panose="020B0602020204020303" pitchFamily="34" charset="-79"/>
                <a:cs typeface="Futura Medium" panose="020B0602020204020303" pitchFamily="34" charset="-79"/>
              </a:rPr>
              <a:t>μ</a:t>
            </a:r>
            <a:r>
              <a:rPr lang="en-GB" sz="2200" dirty="0">
                <a:latin typeface="Futura Medium" panose="020B0602020204020303" pitchFamily="34" charset="-79"/>
                <a:cs typeface="Futura Medium" panose="020B0602020204020303" pitchFamily="34" charset="-79"/>
              </a:rPr>
              <a:t>m), low dropout  (5-15%), and high dispersion parameters (3.0-1.5 range) for clear cluster separation</a:t>
            </a:r>
          </a:p>
          <a:p>
            <a:r>
              <a:rPr lang="en-GB" sz="2200" dirty="0">
                <a:latin typeface="Futura Medium" panose="020B0602020204020303" pitchFamily="34" charset="-79"/>
                <a:cs typeface="Futura Medium" panose="020B0602020204020303" pitchFamily="34" charset="-79"/>
              </a:rPr>
              <a:t>  - </a:t>
            </a:r>
            <a:r>
              <a:rPr lang="en-GB" sz="2200" b="1" dirty="0">
                <a:latin typeface="Futura Medium" panose="020B0602020204020303" pitchFamily="34" charset="-79"/>
                <a:cs typeface="Futura Medium" panose="020B0602020204020303" pitchFamily="34" charset="-79"/>
              </a:rPr>
              <a:t>Medium Level</a:t>
            </a:r>
            <a:r>
              <a:rPr lang="en-GB" sz="2200" dirty="0">
                <a:latin typeface="Futura Medium" panose="020B0602020204020303" pitchFamily="34" charset="-79"/>
                <a:cs typeface="Futura Medium" panose="020B0602020204020303" pitchFamily="34" charset="-79"/>
              </a:rPr>
              <a:t>: Introduces realistic complexity with 7 moderate markers (+1.2 log-fold), 20% inter-type  overlap, substantial spatial correlation (intensity 1.0, range 30</a:t>
            </a:r>
            <a:r>
              <a:rPr lang="el-GR" sz="2200" dirty="0">
                <a:latin typeface="Futura Medium" panose="020B0602020204020303" pitchFamily="34" charset="-79"/>
                <a:cs typeface="Futura Medium" panose="020B0602020204020303" pitchFamily="34" charset="-79"/>
              </a:rPr>
              <a:t>μ</a:t>
            </a:r>
            <a:r>
              <a:rPr lang="en-GB" sz="2200" dirty="0">
                <a:latin typeface="Futura Medium" panose="020B0602020204020303" pitchFamily="34" charset="-79"/>
                <a:cs typeface="Futura Medium" panose="020B0602020204020303" pitchFamily="34" charset="-79"/>
              </a:rPr>
              <a:t>m), moderate dropout (15-30%), and  intermediate dispersion (2.0-1.0) reflecting high-quality experimental data</a:t>
            </a:r>
          </a:p>
          <a:p>
            <a:r>
              <a:rPr lang="en-GB" sz="2200" dirty="0">
                <a:latin typeface="Futura Medium" panose="020B0602020204020303" pitchFamily="34" charset="-79"/>
                <a:cs typeface="Futura Medium" panose="020B0602020204020303" pitchFamily="34" charset="-79"/>
              </a:rPr>
              <a:t>  - </a:t>
            </a:r>
            <a:r>
              <a:rPr lang="en-GB" sz="2200" b="1" dirty="0">
                <a:latin typeface="Futura Medium" panose="020B0602020204020303" pitchFamily="34" charset="-79"/>
                <a:cs typeface="Futura Medium" panose="020B0602020204020303" pitchFamily="34" charset="-79"/>
              </a:rPr>
              <a:t>Hard Level:</a:t>
            </a:r>
            <a:r>
              <a:rPr lang="en-GB" sz="2200" dirty="0">
                <a:latin typeface="Futura Medium" panose="020B0602020204020303" pitchFamily="34" charset="-79"/>
                <a:cs typeface="Futura Medium" panose="020B0602020204020303" pitchFamily="34" charset="-79"/>
              </a:rPr>
              <a:t> Generates extreme analytical challenges with only 5 weak markers (+0.8 log-fold), 40% overlap creating ambiguous boundaries, strong spatial noise (intensity 1.5, range 15</a:t>
            </a:r>
            <a:r>
              <a:rPr lang="el-GR" sz="2200" dirty="0">
                <a:latin typeface="Futura Medium" panose="020B0602020204020303" pitchFamily="34" charset="-79"/>
                <a:cs typeface="Futura Medium" panose="020B0602020204020303" pitchFamily="34" charset="-79"/>
              </a:rPr>
              <a:t>μ</a:t>
            </a:r>
            <a:r>
              <a:rPr lang="en-GB" sz="2200" dirty="0">
                <a:latin typeface="Futura Medium" panose="020B0602020204020303" pitchFamily="34" charset="-79"/>
                <a:cs typeface="Futura Medium" panose="020B0602020204020303" pitchFamily="34" charset="-79"/>
              </a:rPr>
              <a:t>m), severe dropout (30-70%), low dispersion (1.5-0.8), and additional random noise (SD 0.4) mimicking difficult real-world datasets</a:t>
            </a:r>
            <a:endParaRPr lang="en-GB" sz="2200" b="1" dirty="0">
              <a:solidFill>
                <a:srgbClr val="FF0000"/>
              </a:solidFill>
              <a:latin typeface="Futura Medium" panose="020B0602020204020303" pitchFamily="34" charset="-79"/>
              <a:cs typeface="Futura Medium" panose="020B0602020204020303" pitchFamily="34" charset="-79"/>
            </a:endParaRPr>
          </a:p>
          <a:p>
            <a:endParaRPr lang="en-GB" sz="2200" b="1" dirty="0">
              <a:solidFill>
                <a:srgbClr val="FF0000"/>
              </a:solidFill>
              <a:latin typeface="Futura Medium" panose="020B0602020204020303" pitchFamily="34" charset="-79"/>
              <a:cs typeface="Futura Medium" panose="020B0602020204020303" pitchFamily="34" charset="-79"/>
            </a:endParaRPr>
          </a:p>
          <a:p>
            <a:r>
              <a:rPr lang="en-GB" sz="2200" b="1" dirty="0">
                <a:solidFill>
                  <a:srgbClr val="FF0000"/>
                </a:solidFill>
                <a:latin typeface="Futura Medium" panose="020B0602020204020303" pitchFamily="34" charset="-79"/>
                <a:cs typeface="Futura Medium" panose="020B0602020204020303" pitchFamily="34" charset="-79"/>
              </a:rPr>
              <a:t>Technology-Specific Grid Configuration:</a:t>
            </a:r>
          </a:p>
          <a:p>
            <a:r>
              <a:rPr lang="en-GB" sz="2200" dirty="0">
                <a:latin typeface="Futura Medium" panose="020B0602020204020303" pitchFamily="34" charset="-79"/>
                <a:cs typeface="Futura Medium" panose="020B0602020204020303" pitchFamily="34" charset="-79"/>
              </a:rPr>
              <a:t>  - </a:t>
            </a:r>
            <a:r>
              <a:rPr lang="en-GB" sz="2200" b="1" dirty="0" err="1">
                <a:latin typeface="Futura Medium" panose="020B0602020204020303" pitchFamily="34" charset="-79"/>
                <a:cs typeface="Futura Medium" panose="020B0602020204020303" pitchFamily="34" charset="-79"/>
              </a:rPr>
              <a:t>Visium</a:t>
            </a:r>
            <a:r>
              <a:rPr lang="en-GB" sz="2200" b="1" dirty="0">
                <a:latin typeface="Futura Medium" panose="020B0602020204020303" pitchFamily="34" charset="-79"/>
                <a:cs typeface="Futura Medium" panose="020B0602020204020303" pitchFamily="34" charset="-79"/>
              </a:rPr>
              <a:t> HD simulation</a:t>
            </a:r>
            <a:r>
              <a:rPr lang="en-GB" sz="2200" dirty="0">
                <a:latin typeface="Futura Medium" panose="020B0602020204020303" pitchFamily="34" charset="-79"/>
                <a:cs typeface="Futura Medium" panose="020B0602020204020303" pitchFamily="34" charset="-79"/>
              </a:rPr>
              <a:t>: Implements 2</a:t>
            </a:r>
            <a:r>
              <a:rPr lang="el-GR" sz="2200" dirty="0">
                <a:latin typeface="Futura Medium" panose="020B0602020204020303" pitchFamily="34" charset="-79"/>
                <a:cs typeface="Futura Medium" panose="020B0602020204020303" pitchFamily="34" charset="-79"/>
              </a:rPr>
              <a:t>μ</a:t>
            </a:r>
            <a:r>
              <a:rPr lang="en-GB" sz="2200" dirty="0">
                <a:latin typeface="Futura Medium" panose="020B0602020204020303" pitchFamily="34" charset="-79"/>
                <a:cs typeface="Futura Medium" panose="020B0602020204020303" pitchFamily="34" charset="-79"/>
              </a:rPr>
              <a:t>m×2</a:t>
            </a:r>
            <a:r>
              <a:rPr lang="el-GR" sz="2200" dirty="0">
                <a:latin typeface="Futura Medium" panose="020B0602020204020303" pitchFamily="34" charset="-79"/>
                <a:cs typeface="Futura Medium" panose="020B0602020204020303" pitchFamily="34" charset="-79"/>
              </a:rPr>
              <a:t>μ</a:t>
            </a:r>
            <a:r>
              <a:rPr lang="en-GB" sz="2200" dirty="0">
                <a:latin typeface="Futura Medium" panose="020B0602020204020303" pitchFamily="34" charset="-79"/>
                <a:cs typeface="Futura Medium" panose="020B0602020204020303" pitchFamily="34" charset="-79"/>
              </a:rPr>
              <a:t>m adjacent spots with no inter-spot gaps, matching the ultra-high-resolution geometry of </a:t>
            </a:r>
            <a:r>
              <a:rPr lang="en-GB" sz="2200" dirty="0" err="1">
                <a:latin typeface="Futura Medium" panose="020B0602020204020303" pitchFamily="34" charset="-79"/>
                <a:cs typeface="Futura Medium" panose="020B0602020204020303" pitchFamily="34" charset="-79"/>
              </a:rPr>
              <a:t>Visium</a:t>
            </a:r>
            <a:r>
              <a:rPr lang="en-GB" sz="2200" dirty="0">
                <a:latin typeface="Futura Medium" panose="020B0602020204020303" pitchFamily="34" charset="-79"/>
                <a:cs typeface="Futura Medium" panose="020B0602020204020303" pitchFamily="34" charset="-79"/>
              </a:rPr>
              <a:t> HD technology for subcellular pattern analysis</a:t>
            </a:r>
          </a:p>
          <a:p>
            <a:r>
              <a:rPr lang="en-GB" sz="2200" dirty="0">
                <a:latin typeface="Futura Medium" panose="020B0602020204020303" pitchFamily="34" charset="-79"/>
                <a:cs typeface="Futura Medium" panose="020B0602020204020303" pitchFamily="34" charset="-79"/>
              </a:rPr>
              <a:t>- </a:t>
            </a:r>
            <a:r>
              <a:rPr lang="en-GB" sz="2200" b="1" dirty="0">
                <a:latin typeface="Futura Medium" panose="020B0602020204020303" pitchFamily="34" charset="-79"/>
                <a:cs typeface="Futura Medium" panose="020B0602020204020303" pitchFamily="34" charset="-79"/>
              </a:rPr>
              <a:t>Standard </a:t>
            </a:r>
            <a:r>
              <a:rPr lang="en-GB" sz="2200" b="1" dirty="0" err="1">
                <a:latin typeface="Futura Medium" panose="020B0602020204020303" pitchFamily="34" charset="-79"/>
                <a:cs typeface="Futura Medium" panose="020B0602020204020303" pitchFamily="34" charset="-79"/>
              </a:rPr>
              <a:t>Visium</a:t>
            </a:r>
            <a:r>
              <a:rPr lang="en-GB" sz="2200" dirty="0">
                <a:latin typeface="Futura Medium" panose="020B0602020204020303" pitchFamily="34" charset="-79"/>
                <a:cs typeface="Futura Medium" panose="020B0602020204020303" pitchFamily="34" charset="-79"/>
              </a:rPr>
              <a:t>: Uses 55</a:t>
            </a:r>
            <a:r>
              <a:rPr lang="el-GR" sz="2200" dirty="0">
                <a:latin typeface="Futura Medium" panose="020B0602020204020303" pitchFamily="34" charset="-79"/>
                <a:cs typeface="Futura Medium" panose="020B0602020204020303" pitchFamily="34" charset="-79"/>
              </a:rPr>
              <a:t>μ</a:t>
            </a:r>
            <a:r>
              <a:rPr lang="en-GB" sz="2200" dirty="0">
                <a:latin typeface="Futura Medium" panose="020B0602020204020303" pitchFamily="34" charset="-79"/>
                <a:cs typeface="Futura Medium" panose="020B0602020204020303" pitchFamily="34" charset="-79"/>
              </a:rPr>
              <a:t>m spots with 100</a:t>
            </a:r>
            <a:r>
              <a:rPr lang="el-GR" sz="2200" dirty="0">
                <a:latin typeface="Futura Medium" panose="020B0602020204020303" pitchFamily="34" charset="-79"/>
                <a:cs typeface="Futura Medium" panose="020B0602020204020303" pitchFamily="34" charset="-79"/>
              </a:rPr>
              <a:t>μ</a:t>
            </a:r>
            <a:r>
              <a:rPr lang="en-GB" sz="2200" dirty="0">
                <a:latin typeface="Futura Medium" panose="020B0602020204020303" pitchFamily="34" charset="-79"/>
                <a:cs typeface="Futura Medium" panose="020B0602020204020303" pitchFamily="34" charset="-79"/>
              </a:rPr>
              <a:t>m </a:t>
            </a:r>
            <a:r>
              <a:rPr lang="en-GB" sz="2200" dirty="0" err="1">
                <a:latin typeface="Futura Medium" panose="020B0602020204020303" pitchFamily="34" charset="-79"/>
                <a:cs typeface="Futura Medium" panose="020B0602020204020303" pitchFamily="34" charset="-79"/>
              </a:rPr>
              <a:t>center</a:t>
            </a:r>
            <a:r>
              <a:rPr lang="en-GB" sz="2200" dirty="0">
                <a:latin typeface="Futura Medium" panose="020B0602020204020303" pitchFamily="34" charset="-79"/>
                <a:cs typeface="Futura Medium" panose="020B0602020204020303" pitchFamily="34" charset="-79"/>
              </a:rPr>
              <a:t>-to-</a:t>
            </a:r>
            <a:r>
              <a:rPr lang="en-GB" sz="2200" dirty="0" err="1">
                <a:latin typeface="Futura Medium" panose="020B0602020204020303" pitchFamily="34" charset="-79"/>
                <a:cs typeface="Futura Medium" panose="020B0602020204020303" pitchFamily="34" charset="-79"/>
              </a:rPr>
              <a:t>center</a:t>
            </a:r>
            <a:r>
              <a:rPr lang="en-GB" sz="2200" dirty="0">
                <a:latin typeface="Futura Medium" panose="020B0602020204020303" pitchFamily="34" charset="-79"/>
                <a:cs typeface="Futura Medium" panose="020B0602020204020303" pitchFamily="34" charset="-79"/>
              </a:rPr>
              <a:t> spacing, replicating the geometry of conventional </a:t>
            </a:r>
            <a:r>
              <a:rPr lang="en-GB" sz="2200" dirty="0" err="1">
                <a:latin typeface="Futura Medium" panose="020B0602020204020303" pitchFamily="34" charset="-79"/>
                <a:cs typeface="Futura Medium" panose="020B0602020204020303" pitchFamily="34" charset="-79"/>
              </a:rPr>
              <a:t>Visium</a:t>
            </a:r>
            <a:r>
              <a:rPr lang="en-GB" sz="2200" dirty="0">
                <a:latin typeface="Futura Medium" panose="020B0602020204020303" pitchFamily="34" charset="-79"/>
                <a:cs typeface="Futura Medium" panose="020B0602020204020303" pitchFamily="34" charset="-79"/>
              </a:rPr>
              <a:t> arrays for tissue-level analysis</a:t>
            </a:r>
          </a:p>
          <a:p>
            <a:r>
              <a:rPr lang="en-GB" sz="2200" dirty="0">
                <a:latin typeface="Futura Medium" panose="020B0602020204020303" pitchFamily="34" charset="-79"/>
                <a:cs typeface="Futura Medium" panose="020B0602020204020303" pitchFamily="34" charset="-79"/>
              </a:rPr>
              <a:t>  - </a:t>
            </a:r>
            <a:r>
              <a:rPr lang="en-GB" sz="2200" b="1" dirty="0">
                <a:latin typeface="Futura Medium" panose="020B0602020204020303" pitchFamily="34" charset="-79"/>
                <a:cs typeface="Futura Medium" panose="020B0602020204020303" pitchFamily="34" charset="-79"/>
              </a:rPr>
              <a:t>Custom grid systems</a:t>
            </a:r>
            <a:r>
              <a:rPr lang="en-GB" sz="2200" dirty="0">
                <a:latin typeface="Futura Medium" panose="020B0602020204020303" pitchFamily="34" charset="-79"/>
                <a:cs typeface="Futura Medium" panose="020B0602020204020303" pitchFamily="34" charset="-79"/>
              </a:rPr>
              <a:t>: Flexible grid dimensions (1-20</a:t>
            </a:r>
            <a:r>
              <a:rPr lang="el-GR" sz="2200" dirty="0">
                <a:latin typeface="Futura Medium" panose="020B0602020204020303" pitchFamily="34" charset="-79"/>
                <a:cs typeface="Futura Medium" panose="020B0602020204020303" pitchFamily="34" charset="-79"/>
              </a:rPr>
              <a:t>μ</a:t>
            </a:r>
            <a:r>
              <a:rPr lang="en-GB" sz="2200" dirty="0">
                <a:latin typeface="Futura Medium" panose="020B0602020204020303" pitchFamily="34" charset="-79"/>
                <a:cs typeface="Futura Medium" panose="020B0602020204020303" pitchFamily="34" charset="-79"/>
              </a:rPr>
              <a:t>m resolution), spacing patterns, and capture area geometries to model emerging spatial technologies or experimental variations</a:t>
            </a:r>
          </a:p>
          <a:p>
            <a:r>
              <a:rPr lang="en-GB" sz="2200" dirty="0">
                <a:latin typeface="Futura Medium" panose="020B0602020204020303" pitchFamily="34" charset="-79"/>
                <a:cs typeface="Futura Medium" panose="020B0602020204020303" pitchFamily="34" charset="-79"/>
              </a:rPr>
              <a:t>  - </a:t>
            </a:r>
            <a:r>
              <a:rPr lang="en-GB" sz="2200" b="1" dirty="0">
                <a:latin typeface="Futura Medium" panose="020B0602020204020303" pitchFamily="34" charset="-79"/>
                <a:cs typeface="Futura Medium" panose="020B0602020204020303" pitchFamily="34" charset="-79"/>
              </a:rPr>
              <a:t>Fixed vs. adaptive grids</a:t>
            </a:r>
            <a:r>
              <a:rPr lang="en-GB" sz="2200" dirty="0">
                <a:latin typeface="Futura Medium" panose="020B0602020204020303" pitchFamily="34" charset="-79"/>
                <a:cs typeface="Futura Medium" panose="020B0602020204020303" pitchFamily="34" charset="-79"/>
              </a:rPr>
              <a:t>: Option for standardized slide dimensions (6.5×6.5mm) or tissue-adaptive grids that conform to irregular tissue shapes while maintaining regular sampling patterns</a:t>
            </a:r>
            <a:endParaRPr lang="it-IT" sz="2200" dirty="0">
              <a:latin typeface="Futura Medium" panose="020B0602020204020303" pitchFamily="34" charset="-79"/>
              <a:cs typeface="Futura Medium" panose="020B0602020204020303" pitchFamily="34" charset="-79"/>
            </a:endParaRPr>
          </a:p>
          <a:p>
            <a:endParaRPr lang="it-IT" sz="2200" dirty="0">
              <a:latin typeface="Futura Medium" panose="020B0602020204020303" pitchFamily="34" charset="-79"/>
              <a:cs typeface="Futura Medium" panose="020B0602020204020303" pitchFamily="34" charset="-79"/>
            </a:endParaRPr>
          </a:p>
        </p:txBody>
      </p:sp>
      <p:sp>
        <p:nvSpPr>
          <p:cNvPr id="23" name="TextBox 22">
            <a:extLst>
              <a:ext uri="{FF2B5EF4-FFF2-40B4-BE49-F238E27FC236}">
                <a16:creationId xmlns:a16="http://schemas.microsoft.com/office/drawing/2014/main" id="{EE963037-7ABC-AC83-2DD6-23FEEB7A2A5C}"/>
              </a:ext>
            </a:extLst>
          </p:cNvPr>
          <p:cNvSpPr txBox="1"/>
          <p:nvPr/>
        </p:nvSpPr>
        <p:spPr>
          <a:xfrm>
            <a:off x="20407714" y="13185248"/>
            <a:ext cx="9304599" cy="5262979"/>
          </a:xfrm>
          <a:prstGeom prst="rect">
            <a:avLst/>
          </a:prstGeom>
          <a:noFill/>
        </p:spPr>
        <p:txBody>
          <a:bodyPr wrap="square">
            <a:spAutoFit/>
          </a:bodyPr>
          <a:lstStyle/>
          <a:p>
            <a:r>
              <a:rPr lang="en-US" sz="2400" b="1" dirty="0"/>
              <a:t>Image preprocessing</a:t>
            </a:r>
            <a:r>
              <a:rPr lang="en-US" sz="2400" dirty="0"/>
              <a:t>: Loads RGB tissue images, applies Gaussian smoothing and contrast enhancement to optimize segmentation quality</a:t>
            </a:r>
          </a:p>
          <a:p>
            <a:endParaRPr lang="en-US" sz="2400" b="1" dirty="0"/>
          </a:p>
          <a:p>
            <a:r>
              <a:rPr lang="en-US" sz="2400" b="1" dirty="0"/>
              <a:t>Tissue segmentation</a:t>
            </a:r>
            <a:r>
              <a:rPr lang="en-US" sz="2400" dirty="0"/>
              <a:t>: Uses Otsu thresholding to automatically separate tissue regions from background, followed by morphological operations to refine boundaries</a:t>
            </a:r>
          </a:p>
          <a:p>
            <a:r>
              <a:rPr lang="en-US" sz="2400" dirty="0"/>
              <a:t> </a:t>
            </a:r>
          </a:p>
          <a:p>
            <a:r>
              <a:rPr lang="en-US" sz="2400" b="1" dirty="0"/>
              <a:t>Grid overlay</a:t>
            </a:r>
            <a:r>
              <a:rPr lang="en-US" sz="2400" dirty="0"/>
              <a:t>: Creates regular sampling grids matching specific technologies - </a:t>
            </a:r>
            <a:r>
              <a:rPr lang="en-US" sz="2400" dirty="0" err="1"/>
              <a:t>Visium</a:t>
            </a:r>
            <a:r>
              <a:rPr lang="en-US" sz="2400" dirty="0"/>
              <a:t> HD uses 2μm×2μm adjacent spots, standard </a:t>
            </a:r>
            <a:r>
              <a:rPr lang="en-US" sz="2400" dirty="0" err="1"/>
              <a:t>Visium</a:t>
            </a:r>
            <a:r>
              <a:rPr lang="en-US" sz="2400" dirty="0"/>
              <a:t> uses 55μm spots with defined spacing</a:t>
            </a:r>
          </a:p>
          <a:p>
            <a:endParaRPr lang="en-US" sz="2400" b="1" dirty="0"/>
          </a:p>
          <a:p>
            <a:r>
              <a:rPr lang="en-US" sz="2400" b="1" dirty="0"/>
              <a:t>Deterministic mapping</a:t>
            </a:r>
            <a:r>
              <a:rPr lang="en-US" sz="2400" dirty="0"/>
              <a:t>: Each grid position is assigned to tissue regions through nearest-neighbor mapping, ensuring complete coverage and reproducible cell-to-location assignments</a:t>
            </a:r>
          </a:p>
        </p:txBody>
      </p:sp>
      <p:sp>
        <p:nvSpPr>
          <p:cNvPr id="30" name="TextBox 29">
            <a:extLst>
              <a:ext uri="{FF2B5EF4-FFF2-40B4-BE49-F238E27FC236}">
                <a16:creationId xmlns:a16="http://schemas.microsoft.com/office/drawing/2014/main" id="{322BD447-389A-787D-11FD-C32BA2963FA4}"/>
              </a:ext>
            </a:extLst>
          </p:cNvPr>
          <p:cNvSpPr txBox="1"/>
          <p:nvPr/>
        </p:nvSpPr>
        <p:spPr>
          <a:xfrm>
            <a:off x="20130677" y="19862942"/>
            <a:ext cx="10147711" cy="4154984"/>
          </a:xfrm>
          <a:prstGeom prst="rect">
            <a:avLst/>
          </a:prstGeom>
          <a:noFill/>
        </p:spPr>
        <p:txBody>
          <a:bodyPr wrap="square">
            <a:spAutoFit/>
          </a:bodyPr>
          <a:lstStyle/>
          <a:p>
            <a:r>
              <a:rPr lang="en-US" sz="2400" b="1" dirty="0"/>
              <a:t>K-means++ spatial clustering</a:t>
            </a:r>
            <a:r>
              <a:rPr lang="en-US" sz="2400" dirty="0"/>
              <a:t>: Applies improved k-means initialization to tissue coordinates, creating spatially coherent regions that reflect realistic tissue architecture</a:t>
            </a:r>
          </a:p>
          <a:p>
            <a:r>
              <a:rPr lang="en-US" sz="2400" b="1" dirty="0"/>
              <a:t>Boundary gradient modeling</a:t>
            </a:r>
            <a:r>
              <a:rPr lang="en-US" sz="2400" dirty="0"/>
              <a:t>: Implements soft boundaries between cell types using distance-based gradients with configurable transition widths (1-10 grid units) and exponential decay functions</a:t>
            </a:r>
          </a:p>
          <a:p>
            <a:r>
              <a:rPr lang="en-US" sz="2400" b="1" dirty="0"/>
              <a:t>Hybrid cell generation</a:t>
            </a:r>
            <a:r>
              <a:rPr lang="en-US" sz="2400" dirty="0"/>
              <a:t>: Creates intermediate-phenotype cells at cluster boundaries by mixing expression profiles from adjacent cell types with controllable intensity (0.2-0.7)</a:t>
            </a:r>
          </a:p>
          <a:p>
            <a:r>
              <a:rPr lang="en-US" sz="2400" b="1" dirty="0"/>
              <a:t>Cell type mapping</a:t>
            </a:r>
            <a:r>
              <a:rPr lang="en-US" sz="2400" dirty="0"/>
              <a:t>: Assigns each spatial cluster to specific cell types while maintaining spatial coherence and biological plausibility</a:t>
            </a:r>
          </a:p>
        </p:txBody>
      </p:sp>
      <p:sp>
        <p:nvSpPr>
          <p:cNvPr id="32" name="TextBox 31">
            <a:extLst>
              <a:ext uri="{FF2B5EF4-FFF2-40B4-BE49-F238E27FC236}">
                <a16:creationId xmlns:a16="http://schemas.microsoft.com/office/drawing/2014/main" id="{1CC19D8B-7475-3006-AE09-B7948BA30FCB}"/>
              </a:ext>
            </a:extLst>
          </p:cNvPr>
          <p:cNvSpPr txBox="1"/>
          <p:nvPr/>
        </p:nvSpPr>
        <p:spPr>
          <a:xfrm>
            <a:off x="358677" y="22680150"/>
            <a:ext cx="19380840" cy="4893647"/>
          </a:xfrm>
          <a:prstGeom prst="rect">
            <a:avLst/>
          </a:prstGeom>
          <a:noFill/>
        </p:spPr>
        <p:txBody>
          <a:bodyPr wrap="square">
            <a:spAutoFit/>
          </a:bodyPr>
          <a:lstStyle/>
          <a:p>
            <a:r>
              <a:rPr lang="en-US" sz="2400" dirty="0"/>
              <a:t> The core expression simulation integrates multiple biological and technical layers:</a:t>
            </a:r>
          </a:p>
          <a:p>
            <a:r>
              <a:rPr lang="en-US" sz="2400" dirty="0"/>
              <a:t> </a:t>
            </a:r>
            <a:r>
              <a:rPr lang="en-US" sz="2400" b="1" dirty="0"/>
              <a:t>Baseline expression</a:t>
            </a:r>
            <a:r>
              <a:rPr lang="en-US" sz="2400" dirty="0"/>
              <a:t>: Generates cell type-specific expression using negative binomial distributions with  realistic mean-variance relationships matching empirical data</a:t>
            </a:r>
          </a:p>
          <a:p>
            <a:r>
              <a:rPr lang="en-US" sz="2400" dirty="0"/>
              <a:t> </a:t>
            </a:r>
            <a:r>
              <a:rPr lang="en-US" sz="2400" b="1" dirty="0"/>
              <a:t>Spatial correlation</a:t>
            </a:r>
            <a:r>
              <a:rPr lang="en-US" sz="2400" dirty="0"/>
              <a:t>: Applies Gaussian Random Fields with exponential covariance (range 15-100μm) to create continuous spatial patterns, or multi-scale models combining macro-domains (80μm range) with micro-environments (15μm range)</a:t>
            </a:r>
          </a:p>
          <a:p>
            <a:r>
              <a:rPr lang="en-US" sz="2400" b="1" dirty="0"/>
              <a:t> Advanced biological modules</a:t>
            </a:r>
            <a:r>
              <a:rPr lang="en-US" sz="2400" dirty="0"/>
              <a:t>:</a:t>
            </a:r>
          </a:p>
          <a:p>
            <a:r>
              <a:rPr lang="en-US" sz="2400" dirty="0"/>
              <a:t>    - Ligand-receptor interactions using exponential diffusion models (signaling distance 20-50μm)</a:t>
            </a:r>
          </a:p>
          <a:p>
            <a:r>
              <a:rPr lang="en-US" sz="2400" dirty="0"/>
              <a:t>    - Temporal dynamics with </a:t>
            </a:r>
            <a:r>
              <a:rPr lang="en-US" sz="2400" dirty="0" err="1"/>
              <a:t>pseudotime</a:t>
            </a:r>
            <a:r>
              <a:rPr lang="en-US" sz="2400" dirty="0"/>
              <a:t> gradients and RNA velocity simulation</a:t>
            </a:r>
          </a:p>
          <a:p>
            <a:r>
              <a:rPr lang="en-US" sz="2400" dirty="0"/>
              <a:t>    - Alternative splicing with spatial regulation patterns</a:t>
            </a:r>
          </a:p>
          <a:p>
            <a:r>
              <a:rPr lang="en-US" sz="2400" dirty="0"/>
              <a:t>    - Anisotropic patterns following directional tissue structures</a:t>
            </a:r>
          </a:p>
          <a:p>
            <a:r>
              <a:rPr lang="en-US" sz="2400" dirty="0"/>
              <a:t>  - Technical artifact modeling: Expression-dependent dropout using logistic curves, ambient RNA contamination with spatial diffusion, spatially-varying dispersion (higher at tissue edges), and gene-specific technical biases</a:t>
            </a:r>
          </a:p>
          <a:p>
            <a:r>
              <a:rPr lang="en-US" sz="2400" b="1" dirty="0"/>
              <a:t>Matrix assembly</a:t>
            </a:r>
            <a:r>
              <a:rPr lang="en-US" sz="2400" dirty="0"/>
              <a:t>: Combines all effects multiplicatively or additively to generate the final expression matrix with preserved statistical properties</a:t>
            </a:r>
          </a:p>
        </p:txBody>
      </p:sp>
      <p:sp>
        <p:nvSpPr>
          <p:cNvPr id="33" name="CasellaDiTesto 73">
            <a:extLst>
              <a:ext uri="{FF2B5EF4-FFF2-40B4-BE49-F238E27FC236}">
                <a16:creationId xmlns:a16="http://schemas.microsoft.com/office/drawing/2014/main" id="{5278CF9D-6077-7D9F-0CF1-39697DDB0CDC}"/>
              </a:ext>
            </a:extLst>
          </p:cNvPr>
          <p:cNvSpPr txBox="1"/>
          <p:nvPr/>
        </p:nvSpPr>
        <p:spPr>
          <a:xfrm>
            <a:off x="180706" y="21911866"/>
            <a:ext cx="7483256" cy="584775"/>
          </a:xfrm>
          <a:prstGeom prst="rect">
            <a:avLst/>
          </a:prstGeom>
          <a:noFill/>
        </p:spPr>
        <p:txBody>
          <a:bodyPr wrap="square" rtlCol="0">
            <a:spAutoFit/>
          </a:bodyPr>
          <a:lstStyle/>
          <a:p>
            <a:pPr algn="ctr">
              <a:spcAft>
                <a:spcPts val="1288"/>
              </a:spcAft>
            </a:pPr>
            <a:r>
              <a:rPr lang="it-IT" sz="3200" b="1" dirty="0">
                <a:solidFill>
                  <a:schemeClr val="bg1"/>
                </a:solidFill>
                <a:latin typeface="Futura Bk BT" panose="020B0502020204020303" pitchFamily="34" charset="0"/>
              </a:rPr>
              <a:t> 4. </a:t>
            </a:r>
            <a:r>
              <a:rPr lang="en-US" sz="3200" b="1" dirty="0">
                <a:solidFill>
                  <a:schemeClr val="bg1"/>
                </a:solidFill>
                <a:latin typeface="Futura Bk BT" panose="020B0502020204020303" pitchFamily="34" charset="0"/>
              </a:rPr>
              <a:t>Expression matrix generation</a:t>
            </a:r>
          </a:p>
        </p:txBody>
      </p:sp>
      <p:sp>
        <p:nvSpPr>
          <p:cNvPr id="37" name="TextBox 36">
            <a:extLst>
              <a:ext uri="{FF2B5EF4-FFF2-40B4-BE49-F238E27FC236}">
                <a16:creationId xmlns:a16="http://schemas.microsoft.com/office/drawing/2014/main" id="{1C994EC5-04CD-E997-795A-1EF18F53E76F}"/>
              </a:ext>
            </a:extLst>
          </p:cNvPr>
          <p:cNvSpPr txBox="1"/>
          <p:nvPr/>
        </p:nvSpPr>
        <p:spPr>
          <a:xfrm>
            <a:off x="1102463" y="29303221"/>
            <a:ext cx="8177303" cy="7417415"/>
          </a:xfrm>
          <a:prstGeom prst="rect">
            <a:avLst/>
          </a:prstGeom>
          <a:noFill/>
        </p:spPr>
        <p:txBody>
          <a:bodyPr wrap="square">
            <a:spAutoFit/>
          </a:bodyPr>
          <a:lstStyle/>
          <a:p>
            <a:r>
              <a:rPr lang="en-US" sz="2800" dirty="0"/>
              <a:t> Systematic validation confirms the framework accurately </a:t>
            </a:r>
            <a:r>
              <a:rPr lang="en-US" sz="2800" b="1" dirty="0">
                <a:solidFill>
                  <a:srgbClr val="FF0000"/>
                </a:solidFill>
              </a:rPr>
              <a:t>reproduces </a:t>
            </a:r>
            <a:r>
              <a:rPr lang="en-US" sz="2800" b="1" u="sng" dirty="0">
                <a:solidFill>
                  <a:srgbClr val="FF0000"/>
                </a:solidFill>
              </a:rPr>
              <a:t>key statistical properties </a:t>
            </a:r>
            <a:r>
              <a:rPr lang="en-US" sz="2800" b="1" dirty="0">
                <a:solidFill>
                  <a:srgbClr val="FF0000"/>
                </a:solidFill>
              </a:rPr>
              <a:t>of real</a:t>
            </a:r>
          </a:p>
          <a:p>
            <a:r>
              <a:rPr lang="en-US" sz="2800" b="1" dirty="0">
                <a:solidFill>
                  <a:srgbClr val="FF0000"/>
                </a:solidFill>
              </a:rPr>
              <a:t>  spatial transcriptomics data</a:t>
            </a:r>
            <a:r>
              <a:rPr lang="en-US" sz="2800" dirty="0"/>
              <a:t>:</a:t>
            </a:r>
          </a:p>
          <a:p>
            <a:r>
              <a:rPr lang="en-US" sz="2800" dirty="0"/>
              <a:t> </a:t>
            </a:r>
            <a:r>
              <a:rPr lang="en-US" sz="2800" b="1" dirty="0"/>
              <a:t>Expression distributions</a:t>
            </a:r>
            <a:r>
              <a:rPr lang="en-US" sz="2800" dirty="0"/>
              <a:t>: Generated data matches empirical mean-variance relationships from real datasets, with proper overdispersion (variance &gt; mean) for 90% of genes and sub-Poisson behavior for constitutive genes</a:t>
            </a:r>
          </a:p>
          <a:p>
            <a:endParaRPr lang="en-US" sz="2800" dirty="0"/>
          </a:p>
          <a:p>
            <a:r>
              <a:rPr lang="en-US" sz="2800" b="1" dirty="0"/>
              <a:t>Spatial autocorrelation</a:t>
            </a:r>
            <a:r>
              <a:rPr lang="en-US" sz="2800" dirty="0"/>
              <a:t>: Marker genes exhibit expected spatial clustering patterns with Moran’s I statistics comparable to real tissue data</a:t>
            </a:r>
          </a:p>
          <a:p>
            <a:endParaRPr lang="en-US" sz="2800" dirty="0"/>
          </a:p>
          <a:p>
            <a:r>
              <a:rPr lang="en-US" sz="2800" b="1" dirty="0"/>
              <a:t>Dropout modeling</a:t>
            </a:r>
            <a:r>
              <a:rPr lang="en-US" sz="2800" dirty="0"/>
              <a:t>: Expression-dependent dropout follows realistic logistic relationships where low-expression genes show 30-70% dropout while highly expressed genes show &lt;10% dropout</a:t>
            </a:r>
          </a:p>
        </p:txBody>
      </p:sp>
      <p:sp>
        <p:nvSpPr>
          <p:cNvPr id="39" name="TextBox 38">
            <a:extLst>
              <a:ext uri="{FF2B5EF4-FFF2-40B4-BE49-F238E27FC236}">
                <a16:creationId xmlns:a16="http://schemas.microsoft.com/office/drawing/2014/main" id="{6BE03EC1-218B-B32B-BB3B-1160B7600C19}"/>
              </a:ext>
            </a:extLst>
          </p:cNvPr>
          <p:cNvSpPr txBox="1"/>
          <p:nvPr/>
        </p:nvSpPr>
        <p:spPr>
          <a:xfrm>
            <a:off x="10275154" y="29450480"/>
            <a:ext cx="8966349" cy="7048083"/>
          </a:xfrm>
          <a:prstGeom prst="rect">
            <a:avLst/>
          </a:prstGeom>
          <a:noFill/>
        </p:spPr>
        <p:txBody>
          <a:bodyPr wrap="square">
            <a:spAutoFit/>
          </a:bodyPr>
          <a:lstStyle/>
          <a:p>
            <a:r>
              <a:rPr lang="en-US" sz="3200" b="1" dirty="0"/>
              <a:t>Grid-based high-resolution simulation</a:t>
            </a:r>
          </a:p>
          <a:p>
            <a:r>
              <a:rPr lang="en-US" sz="2800" dirty="0"/>
              <a:t>  The framework successfully models high-resolution technologies like </a:t>
            </a:r>
            <a:r>
              <a:rPr lang="en-US" sz="2800" dirty="0" err="1"/>
              <a:t>Visium</a:t>
            </a:r>
            <a:r>
              <a:rPr lang="en-US" sz="2800" dirty="0"/>
              <a:t> HD:</a:t>
            </a:r>
          </a:p>
          <a:p>
            <a:endParaRPr lang="en-US" sz="2800" dirty="0"/>
          </a:p>
          <a:p>
            <a:r>
              <a:rPr lang="en-US" sz="2800" dirty="0"/>
              <a:t> </a:t>
            </a:r>
            <a:r>
              <a:rPr lang="en-US" sz="2800" b="1" dirty="0"/>
              <a:t>Ultra-high resolution</a:t>
            </a:r>
            <a:r>
              <a:rPr lang="en-US" sz="2800" dirty="0"/>
              <a:t>: Generates coherent patterns at 2μm resolution with &gt;50,000 spots per tissue</a:t>
            </a:r>
          </a:p>
          <a:p>
            <a:r>
              <a:rPr lang="en-US" sz="2800" dirty="0"/>
              <a:t>  section while maintaining computational efficiency</a:t>
            </a:r>
          </a:p>
          <a:p>
            <a:r>
              <a:rPr lang="en-US" sz="2800" dirty="0"/>
              <a:t> </a:t>
            </a:r>
          </a:p>
          <a:p>
            <a:r>
              <a:rPr lang="en-US" sz="2800" b="1" dirty="0"/>
              <a:t>Spatial pattern preservation</a:t>
            </a:r>
            <a:r>
              <a:rPr lang="en-US" sz="2800" dirty="0"/>
              <a:t>: Complex tissue architectures (vascular networks, epithelial structures) are accurately captured at microscopic scales</a:t>
            </a:r>
          </a:p>
          <a:p>
            <a:endParaRPr lang="en-US" sz="2800" dirty="0"/>
          </a:p>
          <a:p>
            <a:r>
              <a:rPr lang="en-US" sz="2800" b="1" dirty="0"/>
              <a:t>Technology comparison</a:t>
            </a:r>
            <a:r>
              <a:rPr lang="en-US" sz="2800" dirty="0"/>
              <a:t>: Direct comparison between standard and HD simulations demonstrates how resolution</a:t>
            </a:r>
          </a:p>
          <a:p>
            <a:r>
              <a:rPr lang="en-US" sz="2800" dirty="0"/>
              <a:t>  affects pattern detection and analytical method performance</a:t>
            </a:r>
          </a:p>
        </p:txBody>
      </p:sp>
      <p:pic>
        <p:nvPicPr>
          <p:cNvPr id="42" name="Picture 41">
            <a:extLst>
              <a:ext uri="{FF2B5EF4-FFF2-40B4-BE49-F238E27FC236}">
                <a16:creationId xmlns:a16="http://schemas.microsoft.com/office/drawing/2014/main" id="{8D5B313E-85AC-2431-C162-E26700575B78}"/>
              </a:ext>
            </a:extLst>
          </p:cNvPr>
          <p:cNvPicPr>
            <a:picLocks noChangeAspect="1"/>
          </p:cNvPicPr>
          <p:nvPr/>
        </p:nvPicPr>
        <p:blipFill>
          <a:blip r:embed="rId11"/>
          <a:stretch>
            <a:fillRect/>
          </a:stretch>
        </p:blipFill>
        <p:spPr>
          <a:xfrm>
            <a:off x="28076238" y="38396716"/>
            <a:ext cx="1788513" cy="1637675"/>
          </a:xfrm>
          <a:prstGeom prst="rect">
            <a:avLst/>
          </a:prstGeom>
        </p:spPr>
      </p:pic>
      <p:pic>
        <p:nvPicPr>
          <p:cNvPr id="45" name="Picture 44" descr="A group of colorful dots&#10;&#10;AI-generated content may be incorrect.">
            <a:extLst>
              <a:ext uri="{FF2B5EF4-FFF2-40B4-BE49-F238E27FC236}">
                <a16:creationId xmlns:a16="http://schemas.microsoft.com/office/drawing/2014/main" id="{7C8C2CAE-CFB4-FB1C-9730-0AB56299251B}"/>
              </a:ext>
            </a:extLst>
          </p:cNvPr>
          <p:cNvPicPr>
            <a:picLocks noChangeAspect="1"/>
          </p:cNvPicPr>
          <p:nvPr/>
        </p:nvPicPr>
        <p:blipFill>
          <a:blip r:embed="rId12">
            <a:extLst>
              <a:ext uri="{28A0092B-C50C-407E-A947-70E740481C1C}">
                <a14:useLocalDpi xmlns:a14="http://schemas.microsoft.com/office/drawing/2010/main" val="0"/>
              </a:ext>
            </a:extLst>
          </a:blip>
          <a:srcRect t="7527" b="31038"/>
          <a:stretch/>
        </p:blipFill>
        <p:spPr>
          <a:xfrm>
            <a:off x="21346910" y="24511746"/>
            <a:ext cx="7631843" cy="2813193"/>
          </a:xfrm>
          <a:prstGeom prst="rect">
            <a:avLst/>
          </a:prstGeom>
        </p:spPr>
      </p:pic>
    </p:spTree>
    <p:extLst>
      <p:ext uri="{BB962C8B-B14F-4D97-AF65-F5344CB8AC3E}">
        <p14:creationId xmlns:p14="http://schemas.microsoft.com/office/powerpoint/2010/main" val="3718266081"/>
      </p:ext>
    </p:extLst>
  </p:cSld>
  <p:clrMapOvr>
    <a:masterClrMapping/>
  </p:clrMapOvr>
</p:sld>
</file>

<file path=ppt/theme/theme1.xml><?xml version="1.0" encoding="utf-8"?>
<a:theme xmlns:a="http://schemas.openxmlformats.org/drawingml/2006/main" name="Tema di Office">
  <a:themeElements>
    <a:clrScheme name="Tema di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i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i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0A30CFA33DB31749824DBC223138499A" ma:contentTypeVersion="11" ma:contentTypeDescription="Creare un nuovo documento." ma:contentTypeScope="" ma:versionID="9811aa4e8d3ee9c13325f68f697e8054">
  <xsd:schema xmlns:xsd="http://www.w3.org/2001/XMLSchema" xmlns:xs="http://www.w3.org/2001/XMLSchema" xmlns:p="http://schemas.microsoft.com/office/2006/metadata/properties" xmlns:ns2="8be74a74-62fe-4f37-9bf3-26030632685c" xmlns:ns3="f4cdcfb4-b651-4a6b-b34c-0bd8ee173c6e" targetNamespace="http://schemas.microsoft.com/office/2006/metadata/properties" ma:root="true" ma:fieldsID="ce97bc726f07c6efa622f41997f84a92" ns2:_="" ns3:_="">
    <xsd:import namespace="8be74a74-62fe-4f37-9bf3-26030632685c"/>
    <xsd:import namespace="f4cdcfb4-b651-4a6b-b34c-0bd8ee173c6e"/>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e74a74-62fe-4f37-9bf3-26030632685c"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Tag immagine" ma:readOnly="false" ma:fieldId="{5cf76f15-5ced-4ddc-b409-7134ff3c332f}" ma:taxonomyMulti="true" ma:sspId="a51b1ebe-0035-4cd3-9313-8c7bd3a34167"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4cdcfb4-b651-4a6b-b34c-0bd8ee173c6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31742cf-7d69-4305-acdc-f89dac1f4ffd}" ma:internalName="TaxCatchAll" ma:showField="CatchAllData" ma:web="f4cdcfb4-b651-4a6b-b34c-0bd8ee173c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be74a74-62fe-4f37-9bf3-26030632685c">
      <Terms xmlns="http://schemas.microsoft.com/office/infopath/2007/PartnerControls"/>
    </lcf76f155ced4ddcb4097134ff3c332f>
    <TaxCatchAll xmlns="f4cdcfb4-b651-4a6b-b34c-0bd8ee173c6e" xsi:nil="true"/>
  </documentManagement>
</p:properties>
</file>

<file path=customXml/itemProps1.xml><?xml version="1.0" encoding="utf-8"?>
<ds:datastoreItem xmlns:ds="http://schemas.openxmlformats.org/officeDocument/2006/customXml" ds:itemID="{26F4ABB6-D4F0-4C33-9243-F0D74D521A89}">
  <ds:schemaRefs>
    <ds:schemaRef ds:uri="http://schemas.microsoft.com/sharepoint/v3/contenttype/forms"/>
  </ds:schemaRefs>
</ds:datastoreItem>
</file>

<file path=customXml/itemProps2.xml><?xml version="1.0" encoding="utf-8"?>
<ds:datastoreItem xmlns:ds="http://schemas.openxmlformats.org/officeDocument/2006/customXml" ds:itemID="{A352DBB9-2144-4FD9-ADE7-2B0A435EE0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e74a74-62fe-4f37-9bf3-26030632685c"/>
    <ds:schemaRef ds:uri="f4cdcfb4-b651-4a6b-b34c-0bd8ee173c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136483-234F-43FC-9EC5-DFE24D03ABC6}">
  <ds:schemaRefs>
    <ds:schemaRef ds:uri="http://schemas.openxmlformats.org/package/2006/metadata/core-properties"/>
    <ds:schemaRef ds:uri="http://schemas.microsoft.com/office/2006/documentManagement/types"/>
    <ds:schemaRef ds:uri="f4cdcfb4-b651-4a6b-b34c-0bd8ee173c6e"/>
    <ds:schemaRef ds:uri="8be74a74-62fe-4f37-9bf3-26030632685c"/>
    <ds:schemaRef ds:uri="http://schemas.microsoft.com/office/infopath/2007/PartnerControls"/>
    <ds:schemaRef ds:uri="http://www.w3.org/XML/1998/namespace"/>
    <ds:schemaRef ds:uri="http://schemas.microsoft.com/office/2006/metadata/properties"/>
    <ds:schemaRef ds:uri="http://purl.org/dc/elements/1.1/"/>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21347</TotalTime>
  <Words>1380</Words>
  <Application>Microsoft Office PowerPoint</Application>
  <PresentationFormat>Custom</PresentationFormat>
  <Paragraphs>93</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Futura Bk BT</vt:lpstr>
      <vt:lpstr>FUTURA MEDIUM</vt:lpstr>
      <vt:lpstr>FUTURA MEDIUM</vt:lpstr>
      <vt:lpstr>Tema di Office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pierangela palmerini</dc:creator>
  <cp:lastModifiedBy>Luca Vedovelli</cp:lastModifiedBy>
  <cp:revision>184</cp:revision>
  <cp:lastPrinted>2024-05-10T08:17:13Z</cp:lastPrinted>
  <dcterms:created xsi:type="dcterms:W3CDTF">2024-04-24T16:42:42Z</dcterms:created>
  <dcterms:modified xsi:type="dcterms:W3CDTF">2025-05-26T09:32:26Z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0x0101000A30CFA33DB31749824DBC223138499A</vt:lpwstr>
  </property>
  <property fmtid="{D5CDD505-2E9C-101B-9397-08002B2CF9AE}" pid="3" name="MediaServiceImageTags">
    <vt:lpwstr/>
  </property>
</Properties>
</file>