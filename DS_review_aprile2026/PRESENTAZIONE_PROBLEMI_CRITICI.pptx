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80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37" autoAdjust="0"/>
    <p:restoredTop sz="94746" autoAdjust="0"/>
  </p:normalViewPr>
  <p:slideViewPr>
    <p:cSldViewPr snapToGrid="0" snapToObjects="1">
      <p:cViewPr varScale="1">
        <p:scale>
          <a:sx n="72" d="100"/>
          <a:sy n="72" d="100"/>
        </p:scale>
        <p:origin x="216" y="108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Nel Visium HD gli spot sono quadrati di 2×2 µm che coprono cellule di 15-30 µm di diametro. Più spot coprono la stessa cellula.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Il Problema Centrale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1499" y="1685180"/>
            <a:ext cx="6802341" cy="2139397"/>
          </a:xfrm>
        </p:spPr>
        <p:txBody>
          <a:bodyPr/>
          <a:lstStyle/>
          <a:p>
            <a:pPr lvl="0"/>
            <a:r>
              <a:rPr dirty="0"/>
              <a:t>Il framework genera </a:t>
            </a:r>
            <a:r>
              <a:rPr dirty="0" err="1"/>
              <a:t>profili</a:t>
            </a:r>
            <a:r>
              <a:rPr dirty="0"/>
              <a:t> </a:t>
            </a:r>
            <a:r>
              <a:rPr dirty="0" err="1"/>
              <a:t>trascrizionali</a:t>
            </a:r>
            <a:r>
              <a:rPr dirty="0"/>
              <a:t> </a:t>
            </a:r>
            <a:r>
              <a:rPr b="1" dirty="0" err="1"/>
              <a:t>direttamente</a:t>
            </a:r>
            <a:r>
              <a:rPr b="1" dirty="0"/>
              <a:t> per ogni spot</a:t>
            </a:r>
          </a:p>
          <a:p>
            <a:pPr lvl="0"/>
            <a:r>
              <a:rPr dirty="0"/>
              <a:t>Ogni spot </a:t>
            </a:r>
            <a:r>
              <a:rPr dirty="0" err="1"/>
              <a:t>è</a:t>
            </a:r>
            <a:r>
              <a:rPr dirty="0"/>
              <a:t> </a:t>
            </a:r>
            <a:r>
              <a:rPr dirty="0" err="1"/>
              <a:t>trattato</a:t>
            </a:r>
            <a:r>
              <a:rPr dirty="0"/>
              <a:t> come </a:t>
            </a:r>
            <a:r>
              <a:rPr dirty="0" err="1"/>
              <a:t>entità</a:t>
            </a:r>
            <a:r>
              <a:rPr dirty="0"/>
              <a:t> </a:t>
            </a:r>
            <a:r>
              <a:rPr b="1" dirty="0" err="1"/>
              <a:t>indipendente</a:t>
            </a:r>
            <a:endParaRPr b="1" dirty="0"/>
          </a:p>
          <a:p>
            <a:pPr lvl="0"/>
            <a:r>
              <a:rPr dirty="0"/>
              <a:t>Manca il </a:t>
            </a:r>
            <a:r>
              <a:rPr dirty="0" err="1"/>
              <a:t>livello</a:t>
            </a:r>
            <a:r>
              <a:rPr dirty="0"/>
              <a:t> </a:t>
            </a:r>
            <a:r>
              <a:rPr dirty="0" err="1"/>
              <a:t>intermedio</a:t>
            </a:r>
            <a:r>
              <a:rPr dirty="0"/>
              <a:t>: </a:t>
            </a:r>
            <a:r>
              <a:rPr b="1" dirty="0"/>
              <a:t>le cellule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Visium HD: la realtà biologica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Griglia continua di quadrati barcodati </a:t>
            </a:r>
            <a:r>
              <a:rPr b="1"/>
              <a:t>2×2 µm</a:t>
            </a:r>
            <a:r>
              <a:t> (senza gap)</a:t>
            </a:r>
          </a:p>
          <a:p>
            <a:pPr lvl="0"/>
            <a:r>
              <a:t>Cellula tipica: diametro </a:t>
            </a:r>
            <a:r>
              <a:rPr b="1"/>
              <a:t>15–30 µm</a:t>
            </a:r>
          </a:p>
          <a:p>
            <a:pPr lvl="0"/>
            <a:r>
              <a:t>Una cellula è coperta da </a:t>
            </a:r>
            <a:r>
              <a:rPr b="1"/>
              <a:t>~50–225 spot</a:t>
            </a:r>
            <a:r>
              <a:t> (a 2 µm)</a:t>
            </a:r>
          </a:p>
          <a:p>
            <a:pPr lvl="0"/>
            <a:r>
              <a:t>Oppure </a:t>
            </a:r>
            <a:r>
              <a:rPr b="1"/>
              <a:t>~4–14 bin</a:t>
            </a:r>
            <a:r>
              <a:t> (a 8 µm)</a:t>
            </a:r>
          </a:p>
          <a:p>
            <a:pPr lvl="0"/>
            <a:r>
              <a:t>Spot al confine → catturano RNA da </a:t>
            </a:r>
            <a:r>
              <a:rPr b="1"/>
              <a:t>più cellule</a:t>
            </a:r>
            <a:r>
              <a:t> (deconvoluzione)</a:t>
            </a:r>
          </a:p>
          <a:p>
            <a:pPr lvl="0"/>
            <a:r>
              <a:t>Spot su spazio extracellulare → solo ambient RNA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Modello attuale vs Modello corretto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/>
              <a:t>Attuale (errato):</a:t>
            </a:r>
          </a:p>
          <a:p>
            <a:pPr marL="342900" lvl="0" indent="-342900">
              <a:buAutoNum type="arabicPeriod"/>
            </a:pPr>
            <a:r>
              <a:t>Pixel → k-means → label “tipo cellulare”</a:t>
            </a:r>
          </a:p>
          <a:p>
            <a:pPr marL="342900" lvl="0" indent="-342900">
              <a:buAutoNum type="arabicPeriod"/>
            </a:pPr>
            <a:r>
              <a:t>Spot → prende il label del pixel più vicino</a:t>
            </a:r>
          </a:p>
          <a:p>
            <a:pPr marL="342900" lvl="0" indent="-342900">
              <a:buAutoNum type="arabicPeriod"/>
            </a:pPr>
            <a:r>
              <a:t>Espressione generata indipendentemente per ogni spot</a:t>
            </a:r>
          </a:p>
          <a:p>
            <a:pPr marL="0" lvl="0" indent="0">
              <a:buNone/>
            </a:pPr>
            <a:r>
              <a:rPr b="1"/>
              <a:t>Corretto (da implementare):</a:t>
            </a:r>
          </a:p>
          <a:p>
            <a:pPr marL="342900" lvl="0" indent="-342900">
              <a:buAutoNum type="arabicPeriod"/>
            </a:pPr>
            <a:r>
              <a:t>Definire cellule con posizione (x,y), raggio, tipo</a:t>
            </a:r>
          </a:p>
          <a:p>
            <a:pPr marL="342900" lvl="0" indent="-342900">
              <a:buAutoNum type="arabicPeriod"/>
            </a:pPr>
            <a:r>
              <a:t>Per ogni spot → calcolare QUALI cellule copre e in che %</a:t>
            </a:r>
          </a:p>
          <a:p>
            <a:pPr marL="342900" lvl="0" indent="-342900">
              <a:buAutoNum type="arabicPeriod"/>
            </a:pPr>
            <a:r>
              <a:t>Espressione spot = Σ (frazione × profilo cellula) + ambient RNA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Proposta: due step sequenziali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335937"/>
              </p:ext>
            </p:extLst>
          </p:nvPr>
        </p:nvGraphicFramePr>
        <p:xfrm>
          <a:off x="457200" y="1996881"/>
          <a:ext cx="8229600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Step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Step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Immagine tessuto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Mappa cellule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Processo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Clustering regioni + piazzamento cellule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Griglia spot + profili trascrizionali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Mappa cellule individuali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Matrice </a:t>
                      </a:r>
                      <a:r>
                        <a:rPr dirty="0" err="1"/>
                        <a:t>conteggi</a:t>
                      </a:r>
                      <a:r>
                        <a:rPr dirty="0"/>
                        <a:t> per spot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STEP 1: </a:t>
            </a:r>
            <a:r>
              <a:rPr dirty="0" err="1"/>
              <a:t>Tessuto</a:t>
            </a:r>
            <a:r>
              <a:rPr dirty="0"/>
              <a:t> e Cellule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Step 1 — Cosa GIÀ ESISTE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Caricamento immagine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03_image_processing.R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Funziona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Tessuto sintetico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03b_generate_synthetic_tissue.R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Funziona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Clustering regioni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04_clustering.R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Funziona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282A1-F92D-6E06-87A2-E7325D377FB6}"/>
              </a:ext>
            </a:extLst>
          </p:cNvPr>
          <p:cNvSpPr txBox="1">
            <a:spLocks/>
          </p:cNvSpPr>
          <p:nvPr/>
        </p:nvSpPr>
        <p:spPr>
          <a:xfrm>
            <a:off x="972047" y="3005097"/>
            <a:ext cx="7199906" cy="1296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it-IT"/>
              <a:t>Questi componenti definiscono le </a:t>
            </a:r>
            <a:r>
              <a:rPr lang="it-IT" b="1"/>
              <a:t>regioni macro</a:t>
            </a:r>
            <a:r>
              <a:rPr lang="it-IT"/>
              <a:t> del tessuto (stroma, epitelio, etc.) e possono essere riutilizzati quasi invariati.</a:t>
            </a:r>
            <a:endParaRPr lang="it-IT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Step 1 — Cosa VA IMPLEMENTATO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Piazzamento cellule dentro le regioni:</a:t>
            </a:r>
          </a:p>
          <a:p>
            <a:pPr lvl="0"/>
            <a:r>
              <a:t>Ogni cellula: centro (x,y), raggio, tipo cellulare</a:t>
            </a:r>
          </a:p>
          <a:p>
            <a:pPr lvl="0"/>
            <a:r>
              <a:t>Struttura interna: </a:t>
            </a:r>
            <a:r>
              <a:rPr b="1"/>
              <a:t>nucleo</a:t>
            </a:r>
            <a:r>
              <a:t> (~3–5 µm) + </a:t>
            </a:r>
            <a:r>
              <a:rPr b="1"/>
              <a:t>citoplasma</a:t>
            </a:r>
            <a:r>
              <a:t> (corona esterna)</a:t>
            </a:r>
          </a:p>
          <a:p>
            <a:pPr lvl="0"/>
            <a:r>
              <a:t>Densità variabile per regione:</a:t>
            </a:r>
          </a:p>
          <a:p>
            <a:pPr lvl="1"/>
            <a:r>
              <a:t>Epitelio: ~4000–6000 cellule/mm²</a:t>
            </a:r>
          </a:p>
          <a:p>
            <a:pPr lvl="1"/>
            <a:r>
              <a:t>Stroma: ~1000–2000 cellule/mm²</a:t>
            </a:r>
          </a:p>
          <a:p>
            <a:pPr lvl="1"/>
            <a:r>
              <a:t>Spazio extracellulare: nessuna cellula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FABE130-9C75-AB33-6B76-B445049CA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7387" y="866413"/>
            <a:ext cx="5689226" cy="398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33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Step 1 — Piazzamento cellule (schema)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C3FD76A-9D71-DE80-8EA0-613A9C67417A}"/>
              </a:ext>
            </a:extLst>
          </p:cNvPr>
          <p:cNvSpPr txBox="1"/>
          <p:nvPr/>
        </p:nvSpPr>
        <p:spPr>
          <a:xfrm>
            <a:off x="3240502" y="1336998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Regione epitelio</a:t>
            </a:r>
            <a:br>
              <a:rPr lang="it-IT" dirty="0"/>
            </a:br>
            <a:r>
              <a:rPr lang="it-IT" dirty="0"/>
              <a:t>cellule dense (10 µm)</a:t>
            </a:r>
            <a:br>
              <a:rPr lang="it-IT" dirty="0"/>
            </a:br>
            <a:r>
              <a:rPr lang="it-IT" dirty="0"/>
              <a:t>tipo: epiteliale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Regione stroma</a:t>
            </a:r>
            <a:br>
              <a:rPr lang="it-IT" dirty="0"/>
            </a:br>
            <a:r>
              <a:rPr lang="it-IT" dirty="0"/>
              <a:t>cellule rade (15 µm)</a:t>
            </a:r>
            <a:br>
              <a:rPr lang="it-IT" dirty="0"/>
            </a:br>
            <a:r>
              <a:rPr lang="it-IT" dirty="0"/>
              <a:t>tipo: fibroblasta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Confine</a:t>
            </a:r>
            <a:br>
              <a:rPr lang="it-IT" dirty="0"/>
            </a:br>
            <a:r>
              <a:rPr lang="it-IT" dirty="0"/>
              <a:t>mix di tipi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Step 1 — Risoluzione immagine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L’immagine</a:t>
            </a:r>
            <a:r>
              <a:rPr dirty="0"/>
              <a:t> </a:t>
            </a:r>
            <a:r>
              <a:rPr b="1" dirty="0"/>
              <a:t>NON </a:t>
            </a:r>
            <a:r>
              <a:rPr b="1" dirty="0" err="1"/>
              <a:t>deve</a:t>
            </a:r>
            <a:r>
              <a:rPr b="1" dirty="0"/>
              <a:t> </a:t>
            </a:r>
            <a:r>
              <a:rPr b="1" dirty="0" err="1"/>
              <a:t>avere</a:t>
            </a:r>
            <a:r>
              <a:rPr dirty="0"/>
              <a:t> </a:t>
            </a:r>
            <a:r>
              <a:rPr dirty="0" err="1"/>
              <a:t>risoluzione</a:t>
            </a:r>
            <a:r>
              <a:rPr dirty="0"/>
              <a:t> </a:t>
            </a:r>
            <a:r>
              <a:rPr dirty="0" err="1"/>
              <a:t>cellulare</a:t>
            </a:r>
            <a:endParaRPr dirty="0"/>
          </a:p>
          <a:p>
            <a:pPr lvl="0"/>
            <a:r>
              <a:rPr dirty="0"/>
              <a:t>Serve solo per </a:t>
            </a:r>
            <a:r>
              <a:rPr dirty="0" err="1"/>
              <a:t>definire</a:t>
            </a:r>
            <a:r>
              <a:rPr dirty="0"/>
              <a:t> le </a:t>
            </a:r>
            <a:r>
              <a:rPr dirty="0" err="1"/>
              <a:t>regioni</a:t>
            </a:r>
            <a:r>
              <a:rPr dirty="0"/>
              <a:t> macro del </a:t>
            </a:r>
            <a:r>
              <a:rPr dirty="0" err="1"/>
              <a:t>tessuto</a:t>
            </a:r>
            <a:endParaRPr dirty="0"/>
          </a:p>
          <a:p>
            <a:pPr lvl="0"/>
            <a:r>
              <a:rPr dirty="0" err="1"/>
              <a:t>Anche</a:t>
            </a:r>
            <a:r>
              <a:rPr dirty="0"/>
              <a:t> 200×200 pixel (1 pixel ≈ 30 µm) </a:t>
            </a:r>
            <a:r>
              <a:rPr dirty="0" err="1"/>
              <a:t>è</a:t>
            </a:r>
            <a:r>
              <a:rPr dirty="0"/>
              <a:t> </a:t>
            </a:r>
            <a:r>
              <a:rPr dirty="0" err="1"/>
              <a:t>sufficiente</a:t>
            </a:r>
            <a:endParaRPr dirty="0"/>
          </a:p>
          <a:p>
            <a:pPr lvl="0"/>
            <a:r>
              <a:rPr dirty="0"/>
              <a:t>Le cellule </a:t>
            </a:r>
            <a:r>
              <a:rPr dirty="0" err="1"/>
              <a:t>vengono</a:t>
            </a:r>
            <a:r>
              <a:rPr dirty="0"/>
              <a:t> </a:t>
            </a:r>
            <a:r>
              <a:rPr dirty="0" err="1"/>
              <a:t>piazzate</a:t>
            </a:r>
            <a:r>
              <a:rPr dirty="0"/>
              <a:t> </a:t>
            </a:r>
            <a:r>
              <a:rPr b="1" dirty="0" err="1"/>
              <a:t>computazionalmente</a:t>
            </a:r>
            <a:r>
              <a:rPr dirty="0"/>
              <a:t> a </a:t>
            </a:r>
            <a:r>
              <a:rPr dirty="0" err="1"/>
              <a:t>precisione</a:t>
            </a:r>
            <a:r>
              <a:rPr dirty="0"/>
              <a:t> </a:t>
            </a:r>
            <a:r>
              <a:rPr dirty="0" err="1"/>
              <a:t>micrometrica</a:t>
            </a:r>
            <a:endParaRPr dirty="0"/>
          </a:p>
          <a:p>
            <a:pPr lvl="0"/>
            <a:r>
              <a:rPr dirty="0" err="1"/>
              <a:t>Indipendente</a:t>
            </a:r>
            <a:r>
              <a:rPr dirty="0"/>
              <a:t> </a:t>
            </a:r>
            <a:r>
              <a:rPr dirty="0" err="1"/>
              <a:t>dalla</a:t>
            </a:r>
            <a:r>
              <a:rPr dirty="0"/>
              <a:t> </a:t>
            </a:r>
            <a:r>
              <a:rPr dirty="0" err="1"/>
              <a:t>risoluzione</a:t>
            </a:r>
            <a:r>
              <a:rPr dirty="0"/>
              <a:t> </a:t>
            </a:r>
            <a:r>
              <a:rPr dirty="0" err="1"/>
              <a:t>dell’immagine</a:t>
            </a:r>
            <a:r>
              <a:rPr dirty="0"/>
              <a:t> di input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28" y="1619020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Step 1 —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3828" y="2490559"/>
            <a:ext cx="3008313" cy="662827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Una </a:t>
            </a:r>
            <a:r>
              <a:rPr dirty="0" err="1"/>
              <a:t>tabella</a:t>
            </a:r>
            <a:r>
              <a:rPr dirty="0"/>
              <a:t> </a:t>
            </a:r>
            <a:r>
              <a:rPr dirty="0" err="1">
                <a:latin typeface="Courier"/>
              </a:rPr>
              <a:t>cell_df</a:t>
            </a:r>
            <a:r>
              <a:rPr dirty="0"/>
              <a:t> con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riga</a:t>
            </a:r>
            <a:r>
              <a:rPr dirty="0"/>
              <a:t> per </a:t>
            </a:r>
            <a:r>
              <a:rPr dirty="0" err="1"/>
              <a:t>cellula</a:t>
            </a:r>
            <a:r>
              <a:rPr dirty="0"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4780396"/>
              </p:ext>
            </p:extLst>
          </p:nvPr>
        </p:nvGraphicFramePr>
        <p:xfrm>
          <a:off x="3665327" y="1617433"/>
          <a:ext cx="5067300" cy="180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nucleus_r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epithelial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reg_1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115.1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epithelial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reg_1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300.4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stromal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reg_3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STEP 2: </a:t>
            </a:r>
            <a:r>
              <a:rPr dirty="0" err="1"/>
              <a:t>Griglia</a:t>
            </a:r>
            <a:r>
              <a:rPr dirty="0"/>
              <a:t> e </a:t>
            </a:r>
            <a:r>
              <a:rPr dirty="0" err="1"/>
              <a:t>Profili</a:t>
            </a:r>
            <a:r>
              <a:rPr dirty="0"/>
              <a:t> </a:t>
            </a:r>
            <a:r>
              <a:rPr dirty="0" err="1"/>
              <a:t>Trascrizionali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Step 2 — Moduli riutilizzabili dal codebase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67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Riutilizzabile?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Parametri espressione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06a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Invariato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Baseline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06b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Invariato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Dispersione 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06d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Invariato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Moduli genici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06g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Invariato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Library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06e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⚠️ Ricalibrazione valori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Dropout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06f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⚠️ Ricalibrazione valori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GRF spaziale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06h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⚠️ Serve campo multiplo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Generazione conteggi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06j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⚠️ Livello cellula, non spot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006" y="1524703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Step 2 — Mapping spot → cellula (NUOVO)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9006" y="2396243"/>
            <a:ext cx="3008313" cy="657058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Per ogni spot: </a:t>
            </a:r>
            <a:r>
              <a:rPr dirty="0" err="1"/>
              <a:t>quali</a:t>
            </a:r>
            <a:r>
              <a:rPr dirty="0"/>
              <a:t> cellule </a:t>
            </a:r>
            <a:r>
              <a:rPr dirty="0" err="1"/>
              <a:t>copre</a:t>
            </a:r>
            <a:r>
              <a:rPr dirty="0"/>
              <a:t> e in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percentuale</a:t>
            </a:r>
            <a:r>
              <a:rPr dirty="0"/>
              <a:t>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6906331"/>
              </p:ext>
            </p:extLst>
          </p:nvPr>
        </p:nvGraphicFramePr>
        <p:xfrm>
          <a:off x="3600505" y="1523116"/>
          <a:ext cx="50800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spot_id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in_nucleus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spot_1001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cell_42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spot_1002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cell_42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spot_1003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cell_42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spot_1003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cell_43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spot_1004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D8295-99AE-22DB-199F-31BC4B78EDC1}"/>
              </a:ext>
            </a:extLst>
          </p:cNvPr>
          <p:cNvSpPr txBox="1">
            <a:spLocks/>
          </p:cNvSpPr>
          <p:nvPr/>
        </p:nvSpPr>
        <p:spPr>
          <a:xfrm>
            <a:off x="489006" y="3584763"/>
            <a:ext cx="8229600" cy="574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it-IT"/>
              <a:t>Questa tabella </a:t>
            </a:r>
            <a:r>
              <a:rPr lang="it-IT" b="1"/>
              <a:t>è il ground truth per la deconvoluzione</a:t>
            </a:r>
            <a:r>
              <a:rPr lang="it-IT"/>
              <a:t>.</a:t>
            </a:r>
            <a:endParaRPr lang="it-IT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Step 2 — Tre scenari di spot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Descrizione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Cosa produce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Spot puro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100% dentro una cellula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Profilo cellula + noise intra-cellulare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Spot misto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 cavallo tra 2 cellule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Mix pesato → </a:t>
                      </a:r>
                      <a:r>
                        <a:rPr b="1"/>
                        <a:t>target deconvoluzione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Spot vuoto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Spazio extracellulare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Solo ambient RNA (~pochi UMI)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Step 2 — Generazione espressione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t>L’espressione si genera a livello di </a:t>
            </a:r>
            <a:r>
              <a:rPr b="1"/>
              <a:t>CELLULA</a:t>
            </a:r>
            <a:r>
              <a:t> (non spot):</a:t>
            </a:r>
          </a:p>
          <a:p>
            <a:pPr marL="342900" lvl="0" indent="-342900">
              <a:buAutoNum type="arabicPeriod"/>
            </a:pPr>
            <a:r>
              <a:t>Profilo baseline dal tipo cellulare → </a:t>
            </a:r>
            <a:r>
              <a:rPr>
                <a:latin typeface="Courier"/>
              </a:rPr>
              <a:t>06b</a:t>
            </a:r>
            <a:r>
              <a:t> (esiste)</a:t>
            </a:r>
          </a:p>
          <a:p>
            <a:pPr marL="342900" lvl="0" indent="-342900">
              <a:buAutoNum type="arabicPeriod"/>
            </a:pPr>
            <a:r>
              <a:t>Effetti spaziali via GRF → </a:t>
            </a:r>
            <a:r>
              <a:rPr>
                <a:latin typeface="Courier"/>
              </a:rPr>
              <a:t>06h</a:t>
            </a:r>
            <a:r>
              <a:t> (da modificare: campi multipli)</a:t>
            </a:r>
          </a:p>
          <a:p>
            <a:pPr marL="342900" lvl="0" indent="-342900">
              <a:buAutoNum type="arabicPeriod"/>
            </a:pPr>
            <a:r>
              <a:t>Moduli genici co-espressi → </a:t>
            </a:r>
            <a:r>
              <a:rPr>
                <a:latin typeface="Courier"/>
              </a:rPr>
              <a:t>06g</a:t>
            </a:r>
            <a:r>
              <a:t> (esiste)</a:t>
            </a:r>
          </a:p>
          <a:p>
            <a:pPr marL="342900" lvl="0" indent="-342900">
              <a:buAutoNum type="arabicPeriod"/>
            </a:pPr>
            <a:r>
              <a:t>Sampling NB con dispersione → </a:t>
            </a:r>
            <a:r>
              <a:rPr>
                <a:latin typeface="Courier"/>
              </a:rPr>
              <a:t>06d</a:t>
            </a:r>
            <a:r>
              <a:t>, </a:t>
            </a:r>
            <a:r>
              <a:rPr>
                <a:latin typeface="Courier"/>
              </a:rPr>
              <a:t>06j</a:t>
            </a:r>
            <a:r>
              <a:t> (esiste)</a:t>
            </a:r>
          </a:p>
          <a:p>
            <a:pPr marL="342900" lvl="0" indent="-342900">
              <a:buAutoNum type="arabicPeriod"/>
            </a:pPr>
            <a:r>
              <a:t>Library size per cellula → </a:t>
            </a:r>
            <a:r>
              <a:rPr>
                <a:latin typeface="Courier"/>
              </a:rPr>
              <a:t>06e</a:t>
            </a:r>
            <a:r>
              <a:t> (da riscalare)</a:t>
            </a:r>
          </a:p>
          <a:p>
            <a:pPr marL="0" lvl="0" indent="0">
              <a:buNone/>
            </a:pPr>
            <a:r>
              <a:rPr b="1"/>
              <a:t>Output</a:t>
            </a:r>
            <a:r>
              <a:t>: matrice </a:t>
            </a:r>
            <a:r>
              <a:rPr>
                <a:latin typeface="Courier"/>
              </a:rPr>
              <a:t>cell_counts</a:t>
            </a:r>
            <a:r>
              <a:t> (geni × cellule) = </a:t>
            </a:r>
            <a:r>
              <a:rPr b="1"/>
              <a:t>ground truth cellulare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Step 2 — Aggregazione cellula → spot (NUOVO)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spot_counts[spot, gene] = 
    Σ (fraction[spot, cellula] × cell_counts[cellula, gene])
    + ambient_rna[spot, gene]
    + noise_tecnico_cattura</a:t>
            </a:r>
          </a:p>
          <a:p>
            <a:pPr marL="0" lvl="0" indent="0">
              <a:buNone/>
            </a:pPr>
            <a:r>
              <a:t>Poi </a:t>
            </a:r>
            <a:r>
              <a:rPr b="1"/>
              <a:t>binning 2µm → 8µm</a:t>
            </a:r>
            <a:r>
              <a:t> = somma di 4×4 spot (16 spot per bin)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t>REVERSE ENGINEERING DA DATI REALI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Parametri che richiedono dati reali Visium HD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t>Alcuni parametri </a:t>
            </a:r>
            <a:r>
              <a:rPr b="1"/>
              <a:t>non possono essere definiti teoricamente</a:t>
            </a:r>
            <a:r>
              <a:t>.</a:t>
            </a:r>
          </a:p>
          <a:p>
            <a:pPr marL="0" lvl="0" indent="0">
              <a:buNone/>
            </a:pPr>
            <a:r>
              <a:t>Serve analisi di dati reali per calibrarli:</a:t>
            </a:r>
          </a:p>
          <a:p>
            <a:pPr marL="342900" lvl="0" indent="-342900">
              <a:buAutoNum type="arabicPeriod"/>
            </a:pPr>
            <a:r>
              <a:rPr b="1"/>
              <a:t>Variazione intra-cellulare</a:t>
            </a:r>
            <a:r>
              <a:t> — correlazione tra spot della stessa cellula</a:t>
            </a:r>
          </a:p>
          <a:p>
            <a:pPr marL="342900" lvl="0" indent="-342900">
              <a:buAutoNum type="arabicPeriod"/>
            </a:pPr>
            <a:r>
              <a:rPr b="1"/>
              <a:t>Effetto nucleo vs citoplasma</a:t>
            </a:r>
            <a:r>
              <a:t> — enrichment score per gene</a:t>
            </a:r>
          </a:p>
          <a:p>
            <a:pPr marL="342900" lvl="0" indent="-342900">
              <a:buAutoNum type="arabicPeriod"/>
            </a:pPr>
            <a:r>
              <a:rPr b="1"/>
              <a:t>Linearità del mixing ai confini</a:t>
            </a:r>
            <a:r>
              <a:t> — validazione modello deconvoluzione</a:t>
            </a:r>
          </a:p>
          <a:p>
            <a:pPr marL="342900" lvl="0" indent="-342900">
              <a:buAutoNum type="arabicPeriod"/>
            </a:pPr>
            <a:r>
              <a:rPr b="1"/>
              <a:t>Diffusione laterale RNA</a:t>
            </a:r>
            <a:r>
              <a:t> — range in µm</a:t>
            </a:r>
          </a:p>
          <a:p>
            <a:pPr marL="342900" lvl="0" indent="-342900">
              <a:buAutoNum type="arabicPeriod"/>
            </a:pPr>
            <a:r>
              <a:rPr b="1"/>
              <a:t>Library size a 8µm</a:t>
            </a:r>
            <a:r>
              <a:t> — distribuzione empirica</a:t>
            </a:r>
          </a:p>
          <a:p>
            <a:pPr marL="342900" lvl="0" indent="-342900">
              <a:buAutoNum type="arabicPeriod"/>
            </a:pPr>
            <a:r>
              <a:rPr b="1"/>
              <a:t>Sparsità a 8µm</a:t>
            </a:r>
            <a:r>
              <a:t> — % zeri attesa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Reverse engineering — Variazione intra-cellulare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/>
              <a:t>Domanda</a:t>
            </a:r>
            <a:r>
              <a:t>: quanto variano i profili tra spot della stessa cellula?</a:t>
            </a:r>
          </a:p>
          <a:p>
            <a:pPr marL="0" lvl="0" indent="0">
              <a:buNone/>
            </a:pPr>
            <a:r>
              <a:rPr b="1"/>
              <a:t>Metodo:</a:t>
            </a:r>
          </a:p>
          <a:p>
            <a:pPr marL="342900" lvl="0" indent="-342900">
              <a:buAutoNum type="arabicPeriod"/>
            </a:pPr>
            <a:r>
              <a:t>Dataset Visium HD reale + H&amp;E ad alta risoluzione</a:t>
            </a:r>
          </a:p>
          <a:p>
            <a:pPr marL="342900" lvl="0" indent="-342900">
              <a:buAutoNum type="arabicPeriod"/>
            </a:pPr>
            <a:r>
              <a:t>Segmentazione nucleare (StarDist/Cellpose) → confini cellulari</a:t>
            </a:r>
          </a:p>
          <a:p>
            <a:pPr marL="342900" lvl="0" indent="-342900">
              <a:buAutoNum type="arabicPeriod"/>
            </a:pPr>
            <a:r>
              <a:t>Mappare spot alle cellule segmentate</a:t>
            </a:r>
          </a:p>
          <a:p>
            <a:pPr marL="342900" lvl="0" indent="-342900">
              <a:buAutoNum type="arabicPeriod"/>
            </a:pPr>
            <a:r>
              <a:t>Per cellule con ≥3 spot: correlazione media tra spot</a:t>
            </a:r>
          </a:p>
          <a:p>
            <a:pPr marL="0" lvl="0" indent="0">
              <a:buNone/>
            </a:pPr>
            <a:r>
              <a:rPr b="1"/>
              <a:t>Metriche attese:</a:t>
            </a:r>
          </a:p>
          <a:p>
            <a:pPr lvl="0"/>
            <a:r>
              <a:t>Intra-cellulare: ρ ~ 0.7–0.95</a:t>
            </a:r>
          </a:p>
          <a:p>
            <a:pPr lvl="0"/>
            <a:r>
              <a:t>Inter-cellulare stesso tipo: ρ ~ 0.3–0.6</a:t>
            </a:r>
          </a:p>
          <a:p>
            <a:pPr lvl="0"/>
            <a:r>
              <a:t>Inter-cellulare tipo diverso: ρ ~ 0.0–0.2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02" y="1593838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Reverse engineering — Library size a 8µm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7003" y="2493297"/>
            <a:ext cx="3008313" cy="871539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Il framework </a:t>
            </a:r>
            <a:r>
              <a:rPr dirty="0" err="1"/>
              <a:t>attuale</a:t>
            </a:r>
            <a:r>
              <a:rPr dirty="0"/>
              <a:t> </a:t>
            </a:r>
            <a:r>
              <a:rPr dirty="0" err="1"/>
              <a:t>usa</a:t>
            </a:r>
            <a:r>
              <a:rPr dirty="0"/>
              <a:t> </a:t>
            </a:r>
            <a:r>
              <a:rPr b="1" dirty="0"/>
              <a:t>8000 UMI/spot</a:t>
            </a:r>
            <a:r>
              <a:rPr dirty="0"/>
              <a:t> → </a:t>
            </a:r>
            <a:r>
              <a:rPr dirty="0" err="1"/>
              <a:t>realistico</a:t>
            </a:r>
            <a:r>
              <a:rPr dirty="0"/>
              <a:t> per </a:t>
            </a:r>
            <a:r>
              <a:rPr dirty="0" err="1"/>
              <a:t>Visium</a:t>
            </a:r>
            <a:r>
              <a:rPr dirty="0"/>
              <a:t> classico (55µm)</a:t>
            </a:r>
          </a:p>
          <a:p>
            <a:pPr marL="0" lvl="0" indent="0">
              <a:buNone/>
            </a:pPr>
            <a:r>
              <a:rPr b="1" dirty="0"/>
              <a:t>Ma per </a:t>
            </a:r>
            <a:r>
              <a:rPr b="1" dirty="0" err="1"/>
              <a:t>Visium</a:t>
            </a:r>
            <a:r>
              <a:rPr b="1" dirty="0"/>
              <a:t> HD (8µm) </a:t>
            </a:r>
            <a:r>
              <a:rPr b="1" dirty="0" err="1"/>
              <a:t>i</a:t>
            </a:r>
            <a:r>
              <a:rPr b="1" dirty="0"/>
              <a:t> </a:t>
            </a:r>
            <a:r>
              <a:rPr b="1" dirty="0" err="1"/>
              <a:t>valori</a:t>
            </a:r>
            <a:r>
              <a:rPr b="1" dirty="0"/>
              <a:t> </a:t>
            </a:r>
            <a:r>
              <a:rPr b="1" dirty="0" err="1"/>
              <a:t>sono</a:t>
            </a:r>
            <a:r>
              <a:rPr b="1" dirty="0"/>
              <a:t> molto </a:t>
            </a:r>
            <a:r>
              <a:rPr b="1" dirty="0" err="1"/>
              <a:t>più</a:t>
            </a:r>
            <a:r>
              <a:rPr b="1" dirty="0"/>
              <a:t> </a:t>
            </a:r>
            <a:r>
              <a:rPr b="1" dirty="0" err="1"/>
              <a:t>bassi</a:t>
            </a:r>
            <a:r>
              <a:rPr b="1" dirty="0"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3675018"/>
              </p:ext>
            </p:extLst>
          </p:nvPr>
        </p:nvGraphicFramePr>
        <p:xfrm>
          <a:off x="3651201" y="1592251"/>
          <a:ext cx="51054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Tipo tessuto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UMI/bin attesi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Tessuto denso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~500–3000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Tessuto 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~50–500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Extracellulare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~0–50 (solo ambient)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Sparsità attesa: </a:t>
            </a:r>
            <a:r>
              <a:rPr b="1"/>
              <a:t>&gt;95% zeri</a:t>
            </a:r>
            <a:r>
              <a:t> (vs 89% attualmente simulato)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</TotalTime>
  <Words>1072</Words>
  <Application>Microsoft Macintosh PowerPoint</Application>
  <PresentationFormat>Presentazione su schermo (16:9)</PresentationFormat>
  <Paragraphs>212</Paragraphs>
  <Slides>22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</vt:lpstr>
      <vt:lpstr>Office Theme</vt:lpstr>
      <vt:lpstr>Il Problema Centrale</vt:lpstr>
      <vt:lpstr>Visium HD: la realtà biologica</vt:lpstr>
      <vt:lpstr>Modello attuale vs Modello corretto</vt:lpstr>
      <vt:lpstr>Proposta: due step sequenziali</vt:lpstr>
      <vt:lpstr>STEP 1: Tessuto e Cellule</vt:lpstr>
      <vt:lpstr>Step 1 — Cosa GIÀ ESISTE</vt:lpstr>
      <vt:lpstr>Step 1 — Cosa VA IMPLEMENTATO</vt:lpstr>
      <vt:lpstr>Presentazione standard di PowerPoint</vt:lpstr>
      <vt:lpstr>Step 1 — Piazzamento cellule (schema)</vt:lpstr>
      <vt:lpstr>Step 1 — Risoluzione immagine</vt:lpstr>
      <vt:lpstr>Step 1 — Output</vt:lpstr>
      <vt:lpstr>STEP 2: Griglia e Profili Trascrizionali</vt:lpstr>
      <vt:lpstr>Step 2 — Moduli riutilizzabili dal codebase</vt:lpstr>
      <vt:lpstr>Step 2 — Mapping spot → cellula (NUOVO)</vt:lpstr>
      <vt:lpstr>Step 2 — Tre scenari di spot</vt:lpstr>
      <vt:lpstr>Step 2 — Generazione espressione</vt:lpstr>
      <vt:lpstr>Step 2 — Aggregazione cellula → spot (NUOVO)</vt:lpstr>
      <vt:lpstr>REVERSE ENGINEERING DA DATI REALI</vt:lpstr>
      <vt:lpstr>Parametri che richiedono dati reali Visium HD</vt:lpstr>
      <vt:lpstr>Reverse engineering — Variazione intra-cellulare</vt:lpstr>
      <vt:lpstr>Reverse engineering — Library size a 8µm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Revisione Framework Simulazione Visium HD</dc:title>
  <dc:creator/>
  <cp:keywords/>
  <cp:lastModifiedBy>Daniele Sabbatini</cp:lastModifiedBy>
  <cp:revision>3</cp:revision>
  <dcterms:created xsi:type="dcterms:W3CDTF">2026-03-24T11:46:10Z</dcterms:created>
  <dcterms:modified xsi:type="dcterms:W3CDTF">2026-03-25T09:59:21Z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Marzo 2025</vt:lpwstr>
  </property>
  <property fmtid="{D5CDD505-2E9C-101B-9397-08002B2CF9AE}" pid="3" name="subtitle">
    <vt:lpwstr>Problemi Critici e Proposta di Nuova Architettura</vt:lpwstr>
  </property>
</Properties>
</file>